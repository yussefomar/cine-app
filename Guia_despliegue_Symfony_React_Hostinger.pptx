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85" r:id="rId36"/>
    <p:sldId id="287" r:id="rId38"/>
    <p:sldId id="269" r:id="rId20"/>
    <p:sldId id="282" r:id="rId33"/>
    <p:sldId id="276" r:id="rId27"/>
    <p:sldId id="271" r:id="rId22"/>
    <p:sldId id="272" r:id="rId23"/>
    <p:sldId id="273" r:id="rId24"/>
    <p:sldId id="274" r:id="rId25"/>
    <p:sldId id="275" r:id="rId26"/>
    <p:sldId id="258" r:id="rId9"/>
    <p:sldId id="286" r:id="rId37"/>
    <p:sldId id="279" r:id="rId30"/>
    <p:sldId id="280" r:id="rId31"/>
    <p:sldId id="281" r:id="rId32"/>
    <p:sldId id="263" r:id="rId14"/>
    <p:sldId id="264" r:id="rId15"/>
    <p:sldId id="270" r:id="rId21"/>
    <p:sldId id="277" r:id="rId28"/>
    <p:sldId id="278" r:id="rId29"/>
    <p:sldId id="268" r:id="rId19"/>
    <p:sldId id="288" r:id="rId39"/>
    <p:sldId id="257" r:id="rId8"/>
    <p:sldId id="259" r:id="rId10"/>
    <p:sldId id="260" r:id="rId11"/>
    <p:sldId id="283" r:id="rId34"/>
    <p:sldId id="261" r:id="rId12"/>
    <p:sldId id="262" r:id="rId13"/>
    <p:sldId id="265" r:id="rId16"/>
    <p:sldId id="266" r:id="rId17"/>
    <p:sldId id="267" r:id="rId18"/>
    <p:sldId id="284" r:id="rId3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hostinger.com/support/1583494-what-is-the-path-to-your-website-s-root-home-directory-and-how-to-change-it-in-hostinger/" TargetMode="External"/><Relationship Id="rId3" Type="http://schemas.openxmlformats.org/officeDocument/2006/relationships/hyperlink" Target="https://www.hostinger.com/support/4047803-how-to-change-the-php-version-for-subfolders-or-subdomains-in-hostinger/" TargetMode="External"/><Relationship Id="rId4" Type="http://schemas.openxmlformats.org/officeDocument/2006/relationships/hyperlink" Target="https://www.hostinger.com/tutorials/how-to-install-composer/" TargetMode="External"/><Relationship Id="rId5" Type="http://schemas.openxmlformats.org/officeDocument/2006/relationships/hyperlink" Target="https://support.hostinger.com/en/articles/1583405-how-to-create-and-delete-subdomains-in-hostinger" TargetMode="Externa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3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36D3DD"/>
          </a:solidFill>
          <a:ln>
            <a:solidFill>
              <a:srgbClr val="36D3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94360"/>
            <a:ext cx="4572000" cy="274320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l"/>
            <a:r>
              <a:rPr sz="1100" b="1">
                <a:solidFill>
                  <a:srgbClr val="36D3DD"/>
                </a:solidFill>
                <a:latin typeface="Aptos"/>
              </a:rPr>
              <a:t>CINE APP / GUÍA DE PRODUCCIÓN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325880"/>
            <a:ext cx="6583680" cy="1417320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l"/>
            <a:r>
              <a:rPr sz="3500" b="1">
                <a:solidFill>
                  <a:srgbClr val="FFFFFF"/>
                </a:solidFill>
                <a:latin typeface="Aptos"/>
              </a:rPr>
              <a:t>De localhost a</a:t>
            </a:r>
            <a:br/>
            <a:r>
              <a:rPr sz="3500" b="1">
                <a:solidFill>
                  <a:srgbClr val="FFFFFF"/>
                </a:solidFill>
                <a:latin typeface="Aptos"/>
              </a:rPr>
              <a:t>Hostinger compartido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3108960"/>
            <a:ext cx="5852160" cy="365760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l"/>
            <a:r>
              <a:rPr sz="1800" b="0">
                <a:solidFill>
                  <a:srgbClr val="B1BBCC"/>
                </a:solidFill>
                <a:latin typeface="Aptos"/>
              </a:rPr>
              <a:t>Symfony 7.4 + React/Vite + MySQL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863840" y="1143000"/>
            <a:ext cx="3383280" cy="1645920"/>
          </a:xfrm>
          <a:prstGeom prst="roundRect">
            <a:avLst/>
          </a:prstGeom>
          <a:solidFill>
            <a:srgbClr val="172238"/>
          </a:solidFill>
          <a:ln>
            <a:solidFill>
              <a:srgbClr val="2A3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863840" y="1143000"/>
            <a:ext cx="64008" cy="1645920"/>
          </a:xfrm>
          <a:prstGeom prst="roundRect">
            <a:avLst/>
          </a:prstGeom>
          <a:solidFill>
            <a:srgbClr val="36D3DD"/>
          </a:solidFill>
          <a:ln>
            <a:solidFill>
              <a:srgbClr val="36D3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92440" y="1325880"/>
            <a:ext cx="2971800" cy="292608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ptos"/>
              </a:rPr>
              <a:t>BACKEND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92440" y="1783080"/>
            <a:ext cx="2971800" cy="868680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l"/>
            <a:r>
              <a:rPr sz="1250" b="0">
                <a:solidFill>
                  <a:srgbClr val="B1BBCC"/>
                </a:solidFill>
                <a:latin typeface="Aptos"/>
              </a:rPr>
              <a:t>PHP 8.2 · Symfony · Doctrine</a:t>
            </a:r>
            <a:br/>
            <a:r>
              <a:rPr sz="1250" b="0">
                <a:solidFill>
                  <a:srgbClr val="B1BBCC"/>
                </a:solidFill>
                <a:latin typeface="Aptos"/>
              </a:rPr>
              <a:t>MySQL · variables seguras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63840" y="3063240"/>
            <a:ext cx="3383280" cy="1645920"/>
          </a:xfrm>
          <a:prstGeom prst="roundRect">
            <a:avLst/>
          </a:prstGeom>
          <a:solidFill>
            <a:srgbClr val="172238"/>
          </a:solidFill>
          <a:ln>
            <a:solidFill>
              <a:srgbClr val="2A3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863840" y="3063240"/>
            <a:ext cx="64008" cy="1645920"/>
          </a:xfrm>
          <a:prstGeom prst="roundRect">
            <a:avLst/>
          </a:prstGeom>
          <a:solidFill>
            <a:srgbClr val="FF9E58"/>
          </a:solidFill>
          <a:ln>
            <a:solidFill>
              <a:srgbClr val="FF9E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92440" y="3246120"/>
            <a:ext cx="2971800" cy="292608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ptos"/>
              </a:rPr>
              <a:t>FRONTEND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92440" y="3703320"/>
            <a:ext cx="2971800" cy="868680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l"/>
            <a:r>
              <a:rPr sz="1250" b="0">
                <a:solidFill>
                  <a:srgbClr val="B1BBCC"/>
                </a:solidFill>
                <a:latin typeface="Aptos"/>
              </a:rPr>
              <a:t>React compilado · rutas SPA</a:t>
            </a:r>
            <a:br/>
            <a:r>
              <a:rPr sz="1250" b="0">
                <a:solidFill>
                  <a:srgbClr val="B1BBCC"/>
                </a:solidFill>
                <a:latin typeface="Aptos"/>
              </a:rPr>
              <a:t>URL real de API · HTTPS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5852160"/>
            <a:ext cx="10058400" cy="365760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l"/>
            <a:r>
              <a:rPr sz="1500" b="1">
                <a:solidFill>
                  <a:srgbClr val="53D68E"/>
                </a:solidFill>
                <a:latin typeface="Aptos"/>
              </a:rPr>
              <a:t>Objetivo: publicar sin Docker y sin exponer secretos.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3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53D68E"/>
          </a:solidFill>
          <a:ln>
            <a:solidFill>
              <a:srgbClr val="53D6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2743200" cy="228600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l"/>
            <a:r>
              <a:rPr sz="1000" b="1">
                <a:solidFill>
                  <a:srgbClr val="53D68E"/>
                </a:solidFill>
                <a:latin typeface="Aptos"/>
              </a:rPr>
              <a:t>PANORAMA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320040"/>
            <a:ext cx="502920" cy="228600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r"/>
            <a:r>
              <a:rPr sz="1000" b="1">
                <a:solidFill>
                  <a:srgbClr val="B1BBCC"/>
                </a:solidFill>
                <a:latin typeface="Aptos"/>
              </a:rPr>
              <a:t>24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58952"/>
            <a:ext cx="10698480" cy="502920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Aptos"/>
              </a:rPr>
              <a:t>Arquitectura recomendada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1353312"/>
            <a:ext cx="10607040" cy="365760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l"/>
            <a:r>
              <a:rPr sz="1300" b="0">
                <a:solidFill>
                  <a:srgbClr val="B1BBCC"/>
                </a:solidFill>
                <a:latin typeface="Aptos"/>
              </a:rPr>
              <a:t>En local se usa XAMPP; en Hostinger compartido PHP y MySQL/MariaDB se ejecutan sin Docker.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510528"/>
            <a:ext cx="3657600" cy="164592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l"/>
            <a:r>
              <a:rPr sz="800" b="1">
                <a:solidFill>
                  <a:srgbClr val="B1BBCC"/>
                </a:solidFill>
                <a:latin typeface="Aptos"/>
              </a:rPr>
              <a:t>CINE APP · HOSTINGER COMPARTIDO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011680"/>
            <a:ext cx="3017520" cy="3063240"/>
          </a:xfrm>
          <a:prstGeom prst="roundRect">
            <a:avLst/>
          </a:prstGeom>
          <a:solidFill>
            <a:srgbClr val="172238"/>
          </a:solidFill>
          <a:ln>
            <a:solidFill>
              <a:srgbClr val="2A3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40080" y="2011680"/>
            <a:ext cx="64008" cy="3063240"/>
          </a:xfrm>
          <a:prstGeom prst="roundRect">
            <a:avLst/>
          </a:prstGeom>
          <a:solidFill>
            <a:srgbClr val="36D3DD"/>
          </a:solidFill>
          <a:ln>
            <a:solidFill>
              <a:srgbClr val="36D3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194560"/>
            <a:ext cx="2606039" cy="292608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ptos"/>
              </a:rPr>
              <a:t>LOCAL · XAMPP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651760"/>
            <a:ext cx="2606039" cy="2286000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l"/>
            <a:r>
              <a:rPr sz="1250" b="0">
                <a:solidFill>
                  <a:srgbClr val="B1BBCC"/>
                </a:solidFill>
                <a:latin typeface="Aptos"/>
              </a:rPr>
              <a:t>React :5173</a:t>
            </a:r>
            <a:br/>
            <a:r>
              <a:rPr sz="1250" b="0">
                <a:solidFill>
                  <a:srgbClr val="B1BBCC"/>
                </a:solidFill>
                <a:latin typeface="Aptos"/>
              </a:rPr>
              <a:t>Apache :80</a:t>
            </a:r>
            <a:br/>
            <a:r>
              <a:rPr sz="1250" b="0">
                <a:solidFill>
                  <a:srgbClr val="B1BBCC"/>
                </a:solidFill>
                <a:latin typeface="Aptos"/>
              </a:rPr>
              <a:t>Symfony /cine-app/public</a:t>
            </a:r>
            <a:br/>
            <a:r>
              <a:rPr sz="1250" b="0">
                <a:solidFill>
                  <a:srgbClr val="B1BBCC"/>
                </a:solidFill>
                <a:latin typeface="Aptos"/>
              </a:rPr>
              <a:t>MariaDB :3306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86200" y="3154680"/>
            <a:ext cx="548640" cy="457200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ctr"/>
            <a:r>
              <a:rPr sz="3000" b="1">
                <a:solidFill>
                  <a:srgbClr val="53D68E"/>
                </a:solidFill>
                <a:latin typeface="Aptos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17720" y="2011680"/>
            <a:ext cx="3337560" cy="3063240"/>
          </a:xfrm>
          <a:prstGeom prst="roundRect">
            <a:avLst/>
          </a:prstGeom>
          <a:solidFill>
            <a:srgbClr val="172238"/>
          </a:solidFill>
          <a:ln>
            <a:solidFill>
              <a:srgbClr val="2A3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617720" y="2011680"/>
            <a:ext cx="64008" cy="3063240"/>
          </a:xfrm>
          <a:prstGeom prst="roundRect">
            <a:avLst/>
          </a:prstGeom>
          <a:solidFill>
            <a:srgbClr val="53D68E"/>
          </a:solidFill>
          <a:ln>
            <a:solidFill>
              <a:srgbClr val="53D6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46320" y="2194560"/>
            <a:ext cx="2926079" cy="292608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ptos"/>
              </a:rPr>
              <a:t>PRODUCCIÓN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46320" y="2651760"/>
            <a:ext cx="2926079" cy="2286000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l"/>
            <a:r>
              <a:rPr sz="1250" b="0">
                <a:solidFill>
                  <a:srgbClr val="B1BBCC"/>
                </a:solidFill>
                <a:latin typeface="Aptos"/>
              </a:rPr>
              <a:t>tudominio.com</a:t>
            </a:r>
            <a:br/>
            <a:r>
              <a:rPr sz="1250" b="0">
                <a:solidFill>
                  <a:srgbClr val="B1BBCC"/>
                </a:solidFill>
                <a:latin typeface="Aptos"/>
              </a:rPr>
              <a:t>Frontend: archivos dist</a:t>
            </a:r>
            <a:br/>
            <a:br/>
            <a:r>
              <a:rPr sz="1250" b="0">
                <a:solidFill>
                  <a:srgbClr val="B1BBCC"/>
                </a:solidFill>
                <a:latin typeface="Aptos"/>
              </a:rPr>
              <a:t>api.tudominio.com</a:t>
            </a:r>
            <a:br/>
            <a:r>
              <a:rPr sz="1250" b="0">
                <a:solidFill>
                  <a:srgbClr val="B1BBCC"/>
                </a:solidFill>
                <a:latin typeface="Aptos"/>
              </a:rPr>
              <a:t>Symfony + MySQL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903719" y="2176272"/>
            <a:ext cx="777240" cy="274320"/>
          </a:xfrm>
          <a:prstGeom prst="roundRect">
            <a:avLst/>
          </a:prstGeom>
          <a:solidFill>
            <a:srgbClr val="53D68E"/>
          </a:solidFill>
          <a:ln>
            <a:solidFill>
              <a:srgbClr val="53D6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949440" y="2221992"/>
            <a:ext cx="685800" cy="128016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ctr"/>
            <a:r>
              <a:rPr sz="800" b="1">
                <a:solidFill>
                  <a:srgbClr val="0C1323"/>
                </a:solidFill>
                <a:latin typeface="Aptos"/>
              </a:rPr>
              <a:t>IDEAL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0" y="2011680"/>
            <a:ext cx="3017520" cy="3063240"/>
          </a:xfrm>
          <a:prstGeom prst="roundRect">
            <a:avLst/>
          </a:prstGeom>
          <a:solidFill>
            <a:srgbClr val="172238"/>
          </a:solidFill>
          <a:ln>
            <a:solidFill>
              <a:srgbClr val="2A3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229600" y="2011680"/>
            <a:ext cx="64008" cy="3063240"/>
          </a:xfrm>
          <a:prstGeom prst="roundRect">
            <a:avLst/>
          </a:prstGeom>
          <a:solidFill>
            <a:srgbClr val="FF9E58"/>
          </a:solidFill>
          <a:ln>
            <a:solidFill>
              <a:srgbClr val="FF9E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58200" y="2194560"/>
            <a:ext cx="2606039" cy="292608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ptos"/>
              </a:rPr>
              <a:t>VENTAJAS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58200" y="2651760"/>
            <a:ext cx="2606039" cy="2286000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l"/>
            <a:r>
              <a:rPr sz="1250" b="0">
                <a:solidFill>
                  <a:srgbClr val="B1BBCC"/>
                </a:solidFill>
                <a:latin typeface="Aptos"/>
              </a:rPr>
              <a:t>Rutas más claras</a:t>
            </a:r>
            <a:br/>
            <a:r>
              <a:rPr sz="1250" b="0">
                <a:solidFill>
                  <a:srgbClr val="B1BBCC"/>
                </a:solidFill>
                <a:latin typeface="Aptos"/>
              </a:rPr>
              <a:t>Despliegues separados</a:t>
            </a:r>
            <a:br/>
            <a:r>
              <a:rPr sz="1250" b="0">
                <a:solidFill>
                  <a:srgbClr val="B1BBCC"/>
                </a:solidFill>
                <a:latin typeface="Aptos"/>
              </a:rPr>
              <a:t>Logs independientes</a:t>
            </a:r>
            <a:br/>
            <a:r>
              <a:rPr sz="1250" b="0">
                <a:solidFill>
                  <a:srgbClr val="B1BBCC"/>
                </a:solidFill>
                <a:latin typeface="Aptos"/>
              </a:rPr>
              <a:t>Escala mejor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" y="5742432"/>
            <a:ext cx="10424160" cy="320040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l"/>
            <a:r>
              <a:rPr sz="1300" b="0">
                <a:solidFill>
                  <a:srgbClr val="B1BBCC"/>
                </a:solidFill>
                <a:latin typeface="Aptos"/>
              </a:rPr>
              <a:t>Alternativa: React dentro de Symfony public/, con fallback SPA correctamente configurado.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3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36D3DD"/>
          </a:solidFill>
          <a:ln>
            <a:solidFill>
              <a:srgbClr val="36D3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2743200" cy="228600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l"/>
            <a:r>
              <a:rPr sz="1000" b="1">
                <a:solidFill>
                  <a:srgbClr val="36D3DD"/>
                </a:solidFill>
                <a:latin typeface="Aptos"/>
              </a:rPr>
              <a:t>BACKEND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320040"/>
            <a:ext cx="502920" cy="228600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r"/>
            <a:r>
              <a:rPr sz="1000" b="1">
                <a:solidFill>
                  <a:srgbClr val="B1BBCC"/>
                </a:solidFill>
                <a:latin typeface="Aptos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58952"/>
            <a:ext cx="10698480" cy="502920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Aptos"/>
              </a:rPr>
              <a:t>Estado actual y cambios necesarios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1353312"/>
            <a:ext cx="10607040" cy="365760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l"/>
            <a:r>
              <a:rPr sz="1300" b="0">
                <a:solidFill>
                  <a:srgbClr val="B1BBCC"/>
                </a:solidFill>
                <a:latin typeface="Aptos"/>
              </a:rPr>
              <a:t>Hallazgos reales del repositorio.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510528"/>
            <a:ext cx="3657600" cy="164592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l"/>
            <a:r>
              <a:rPr sz="800" b="1">
                <a:solidFill>
                  <a:srgbClr val="B1BBCC"/>
                </a:solidFill>
                <a:latin typeface="Aptos"/>
              </a:rPr>
              <a:t>CINE APP · HOSTINGER COMPARTIDO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011680"/>
            <a:ext cx="3383280" cy="3200400"/>
          </a:xfrm>
          <a:prstGeom prst="roundRect">
            <a:avLst/>
          </a:prstGeom>
          <a:solidFill>
            <a:srgbClr val="172238"/>
          </a:solidFill>
          <a:ln>
            <a:solidFill>
              <a:srgbClr val="2A3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40080" y="2011680"/>
            <a:ext cx="64008" cy="3200400"/>
          </a:xfrm>
          <a:prstGeom prst="roundRect">
            <a:avLst/>
          </a:prstGeom>
          <a:solidFill>
            <a:srgbClr val="53D68E"/>
          </a:solidFill>
          <a:ln>
            <a:solidFill>
              <a:srgbClr val="53D6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194560"/>
            <a:ext cx="2971800" cy="292608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ptos"/>
              </a:rPr>
              <a:t>YA ESTÁ BIEN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651760"/>
            <a:ext cx="2971800" cy="2423160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l"/>
            <a:r>
              <a:rPr sz="1250" b="0">
                <a:solidFill>
                  <a:srgbClr val="B1BBCC"/>
                </a:solidFill>
                <a:latin typeface="Aptos"/>
              </a:rPr>
              <a:t>✓ Symfony 7.4</a:t>
            </a:r>
            <a:br/>
            <a:r>
              <a:rPr sz="1250" b="0">
                <a:solidFill>
                  <a:srgbClr val="B1BBCC"/>
                </a:solidFill>
                <a:latin typeface="Aptos"/>
              </a:rPr>
              <a:t>✓ PHP &gt;= 8.2</a:t>
            </a:r>
            <a:br/>
            <a:r>
              <a:rPr sz="1250" b="0">
                <a:solidFill>
                  <a:srgbClr val="B1BBCC"/>
                </a:solidFill>
                <a:latin typeface="Aptos"/>
              </a:rPr>
              <a:t>✓ Doctrine y migraciones</a:t>
            </a:r>
            <a:br/>
            <a:r>
              <a:rPr sz="1250" b="0">
                <a:solidFill>
                  <a:srgbClr val="B1BBCC"/>
                </a:solidFill>
                <a:latin typeface="Aptos"/>
              </a:rPr>
              <a:t>✓ Caché ORM para prod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2011680"/>
            <a:ext cx="3383280" cy="3200400"/>
          </a:xfrm>
          <a:prstGeom prst="roundRect">
            <a:avLst/>
          </a:prstGeom>
          <a:solidFill>
            <a:srgbClr val="172238"/>
          </a:solidFill>
          <a:ln>
            <a:solidFill>
              <a:srgbClr val="2A3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389120" y="2011680"/>
            <a:ext cx="64008" cy="3200400"/>
          </a:xfrm>
          <a:prstGeom prst="roundRect">
            <a:avLst/>
          </a:prstGeom>
          <a:solidFill>
            <a:srgbClr val="FF6978"/>
          </a:solidFill>
          <a:ln>
            <a:solidFill>
              <a:srgbClr val="FF69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17720" y="2194560"/>
            <a:ext cx="2971800" cy="292608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ptos"/>
              </a:rPr>
              <a:t>CAMBIAR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7720" y="2651760"/>
            <a:ext cx="2971800" cy="2423160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l"/>
            <a:r>
              <a:rPr sz="1250" b="0">
                <a:solidFill>
                  <a:srgbClr val="B1BBCC"/>
                </a:solidFill>
                <a:latin typeface="Aptos"/>
              </a:rPr>
              <a:t>APP_ENV está en dev</a:t>
            </a:r>
            <a:br/>
            <a:r>
              <a:rPr sz="1250" b="0">
                <a:solidFill>
                  <a:srgbClr val="B1BBCC"/>
                </a:solidFill>
                <a:latin typeface="Aptos"/>
              </a:rPr>
              <a:t>APP_SECRET es de ejemplo</a:t>
            </a:r>
            <a:br/>
            <a:r>
              <a:rPr sz="1250" b="0">
                <a:solidFill>
                  <a:srgbClr val="B1BBCC"/>
                </a:solidFill>
                <a:latin typeface="Aptos"/>
              </a:rPr>
              <a:t>DB usa 127.0.0.1</a:t>
            </a:r>
            <a:br/>
            <a:r>
              <a:rPr sz="1250" b="0">
                <a:solidFill>
                  <a:srgbClr val="B1BBCC"/>
                </a:solidFill>
                <a:latin typeface="Aptos"/>
              </a:rPr>
              <a:t>MySQL está fijado en 8.4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8160" y="2011680"/>
            <a:ext cx="3383280" cy="3200400"/>
          </a:xfrm>
          <a:prstGeom prst="roundRect">
            <a:avLst/>
          </a:prstGeom>
          <a:solidFill>
            <a:srgbClr val="172238"/>
          </a:solidFill>
          <a:ln>
            <a:solidFill>
              <a:srgbClr val="2A3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138160" y="2011680"/>
            <a:ext cx="64008" cy="3200400"/>
          </a:xfrm>
          <a:prstGeom prst="roundRect">
            <a:avLst/>
          </a:prstGeom>
          <a:solidFill>
            <a:srgbClr val="FF9E58"/>
          </a:solidFill>
          <a:ln>
            <a:solidFill>
              <a:srgbClr val="FF9E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66760" y="2194560"/>
            <a:ext cx="2971800" cy="292608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ptos"/>
              </a:rPr>
              <a:t>PREPARAR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66760" y="2651760"/>
            <a:ext cx="2971800" cy="2423160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l"/>
            <a:r>
              <a:rPr sz="1250" b="0">
                <a:solidFill>
                  <a:srgbClr val="B1BBCC"/>
                </a:solidFill>
                <a:latin typeface="Aptos"/>
              </a:rPr>
              <a:t>.htaccess / Apache rewrite</a:t>
            </a:r>
            <a:br/>
            <a:r>
              <a:rPr sz="1250" b="0">
                <a:solidFill>
                  <a:srgbClr val="B1BBCC"/>
                </a:solidFill>
                <a:latin typeface="Aptos"/>
              </a:rPr>
              <a:t>CORS si hay subdominio</a:t>
            </a:r>
            <a:br/>
            <a:r>
              <a:rPr sz="1250" b="0">
                <a:solidFill>
                  <a:srgbClr val="B1BBCC"/>
                </a:solidFill>
                <a:latin typeface="Aptos"/>
              </a:rPr>
              <a:t>Permisos de var/</a:t>
            </a:r>
            <a:br/>
            <a:r>
              <a:rPr sz="1250" b="0">
                <a:solidFill>
                  <a:srgbClr val="B1BBCC"/>
                </a:solidFill>
                <a:latin typeface="Aptos"/>
              </a:rPr>
              <a:t>Instalación de producción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512" y="5733288"/>
            <a:ext cx="10424160" cy="320040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l"/>
            <a:r>
              <a:rPr sz="1400" b="1">
                <a:solidFill>
                  <a:srgbClr val="FF6978"/>
                </a:solidFill>
                <a:latin typeface="Aptos"/>
              </a:rPr>
              <a:t>No subir .env.local, contraseñas, dumps SQL ni logs.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3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36D3DD"/>
          </a:solidFill>
          <a:ln>
            <a:solidFill>
              <a:srgbClr val="36D3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2743200" cy="228600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l"/>
            <a:r>
              <a:rPr sz="1000" b="1">
                <a:solidFill>
                  <a:srgbClr val="36D3DD"/>
                </a:solidFill>
                <a:latin typeface="Aptos"/>
              </a:rPr>
              <a:t>BACKEND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320040"/>
            <a:ext cx="502920" cy="228600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r"/>
            <a:r>
              <a:rPr sz="1000" b="1">
                <a:solidFill>
                  <a:srgbClr val="B1BBCC"/>
                </a:solidFill>
                <a:latin typeface="Aptos"/>
              </a:rPr>
              <a:t>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58952"/>
            <a:ext cx="10698480" cy="502920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Aptos"/>
              </a:rPr>
              <a:t>Variables de producción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1353312"/>
            <a:ext cx="10607040" cy="365760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l"/>
            <a:r>
              <a:rPr sz="1300" b="0">
                <a:solidFill>
                  <a:srgbClr val="B1BBCC"/>
                </a:solidFill>
                <a:latin typeface="Aptos"/>
              </a:rPr>
              <a:t>Guardar secretos en .env.local o variables del servidor.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510528"/>
            <a:ext cx="3657600" cy="164592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l"/>
            <a:r>
              <a:rPr sz="800" b="1">
                <a:solidFill>
                  <a:srgbClr val="B1BBCC"/>
                </a:solidFill>
                <a:latin typeface="Aptos"/>
              </a:rPr>
              <a:t>CINE APP · HOSTINGER COMPARTIDO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874519"/>
            <a:ext cx="6583680" cy="3703320"/>
          </a:xfrm>
          <a:prstGeom prst="roundRect">
            <a:avLst/>
          </a:prstGeom>
          <a:solidFill>
            <a:srgbClr val="172238"/>
          </a:solidFill>
          <a:ln>
            <a:solidFill>
              <a:srgbClr val="1722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286000"/>
            <a:ext cx="5943600" cy="2743200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Consolas"/>
              </a:rPr>
              <a:t>APP_ENV=prod</a:t>
            </a:r>
            <a:br/>
            <a:r>
              <a:rPr sz="1500" b="0">
                <a:solidFill>
                  <a:srgbClr val="FFFFFF"/>
                </a:solidFill>
                <a:latin typeface="Consolas"/>
              </a:rPr>
              <a:t>APP_DEBUG=0</a:t>
            </a:r>
            <a:br/>
            <a:r>
              <a:rPr sz="1500" b="0">
                <a:solidFill>
                  <a:srgbClr val="FFFFFF"/>
                </a:solidFill>
                <a:latin typeface="Consolas"/>
              </a:rPr>
              <a:t>APP_SECRET=&lt;cadena-aleatoria-larga&gt;</a:t>
            </a:r>
            <a:br/>
            <a:r>
              <a:rPr sz="1500" b="0">
                <a:solidFill>
                  <a:srgbClr val="FFFFFF"/>
                </a:solidFill>
                <a:latin typeface="Consolas"/>
              </a:rPr>
              <a:t>DATABASE_URL="mysql://USER:CLAVE@HOST:3306/BASE?charset=utf8mb4"</a:t>
            </a:r>
            <a:br/>
            <a:r>
              <a:rPr sz="1500" b="0">
                <a:solidFill>
                  <a:srgbClr val="FFFFFF"/>
                </a:solidFill>
                <a:latin typeface="Consolas"/>
              </a:rPr>
              <a:t>DEFAULT_URI=https://api.tudominio.com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543800" y="1874519"/>
            <a:ext cx="3886200" cy="1691640"/>
          </a:xfrm>
          <a:prstGeom prst="roundRect">
            <a:avLst/>
          </a:prstGeom>
          <a:solidFill>
            <a:srgbClr val="172238"/>
          </a:solidFill>
          <a:ln>
            <a:solidFill>
              <a:srgbClr val="2A3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543800" y="1874519"/>
            <a:ext cx="64008" cy="1691640"/>
          </a:xfrm>
          <a:prstGeom prst="roundRect">
            <a:avLst/>
          </a:prstGeom>
          <a:solidFill>
            <a:srgbClr val="FF9E58"/>
          </a:solidFill>
          <a:ln>
            <a:solidFill>
              <a:srgbClr val="FF9E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0" y="2057400"/>
            <a:ext cx="3474720" cy="292608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ptos"/>
              </a:rPr>
              <a:t>BASE HOSTINGER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2514600"/>
            <a:ext cx="3474720" cy="914400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l"/>
            <a:r>
              <a:rPr sz="1250" b="0">
                <a:solidFill>
                  <a:srgbClr val="B1BBCC"/>
                </a:solidFill>
                <a:latin typeface="Aptos"/>
              </a:rPr>
              <a:t>Copiar host, base, usuario y clave desde hPanel. Confirmar MySQL/MariaDB y ajustar serverVersion; no asumir 8.4.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43800" y="3886200"/>
            <a:ext cx="3886200" cy="1691640"/>
          </a:xfrm>
          <a:prstGeom prst="roundRect">
            <a:avLst/>
          </a:prstGeom>
          <a:solidFill>
            <a:srgbClr val="172238"/>
          </a:solidFill>
          <a:ln>
            <a:solidFill>
              <a:srgbClr val="2A3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543800" y="3886200"/>
            <a:ext cx="64008" cy="1691640"/>
          </a:xfrm>
          <a:prstGeom prst="roundRect">
            <a:avLst/>
          </a:prstGeom>
          <a:solidFill>
            <a:srgbClr val="FF6978"/>
          </a:solidFill>
          <a:ln>
            <a:solidFill>
              <a:srgbClr val="FF69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0" y="4069080"/>
            <a:ext cx="3474720" cy="292608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ptos"/>
              </a:rPr>
              <a:t>SECRETO REAL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0" y="4526280"/>
            <a:ext cx="3474720" cy="914400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l"/>
            <a:r>
              <a:rPr sz="1250" b="0">
                <a:solidFill>
                  <a:srgbClr val="B1BBCC"/>
                </a:solidFill>
                <a:latin typeface="Aptos"/>
              </a:rPr>
              <a:t>Generar APP_SECRET largo y aleatorio. Nunca reutilizar el valor de ejemplo ni publicarlo en Git.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3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36D3DD"/>
          </a:solidFill>
          <a:ln>
            <a:solidFill>
              <a:srgbClr val="36D3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2743200" cy="228600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l"/>
            <a:r>
              <a:rPr sz="1000" b="1">
                <a:solidFill>
                  <a:srgbClr val="36D3DD"/>
                </a:solidFill>
                <a:latin typeface="Aptos"/>
              </a:rPr>
              <a:t>BACKEND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320040"/>
            <a:ext cx="502920" cy="228600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r"/>
            <a:r>
              <a:rPr sz="1000" b="1">
                <a:solidFill>
                  <a:srgbClr val="B1BBCC"/>
                </a:solidFill>
                <a:latin typeface="Aptos"/>
              </a:rPr>
              <a:t>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58952"/>
            <a:ext cx="10698480" cy="502920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Aptos"/>
              </a:rPr>
              <a:t>Estructura segura de carpetas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1353312"/>
            <a:ext cx="10607040" cy="365760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l"/>
            <a:r>
              <a:rPr sz="1300" b="0">
                <a:solidFill>
                  <a:srgbClr val="B1BBCC"/>
                </a:solidFill>
                <a:latin typeface="Aptos"/>
              </a:rPr>
              <a:t>Hostinger usa public_html y no permite cambiar libremente el document root.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510528"/>
            <a:ext cx="3657600" cy="164592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l"/>
            <a:r>
              <a:rPr sz="800" b="1">
                <a:solidFill>
                  <a:srgbClr val="B1BBCC"/>
                </a:solidFill>
                <a:latin typeface="Aptos"/>
              </a:rPr>
              <a:t>CINE APP · HOSTINGER COMPARTIDO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920240"/>
            <a:ext cx="2743200" cy="274320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l"/>
            <a:r>
              <a:rPr sz="1700" b="1">
                <a:solidFill>
                  <a:srgbClr val="36D3DD"/>
                </a:solidFill>
                <a:latin typeface="Consolas"/>
              </a:rPr>
              <a:t>/home/usuario/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331720"/>
            <a:ext cx="4572000" cy="3383280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Consolas"/>
              </a:rPr>
              <a:t>cine-backend/       ← privado</a:t>
            </a:r>
            <a:br/>
            <a:r>
              <a:rPr sz="1600" b="0">
                <a:solidFill>
                  <a:srgbClr val="FFFFFF"/>
                </a:solidFill>
                <a:latin typeface="Consolas"/>
              </a:rPr>
              <a:t>├── config/</a:t>
            </a:r>
            <a:br/>
            <a:r>
              <a:rPr sz="1600" b="0">
                <a:solidFill>
                  <a:srgbClr val="FFFFFF"/>
                </a:solidFill>
                <a:latin typeface="Consolas"/>
              </a:rPr>
              <a:t>├── migrations/</a:t>
            </a:r>
            <a:br/>
            <a:r>
              <a:rPr sz="1600" b="0">
                <a:solidFill>
                  <a:srgbClr val="FFFFFF"/>
                </a:solidFill>
                <a:latin typeface="Consolas"/>
              </a:rPr>
              <a:t>├── src/</a:t>
            </a:r>
            <a:br/>
            <a:r>
              <a:rPr sz="1600" b="0">
                <a:solidFill>
                  <a:srgbClr val="FFFFFF"/>
                </a:solidFill>
                <a:latin typeface="Consolas"/>
              </a:rPr>
              <a:t>├── var/</a:t>
            </a:r>
            <a:br/>
            <a:r>
              <a:rPr sz="1600" b="0">
                <a:solidFill>
                  <a:srgbClr val="FFFFFF"/>
                </a:solidFill>
                <a:latin typeface="Consolas"/>
              </a:rPr>
              <a:t>└── vendor/</a:t>
            </a:r>
            <a:br/>
            <a:br/>
            <a:r>
              <a:rPr sz="1600" b="0">
                <a:solidFill>
                  <a:srgbClr val="FFFFFF"/>
                </a:solidFill>
                <a:latin typeface="Consolas"/>
              </a:rPr>
              <a:t>public_html/api/   ← público</a:t>
            </a:r>
            <a:br/>
            <a:r>
              <a:rPr sz="1600" b="0">
                <a:solidFill>
                  <a:srgbClr val="FFFFFF"/>
                </a:solidFill>
                <a:latin typeface="Consolas"/>
              </a:rPr>
              <a:t>├── index.php</a:t>
            </a:r>
            <a:br/>
            <a:r>
              <a:rPr sz="1600" b="0">
                <a:solidFill>
                  <a:srgbClr val="FFFFFF"/>
                </a:solidFill>
                <a:latin typeface="Consolas"/>
              </a:rPr>
              <a:t>├── .htaccess</a:t>
            </a:r>
            <a:br/>
            <a:r>
              <a:rPr sz="1600" b="0">
                <a:solidFill>
                  <a:srgbClr val="FFFFFF"/>
                </a:solidFill>
                <a:latin typeface="Consolas"/>
              </a:rPr>
              <a:t>└── assets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1965960"/>
            <a:ext cx="4800600" cy="1645920"/>
          </a:xfrm>
          <a:prstGeom prst="roundRect">
            <a:avLst/>
          </a:prstGeom>
          <a:solidFill>
            <a:srgbClr val="172238"/>
          </a:solidFill>
          <a:ln>
            <a:solidFill>
              <a:srgbClr val="2A3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00800" y="1965960"/>
            <a:ext cx="64008" cy="1645920"/>
          </a:xfrm>
          <a:prstGeom prst="roundRect">
            <a:avLst/>
          </a:prstGeom>
          <a:solidFill>
            <a:srgbClr val="FF6978"/>
          </a:solidFill>
          <a:ln>
            <a:solidFill>
              <a:srgbClr val="FF69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29400" y="2148840"/>
            <a:ext cx="4389120" cy="292608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ptos"/>
              </a:rPr>
              <a:t>REGLA DE ORO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2606039"/>
            <a:ext cx="4389120" cy="868680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l"/>
            <a:r>
              <a:rPr sz="1250" b="0">
                <a:solidFill>
                  <a:srgbClr val="B1BBCC"/>
                </a:solidFill>
                <a:latin typeface="Aptos"/>
              </a:rPr>
              <a:t>Sólo Symfony public/ debe quedar accesible por web. src/, config/, vendor/ y .env.local no deben exponerse.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149840" y="2130552"/>
            <a:ext cx="777240" cy="274320"/>
          </a:xfrm>
          <a:prstGeom prst="roundRect">
            <a:avLst/>
          </a:prstGeom>
          <a:solidFill>
            <a:srgbClr val="FF6978"/>
          </a:solidFill>
          <a:ln>
            <a:solidFill>
              <a:srgbClr val="FF69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195560" y="2176272"/>
            <a:ext cx="685800" cy="128016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ctr"/>
            <a:r>
              <a:rPr sz="800" b="1">
                <a:solidFill>
                  <a:srgbClr val="0C1323"/>
                </a:solidFill>
                <a:latin typeface="Aptos"/>
              </a:rPr>
              <a:t>SEGURIDAD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3886200"/>
            <a:ext cx="4800600" cy="1828800"/>
          </a:xfrm>
          <a:prstGeom prst="roundRect">
            <a:avLst/>
          </a:prstGeom>
          <a:solidFill>
            <a:srgbClr val="172238"/>
          </a:solidFill>
          <a:ln>
            <a:solidFill>
              <a:srgbClr val="2A3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400800" y="3886200"/>
            <a:ext cx="64008" cy="1828800"/>
          </a:xfrm>
          <a:prstGeom prst="roundRect">
            <a:avLst/>
          </a:prstGeom>
          <a:solidFill>
            <a:srgbClr val="FF9E58"/>
          </a:solidFill>
          <a:ln>
            <a:solidFill>
              <a:srgbClr val="FF9E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29400" y="4069080"/>
            <a:ext cx="4389120" cy="292608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ptos"/>
              </a:rPr>
              <a:t>LIMITACIÓN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29400" y="4526280"/>
            <a:ext cx="4389120" cy="1051560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l"/>
            <a:r>
              <a:rPr sz="1250" b="0">
                <a:solidFill>
                  <a:srgbClr val="B1BBCC"/>
                </a:solidFill>
                <a:latin typeface="Aptos"/>
              </a:rPr>
              <a:t>Si el subdominio no apunta a public/, separar el núcleo fuera de public_html y adaptar index.php, o usar reglas Apache verificadas.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3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36D3DD"/>
          </a:solidFill>
          <a:ln>
            <a:solidFill>
              <a:srgbClr val="36D3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2743200" cy="228600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l"/>
            <a:r>
              <a:rPr sz="1000" b="1">
                <a:solidFill>
                  <a:srgbClr val="36D3DD"/>
                </a:solidFill>
                <a:latin typeface="Aptos"/>
              </a:rPr>
              <a:t>BACKEND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320040"/>
            <a:ext cx="502920" cy="228600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r"/>
            <a:r>
              <a:rPr sz="1000" b="1">
                <a:solidFill>
                  <a:srgbClr val="B1BBCC"/>
                </a:solidFill>
                <a:latin typeface="Aptos"/>
              </a:rPr>
              <a:t>28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58952"/>
            <a:ext cx="10698480" cy="502920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Aptos"/>
              </a:rPr>
              <a:t>Pasos de despliegue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1353312"/>
            <a:ext cx="10607040" cy="365760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l"/>
            <a:r>
              <a:rPr sz="1300" b="0">
                <a:solidFill>
                  <a:srgbClr val="B1BBCC"/>
                </a:solidFill>
                <a:latin typeface="Aptos"/>
              </a:rPr>
              <a:t>Hacer backup antes de cada actualización.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510528"/>
            <a:ext cx="3657600" cy="164592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l"/>
            <a:r>
              <a:rPr sz="800" b="1">
                <a:solidFill>
                  <a:srgbClr val="B1BBCC"/>
                </a:solidFill>
                <a:latin typeface="Aptos"/>
              </a:rPr>
              <a:t>CINE APP · HOSTINGER COMPARTIDO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920240"/>
            <a:ext cx="3429000" cy="1508760"/>
          </a:xfrm>
          <a:prstGeom prst="roundRect">
            <a:avLst/>
          </a:prstGeom>
          <a:solidFill>
            <a:srgbClr val="172238"/>
          </a:solidFill>
          <a:ln>
            <a:solidFill>
              <a:srgbClr val="2A3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40080" y="1920240"/>
            <a:ext cx="64008" cy="1508760"/>
          </a:xfrm>
          <a:prstGeom prst="roundRect">
            <a:avLst/>
          </a:prstGeom>
          <a:solidFill>
            <a:srgbClr val="36D3DD"/>
          </a:solidFill>
          <a:ln>
            <a:solidFill>
              <a:srgbClr val="36D3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103120"/>
            <a:ext cx="3017520" cy="292608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ptos"/>
              </a:rPr>
              <a:t>1 · hPanel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560320"/>
            <a:ext cx="3017520" cy="731519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l"/>
            <a:r>
              <a:rPr sz="1250" b="0">
                <a:solidFill>
                  <a:srgbClr val="B1BBCC"/>
                </a:solidFill>
                <a:latin typeface="Aptos"/>
              </a:rPr>
              <a:t>PHP 8.2+; pdo_mysql, ctype e iconv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34840" y="1920240"/>
            <a:ext cx="3429000" cy="1508760"/>
          </a:xfrm>
          <a:prstGeom prst="roundRect">
            <a:avLst/>
          </a:prstGeom>
          <a:solidFill>
            <a:srgbClr val="172238"/>
          </a:solidFill>
          <a:ln>
            <a:solidFill>
              <a:srgbClr val="2A3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434840" y="1920240"/>
            <a:ext cx="64008" cy="1508760"/>
          </a:xfrm>
          <a:prstGeom prst="roundRect">
            <a:avLst/>
          </a:prstGeom>
          <a:solidFill>
            <a:srgbClr val="36D3DD"/>
          </a:solidFill>
          <a:ln>
            <a:solidFill>
              <a:srgbClr val="36D3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63440" y="2103120"/>
            <a:ext cx="3017520" cy="292608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ptos"/>
              </a:rPr>
              <a:t>2 · MySQL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3440" y="2560320"/>
            <a:ext cx="3017520" cy="731519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l"/>
            <a:r>
              <a:rPr sz="1250" b="0">
                <a:solidFill>
                  <a:srgbClr val="B1BBCC"/>
                </a:solidFill>
                <a:latin typeface="Aptos"/>
              </a:rPr>
              <a:t>Crear base y guardar credenciales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0" y="1920240"/>
            <a:ext cx="3429000" cy="1508760"/>
          </a:xfrm>
          <a:prstGeom prst="roundRect">
            <a:avLst/>
          </a:prstGeom>
          <a:solidFill>
            <a:srgbClr val="172238"/>
          </a:solidFill>
          <a:ln>
            <a:solidFill>
              <a:srgbClr val="2A3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229600" y="1920240"/>
            <a:ext cx="64008" cy="1508760"/>
          </a:xfrm>
          <a:prstGeom prst="roundRect">
            <a:avLst/>
          </a:prstGeom>
          <a:solidFill>
            <a:srgbClr val="36D3DD"/>
          </a:solidFill>
          <a:ln>
            <a:solidFill>
              <a:srgbClr val="36D3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58200" y="2103120"/>
            <a:ext cx="3017520" cy="292608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ptos"/>
              </a:rPr>
              <a:t>3 · Código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58200" y="2560320"/>
            <a:ext cx="3017520" cy="731519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l"/>
            <a:r>
              <a:rPr sz="1250" b="0">
                <a:solidFill>
                  <a:srgbClr val="B1BBCC"/>
                </a:solidFill>
                <a:latin typeface="Aptos"/>
              </a:rPr>
              <a:t>Subir por Git/SSH o archivo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3794760"/>
            <a:ext cx="3429000" cy="1508760"/>
          </a:xfrm>
          <a:prstGeom prst="roundRect">
            <a:avLst/>
          </a:prstGeom>
          <a:solidFill>
            <a:srgbClr val="172238"/>
          </a:solidFill>
          <a:ln>
            <a:solidFill>
              <a:srgbClr val="2A3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40080" y="3794760"/>
            <a:ext cx="64008" cy="1508760"/>
          </a:xfrm>
          <a:prstGeom prst="roundRect">
            <a:avLst/>
          </a:prstGeom>
          <a:solidFill>
            <a:srgbClr val="53D68E"/>
          </a:solidFill>
          <a:ln>
            <a:solidFill>
              <a:srgbClr val="53D6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" y="3977640"/>
            <a:ext cx="3017520" cy="292608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ptos"/>
              </a:rPr>
              <a:t>4 · Composer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4434840"/>
            <a:ext cx="3017520" cy="731519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l"/>
            <a:r>
              <a:rPr sz="1250" b="0">
                <a:solidFill>
                  <a:srgbClr val="B1BBCC"/>
                </a:solidFill>
                <a:latin typeface="Aptos"/>
              </a:rPr>
              <a:t>composer2 install --no-dev --optimize-autoloader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434840" y="3794760"/>
            <a:ext cx="3429000" cy="1508760"/>
          </a:xfrm>
          <a:prstGeom prst="roundRect">
            <a:avLst/>
          </a:prstGeom>
          <a:solidFill>
            <a:srgbClr val="172238"/>
          </a:solidFill>
          <a:ln>
            <a:solidFill>
              <a:srgbClr val="2A3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4434840" y="3794760"/>
            <a:ext cx="64008" cy="1508760"/>
          </a:xfrm>
          <a:prstGeom prst="roundRect">
            <a:avLst/>
          </a:prstGeom>
          <a:solidFill>
            <a:srgbClr val="53D68E"/>
          </a:solidFill>
          <a:ln>
            <a:solidFill>
              <a:srgbClr val="53D6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663440" y="3977640"/>
            <a:ext cx="3017520" cy="292608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ptos"/>
              </a:rPr>
              <a:t>5 · Doctrine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63440" y="4434840"/>
            <a:ext cx="3017520" cy="731519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l"/>
            <a:r>
              <a:rPr sz="1250" b="0">
                <a:solidFill>
                  <a:srgbClr val="B1BBCC"/>
                </a:solidFill>
                <a:latin typeface="Aptos"/>
              </a:rPr>
              <a:t>Ejecutar migraciones en prod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229600" y="3794760"/>
            <a:ext cx="3429000" cy="1508760"/>
          </a:xfrm>
          <a:prstGeom prst="roundRect">
            <a:avLst/>
          </a:prstGeom>
          <a:solidFill>
            <a:srgbClr val="172238"/>
          </a:solidFill>
          <a:ln>
            <a:solidFill>
              <a:srgbClr val="2A3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8229600" y="3794760"/>
            <a:ext cx="64008" cy="1508760"/>
          </a:xfrm>
          <a:prstGeom prst="roundRect">
            <a:avLst/>
          </a:prstGeom>
          <a:solidFill>
            <a:srgbClr val="53D68E"/>
          </a:solidFill>
          <a:ln>
            <a:solidFill>
              <a:srgbClr val="53D6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458200" y="3977640"/>
            <a:ext cx="3017520" cy="292608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ptos"/>
              </a:rPr>
              <a:t>6 · Verificar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58200" y="4434840"/>
            <a:ext cx="3017520" cy="731519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l"/>
            <a:r>
              <a:rPr sz="1250" b="0">
                <a:solidFill>
                  <a:srgbClr val="B1BBCC"/>
                </a:solidFill>
                <a:latin typeface="Aptos"/>
              </a:rPr>
              <a:t>Caché, permisos y /api/health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" y="5897880"/>
            <a:ext cx="10515600" cy="320040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l"/>
            <a:r>
              <a:rPr sz="1300" b="0">
                <a:solidFill>
                  <a:srgbClr val="B1BBCC"/>
                </a:solidFill>
                <a:latin typeface="Aptos"/>
              </a:rPr>
              <a:t>Sin Composer/SSH: generar vendor/ localmente y subirlo junto al backend.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3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36D3DD"/>
          </a:solidFill>
          <a:ln>
            <a:solidFill>
              <a:srgbClr val="36D3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2743200" cy="228600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l"/>
            <a:r>
              <a:rPr sz="1000" b="1">
                <a:solidFill>
                  <a:srgbClr val="36D3DD"/>
                </a:solidFill>
                <a:latin typeface="Aptos"/>
              </a:rPr>
              <a:t>BACKEND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320040"/>
            <a:ext cx="502920" cy="228600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r"/>
            <a:r>
              <a:rPr sz="1000" b="1">
                <a:solidFill>
                  <a:srgbClr val="B1BBCC"/>
                </a:solidFill>
                <a:latin typeface="Aptos"/>
              </a:rPr>
              <a:t>29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58952"/>
            <a:ext cx="10698480" cy="502920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Aptos"/>
              </a:rPr>
              <a:t>Apache, CORS y seguridad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1353312"/>
            <a:ext cx="10607040" cy="365760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l"/>
            <a:r>
              <a:rPr sz="1300" b="0">
                <a:solidFill>
                  <a:srgbClr val="B1BBCC"/>
                </a:solidFill>
                <a:latin typeface="Aptos"/>
              </a:rPr>
              <a:t>Las rutas /api/... necesitan una reescritura correcta.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510528"/>
            <a:ext cx="3657600" cy="164592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l"/>
            <a:r>
              <a:rPr sz="800" b="1">
                <a:solidFill>
                  <a:srgbClr val="B1BBCC"/>
                </a:solidFill>
                <a:latin typeface="Aptos"/>
              </a:rPr>
              <a:t>CINE APP · HOSTINGER COMPARTIDO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011680"/>
            <a:ext cx="3383280" cy="1828800"/>
          </a:xfrm>
          <a:prstGeom prst="roundRect">
            <a:avLst/>
          </a:prstGeom>
          <a:solidFill>
            <a:srgbClr val="172238"/>
          </a:solidFill>
          <a:ln>
            <a:solidFill>
              <a:srgbClr val="2A3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40080" y="2011680"/>
            <a:ext cx="64008" cy="1828800"/>
          </a:xfrm>
          <a:prstGeom prst="roundRect">
            <a:avLst/>
          </a:prstGeom>
          <a:solidFill>
            <a:srgbClr val="36D3DD"/>
          </a:solidFill>
          <a:ln>
            <a:solidFill>
              <a:srgbClr val="36D3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194560"/>
            <a:ext cx="2971800" cy="292608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ptos"/>
              </a:rPr>
              <a:t>.HTACCESS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651760"/>
            <a:ext cx="2971800" cy="1051560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l"/>
            <a:r>
              <a:rPr sz="1250" b="0">
                <a:solidFill>
                  <a:srgbClr val="B1BBCC"/>
                </a:solidFill>
                <a:latin typeface="Aptos"/>
              </a:rPr>
              <a:t>Configurar Apache para enviar rutas Symfony a index.php y probar URLs profundas.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2011680"/>
            <a:ext cx="3383280" cy="1828800"/>
          </a:xfrm>
          <a:prstGeom prst="roundRect">
            <a:avLst/>
          </a:prstGeom>
          <a:solidFill>
            <a:srgbClr val="172238"/>
          </a:solidFill>
          <a:ln>
            <a:solidFill>
              <a:srgbClr val="2A3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389120" y="2011680"/>
            <a:ext cx="64008" cy="1828800"/>
          </a:xfrm>
          <a:prstGeom prst="roundRect">
            <a:avLst/>
          </a:prstGeom>
          <a:solidFill>
            <a:srgbClr val="FF9E58"/>
          </a:solidFill>
          <a:ln>
            <a:solidFill>
              <a:srgbClr val="FF9E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17720" y="2194560"/>
            <a:ext cx="2971800" cy="292608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ptos"/>
              </a:rPr>
              <a:t>CORS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7720" y="2651760"/>
            <a:ext cx="2971800" cy="1051560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l"/>
            <a:r>
              <a:rPr sz="1250" b="0">
                <a:solidFill>
                  <a:srgbClr val="B1BBCC"/>
                </a:solidFill>
                <a:latin typeface="Aptos"/>
              </a:rPr>
              <a:t>Permitir sólo https://tudominio.com si la API usa otro origen. Evitar * en operaciones sensibles.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8160" y="2011680"/>
            <a:ext cx="3383280" cy="1828800"/>
          </a:xfrm>
          <a:prstGeom prst="roundRect">
            <a:avLst/>
          </a:prstGeom>
          <a:solidFill>
            <a:srgbClr val="172238"/>
          </a:solidFill>
          <a:ln>
            <a:solidFill>
              <a:srgbClr val="2A3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138160" y="2011680"/>
            <a:ext cx="64008" cy="1828800"/>
          </a:xfrm>
          <a:prstGeom prst="roundRect">
            <a:avLst/>
          </a:prstGeom>
          <a:solidFill>
            <a:srgbClr val="53D68E"/>
          </a:solidFill>
          <a:ln>
            <a:solidFill>
              <a:srgbClr val="53D6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66760" y="2194560"/>
            <a:ext cx="2971800" cy="292608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ptos"/>
              </a:rPr>
              <a:t>HTTPS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66760" y="2651760"/>
            <a:ext cx="2971800" cy="1051560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l"/>
            <a:r>
              <a:rPr sz="1250" b="0">
                <a:solidFill>
                  <a:srgbClr val="B1BBCC"/>
                </a:solidFill>
                <a:latin typeface="Aptos"/>
              </a:rPr>
              <a:t>Activar SSL, forzar HTTPS y actualizar DEFAULT_URI. Evitar contenido mixto.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4251960"/>
            <a:ext cx="5257800" cy="1234440"/>
          </a:xfrm>
          <a:prstGeom prst="roundRect">
            <a:avLst/>
          </a:prstGeom>
          <a:solidFill>
            <a:srgbClr val="172238"/>
          </a:solidFill>
          <a:ln>
            <a:solidFill>
              <a:srgbClr val="2A3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40080" y="4251960"/>
            <a:ext cx="64008" cy="1234440"/>
          </a:xfrm>
          <a:prstGeom prst="roundRect">
            <a:avLst/>
          </a:prstGeom>
          <a:solidFill>
            <a:srgbClr val="FF6978"/>
          </a:solidFill>
          <a:ln>
            <a:solidFill>
              <a:srgbClr val="FF69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" y="4434840"/>
            <a:ext cx="4846320" cy="292608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ptos"/>
              </a:rPr>
              <a:t>NO PUBLICAR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4892040"/>
            <a:ext cx="4846320" cy="457200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l"/>
            <a:r>
              <a:rPr sz="1250" b="0">
                <a:solidFill>
                  <a:srgbClr val="B1BBCC"/>
                </a:solidFill>
                <a:latin typeface="Aptos"/>
              </a:rPr>
              <a:t>.env.local · .git · dumps · logs · tests · claves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63640" y="4251960"/>
            <a:ext cx="5257800" cy="1234440"/>
          </a:xfrm>
          <a:prstGeom prst="roundRect">
            <a:avLst/>
          </a:prstGeom>
          <a:solidFill>
            <a:srgbClr val="172238"/>
          </a:solidFill>
          <a:ln>
            <a:solidFill>
              <a:srgbClr val="2A3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263640" y="4251960"/>
            <a:ext cx="64008" cy="1234440"/>
          </a:xfrm>
          <a:prstGeom prst="roundRect">
            <a:avLst/>
          </a:prstGeom>
          <a:solidFill>
            <a:srgbClr val="FF9E58"/>
          </a:solidFill>
          <a:ln>
            <a:solidFill>
              <a:srgbClr val="FF9E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92240" y="4434840"/>
            <a:ext cx="4846320" cy="292608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ptos"/>
              </a:rPr>
              <a:t>PERMISOS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92240" y="4892040"/>
            <a:ext cx="4846320" cy="457200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l"/>
            <a:r>
              <a:rPr sz="1250" b="0">
                <a:solidFill>
                  <a:srgbClr val="B1BBCC"/>
                </a:solidFill>
                <a:latin typeface="Aptos"/>
              </a:rPr>
              <a:t>var/cache y var/log escribibles por PHP; el resto, mínimo necesario.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3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FF9E58"/>
          </a:solidFill>
          <a:ln>
            <a:solidFill>
              <a:srgbClr val="FF9E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2743200" cy="228600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l"/>
            <a:r>
              <a:rPr sz="1000" b="1">
                <a:solidFill>
                  <a:srgbClr val="FF9E58"/>
                </a:solidFill>
                <a:latin typeface="Aptos"/>
              </a:rPr>
              <a:t>FRONTEND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320040"/>
            <a:ext cx="502920" cy="228600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r"/>
            <a:r>
              <a:rPr sz="1000" b="1">
                <a:solidFill>
                  <a:srgbClr val="B1BBCC"/>
                </a:solidFill>
                <a:latin typeface="Aptos"/>
              </a:rPr>
              <a:t>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58952"/>
            <a:ext cx="10698480" cy="502920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Aptos"/>
              </a:rPr>
              <a:t>Qué cambia en React/Vite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1353312"/>
            <a:ext cx="10607040" cy="365760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l"/>
            <a:r>
              <a:rPr sz="1300" b="0">
                <a:solidFill>
                  <a:srgbClr val="B1BBCC"/>
                </a:solidFill>
                <a:latin typeface="Aptos"/>
              </a:rPr>
              <a:t>En producción Vite genera archivos estáticos; no se ejecuta npm run dev.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510528"/>
            <a:ext cx="3657600" cy="164592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l"/>
            <a:r>
              <a:rPr sz="800" b="1">
                <a:solidFill>
                  <a:srgbClr val="B1BBCC"/>
                </a:solidFill>
                <a:latin typeface="Aptos"/>
              </a:rPr>
              <a:t>CINE APP · HOSTINGER COMPARTIDO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011680"/>
            <a:ext cx="3108960" cy="3017520"/>
          </a:xfrm>
          <a:prstGeom prst="roundRect">
            <a:avLst/>
          </a:prstGeom>
          <a:solidFill>
            <a:srgbClr val="172238"/>
          </a:solidFill>
          <a:ln>
            <a:solidFill>
              <a:srgbClr val="2A3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40080" y="2011680"/>
            <a:ext cx="64008" cy="3017520"/>
          </a:xfrm>
          <a:prstGeom prst="roundRect">
            <a:avLst/>
          </a:prstGeom>
          <a:solidFill>
            <a:srgbClr val="36D3DD"/>
          </a:solidFill>
          <a:ln>
            <a:solidFill>
              <a:srgbClr val="36D3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194560"/>
            <a:ext cx="2697479" cy="292608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ptos"/>
              </a:rPr>
              <a:t>DESARROLLO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651760"/>
            <a:ext cx="2697479" cy="2240279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l"/>
            <a:r>
              <a:rPr sz="1250" b="0">
                <a:solidFill>
                  <a:srgbClr val="B1BBCC"/>
                </a:solidFill>
                <a:latin typeface="Aptos"/>
              </a:rPr>
              <a:t>npm run dev</a:t>
            </a:r>
            <a:br/>
            <a:r>
              <a:rPr sz="1250" b="0">
                <a:solidFill>
                  <a:srgbClr val="B1BBCC"/>
                </a:solidFill>
                <a:latin typeface="Aptos"/>
              </a:rPr>
              <a:t>localhost:5173</a:t>
            </a:r>
            <a:br/>
            <a:r>
              <a:rPr sz="1250" b="0">
                <a:solidFill>
                  <a:srgbClr val="B1BBCC"/>
                </a:solidFill>
                <a:latin typeface="Aptos"/>
              </a:rPr>
              <a:t>No se sube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31920" y="3108960"/>
            <a:ext cx="502920" cy="457200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ctr"/>
            <a:r>
              <a:rPr sz="3000" b="1">
                <a:solidFill>
                  <a:srgbClr val="FF9E58"/>
                </a:solidFill>
                <a:latin typeface="Aptos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0" y="2011680"/>
            <a:ext cx="3246120" cy="3017520"/>
          </a:xfrm>
          <a:prstGeom prst="roundRect">
            <a:avLst/>
          </a:prstGeom>
          <a:solidFill>
            <a:srgbClr val="172238"/>
          </a:solidFill>
          <a:ln>
            <a:solidFill>
              <a:srgbClr val="2A3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572000" y="2011680"/>
            <a:ext cx="64008" cy="3017520"/>
          </a:xfrm>
          <a:prstGeom prst="roundRect">
            <a:avLst/>
          </a:prstGeom>
          <a:solidFill>
            <a:srgbClr val="FF9E58"/>
          </a:solidFill>
          <a:ln>
            <a:solidFill>
              <a:srgbClr val="FF9E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00600" y="2194560"/>
            <a:ext cx="2834639" cy="292608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ptos"/>
              </a:rPr>
              <a:t>COMPILAR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0600" y="2651760"/>
            <a:ext cx="2834639" cy="2240279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l"/>
            <a:r>
              <a:rPr sz="1250" b="0">
                <a:solidFill>
                  <a:srgbClr val="B1BBCC"/>
                </a:solidFill>
                <a:latin typeface="Aptos"/>
              </a:rPr>
              <a:t>VITE_API_URL=https://api.tudominio.com/api</a:t>
            </a:r>
            <a:br/>
            <a:r>
              <a:rPr sz="1250" b="0">
                <a:solidFill>
                  <a:srgbClr val="B1BBCC"/>
                </a:solidFill>
                <a:latin typeface="Aptos"/>
              </a:rPr>
              <a:t>npm ci</a:t>
            </a:r>
            <a:br/>
            <a:r>
              <a:rPr sz="1250" b="0">
                <a:solidFill>
                  <a:srgbClr val="B1BBCC"/>
                </a:solidFill>
                <a:latin typeface="Aptos"/>
              </a:rPr>
              <a:t>npm run build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01000" y="3108960"/>
            <a:ext cx="502920" cy="457200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ctr"/>
            <a:r>
              <a:rPr sz="3000" b="1">
                <a:solidFill>
                  <a:srgbClr val="53D68E"/>
                </a:solidFill>
                <a:latin typeface="Aptos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95360" y="2011680"/>
            <a:ext cx="2880360" cy="3017520"/>
          </a:xfrm>
          <a:prstGeom prst="roundRect">
            <a:avLst/>
          </a:prstGeom>
          <a:solidFill>
            <a:srgbClr val="172238"/>
          </a:solidFill>
          <a:ln>
            <a:solidFill>
              <a:srgbClr val="2A3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595360" y="2011680"/>
            <a:ext cx="64008" cy="3017520"/>
          </a:xfrm>
          <a:prstGeom prst="roundRect">
            <a:avLst/>
          </a:prstGeom>
          <a:solidFill>
            <a:srgbClr val="53D68E"/>
          </a:solidFill>
          <a:ln>
            <a:solidFill>
              <a:srgbClr val="53D6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823960" y="2194560"/>
            <a:ext cx="2468879" cy="292608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ptos"/>
              </a:rPr>
              <a:t>PUBLICAR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23960" y="2651760"/>
            <a:ext cx="2468879" cy="2240279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l"/>
            <a:r>
              <a:rPr sz="1250" b="0">
                <a:solidFill>
                  <a:srgbClr val="B1BBCC"/>
                </a:solidFill>
                <a:latin typeface="Aptos"/>
              </a:rPr>
              <a:t>Subir sólo dist/*</a:t>
            </a:r>
            <a:br/>
            <a:r>
              <a:rPr sz="1250" b="0">
                <a:solidFill>
                  <a:srgbClr val="B1BBCC"/>
                </a:solidFill>
                <a:latin typeface="Aptos"/>
              </a:rPr>
              <a:t>a public_html</a:t>
            </a:r>
            <a:br/>
            <a:r>
              <a:rPr sz="1250" b="0">
                <a:solidFill>
                  <a:srgbClr val="B1BBCC"/>
                </a:solidFill>
                <a:latin typeface="Aptos"/>
              </a:rPr>
              <a:t>No node_modules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" y="5733288"/>
            <a:ext cx="10515600" cy="320040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l"/>
            <a:r>
              <a:rPr sz="1400" b="1">
                <a:solidFill>
                  <a:srgbClr val="FF6978"/>
                </a:solidFill>
                <a:latin typeface="Aptos"/>
              </a:rPr>
              <a:t>Desarrollo usa http://localhost/cine-app/public/api; producción debe usar la URL HTTPS definitiva.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3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FF9E58"/>
          </a:solidFill>
          <a:ln>
            <a:solidFill>
              <a:srgbClr val="FF9E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2743200" cy="228600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l"/>
            <a:r>
              <a:rPr sz="1000" b="1">
                <a:solidFill>
                  <a:srgbClr val="FF9E58"/>
                </a:solidFill>
                <a:latin typeface="Aptos"/>
              </a:rPr>
              <a:t>FRONTEND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320040"/>
            <a:ext cx="502920" cy="228600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r"/>
            <a:r>
              <a:rPr sz="1000" b="1">
                <a:solidFill>
                  <a:srgbClr val="B1BBCC"/>
                </a:solidFill>
                <a:latin typeface="Aptos"/>
              </a:rPr>
              <a:t>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58952"/>
            <a:ext cx="10698480" cy="502920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Aptos"/>
              </a:rPr>
              <a:t>Rutas SPA, API y caché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1353312"/>
            <a:ext cx="10607040" cy="365760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l"/>
            <a:r>
              <a:rPr sz="1300" b="0">
                <a:solidFill>
                  <a:srgbClr val="B1BBCC"/>
                </a:solidFill>
                <a:latin typeface="Aptos"/>
              </a:rPr>
              <a:t>Tres detalles que suelen romper React en producción.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510528"/>
            <a:ext cx="3657600" cy="164592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l"/>
            <a:r>
              <a:rPr sz="800" b="1">
                <a:solidFill>
                  <a:srgbClr val="B1BBCC"/>
                </a:solidFill>
                <a:latin typeface="Aptos"/>
              </a:rPr>
              <a:t>CINE APP · HOSTINGER COMPARTIDO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011680"/>
            <a:ext cx="3429000" cy="2926080"/>
          </a:xfrm>
          <a:prstGeom prst="roundRect">
            <a:avLst/>
          </a:prstGeom>
          <a:solidFill>
            <a:srgbClr val="172238"/>
          </a:solidFill>
          <a:ln>
            <a:solidFill>
              <a:srgbClr val="2A3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40080" y="2011680"/>
            <a:ext cx="64008" cy="2926080"/>
          </a:xfrm>
          <a:prstGeom prst="roundRect">
            <a:avLst/>
          </a:prstGeom>
          <a:solidFill>
            <a:srgbClr val="FF9E58"/>
          </a:solidFill>
          <a:ln>
            <a:solidFill>
              <a:srgbClr val="FF9E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194560"/>
            <a:ext cx="3017520" cy="292608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ptos"/>
              </a:rPr>
              <a:t>1 · REACT ROUTER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651760"/>
            <a:ext cx="3017520" cy="2148840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l"/>
            <a:r>
              <a:rPr sz="1250" b="0">
                <a:solidFill>
                  <a:srgbClr val="B1BBCC"/>
                </a:solidFill>
                <a:latin typeface="Aptos"/>
              </a:rPr>
              <a:t>Fallback a /index.html para recargar rutas internas. Excluir /api si comparte dominio.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2011680"/>
            <a:ext cx="3429000" cy="2926080"/>
          </a:xfrm>
          <a:prstGeom prst="roundRect">
            <a:avLst/>
          </a:prstGeom>
          <a:solidFill>
            <a:srgbClr val="172238"/>
          </a:solidFill>
          <a:ln>
            <a:solidFill>
              <a:srgbClr val="2A3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389120" y="2011680"/>
            <a:ext cx="64008" cy="2926080"/>
          </a:xfrm>
          <a:prstGeom prst="roundRect">
            <a:avLst/>
          </a:prstGeom>
          <a:solidFill>
            <a:srgbClr val="36D3DD"/>
          </a:solidFill>
          <a:ln>
            <a:solidFill>
              <a:srgbClr val="36D3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17720" y="2194560"/>
            <a:ext cx="3017520" cy="292608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ptos"/>
              </a:rPr>
              <a:t>2 · URL API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7720" y="2651760"/>
            <a:ext cx="3017520" cy="2148840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l"/>
            <a:r>
              <a:rPr sz="1250" b="0">
                <a:solidFill>
                  <a:srgbClr val="B1BBCC"/>
                </a:solidFill>
                <a:latin typeface="Aptos"/>
              </a:rPr>
              <a:t>Usar HTTPS y dominio real. Mismo dominio: preferir /api relativo y evitar CORS.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8160" y="2011680"/>
            <a:ext cx="3429000" cy="2926080"/>
          </a:xfrm>
          <a:prstGeom prst="roundRect">
            <a:avLst/>
          </a:prstGeom>
          <a:solidFill>
            <a:srgbClr val="172238"/>
          </a:solidFill>
          <a:ln>
            <a:solidFill>
              <a:srgbClr val="2A3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138160" y="2011680"/>
            <a:ext cx="64008" cy="2926080"/>
          </a:xfrm>
          <a:prstGeom prst="roundRect">
            <a:avLst/>
          </a:prstGeom>
          <a:solidFill>
            <a:srgbClr val="53D68E"/>
          </a:solidFill>
          <a:ln>
            <a:solidFill>
              <a:srgbClr val="53D6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66760" y="2194560"/>
            <a:ext cx="3017520" cy="292608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ptos"/>
              </a:rPr>
              <a:t>3 · ASSETS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66760" y="2651760"/>
            <a:ext cx="3017520" cy="2148840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l"/>
            <a:r>
              <a:rPr sz="1250" b="0">
                <a:solidFill>
                  <a:srgbClr val="B1BBCC"/>
                </a:solidFill>
                <a:latin typeface="Aptos"/>
              </a:rPr>
              <a:t>Caché larga para assets con hash; caché corta para index.html.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5687568"/>
            <a:ext cx="10607040" cy="365760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ptos"/>
              </a:rPr>
              <a:t>Probar: home → navegación → recarga de ruta interna → llamada real a API.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3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53D68E"/>
          </a:solidFill>
          <a:ln>
            <a:solidFill>
              <a:srgbClr val="53D6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2743200" cy="228600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l"/>
            <a:r>
              <a:rPr sz="1000" b="1">
                <a:solidFill>
                  <a:srgbClr val="53D68E"/>
                </a:solidFill>
                <a:latin typeface="Aptos"/>
              </a:rPr>
              <a:t>CAMBIOS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320040"/>
            <a:ext cx="502920" cy="228600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r"/>
            <a:r>
              <a:rPr sz="1000" b="1">
                <a:solidFill>
                  <a:srgbClr val="B1BBCC"/>
                </a:solidFill>
                <a:latin typeface="Aptos"/>
              </a:rPr>
              <a:t>30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58952"/>
            <a:ext cx="10698480" cy="502920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Aptos"/>
              </a:rPr>
              <a:t>Cambios que haría en el repositorio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1353312"/>
            <a:ext cx="10607040" cy="365760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l"/>
            <a:r>
              <a:rPr sz="1300" b="0">
                <a:solidFill>
                  <a:srgbClr val="B1BBCC"/>
                </a:solidFill>
                <a:latin typeface="Aptos"/>
              </a:rPr>
              <a:t>Prioridad antes del primer despliegue.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510528"/>
            <a:ext cx="3657600" cy="164592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l"/>
            <a:r>
              <a:rPr sz="800" b="1">
                <a:solidFill>
                  <a:srgbClr val="B1BBCC"/>
                </a:solidFill>
                <a:latin typeface="Aptos"/>
              </a:rPr>
              <a:t>CINE APP · HOSTINGER COMPARTIDO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828800"/>
            <a:ext cx="5120640" cy="777240"/>
          </a:xfrm>
          <a:prstGeom prst="roundRect">
            <a:avLst/>
          </a:prstGeom>
          <a:solidFill>
            <a:srgbClr val="172238"/>
          </a:solidFill>
          <a:ln>
            <a:solidFill>
              <a:srgbClr val="2A3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40080" y="1828800"/>
            <a:ext cx="64008" cy="777240"/>
          </a:xfrm>
          <a:prstGeom prst="roundRect">
            <a:avLst/>
          </a:prstGeom>
          <a:solidFill>
            <a:srgbClr val="FF6978"/>
          </a:solidFill>
          <a:ln>
            <a:solidFill>
              <a:srgbClr val="FF69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011680"/>
            <a:ext cx="4709159" cy="292608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ptos"/>
              </a:rPr>
              <a:t>P0 · Producción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468880"/>
            <a:ext cx="4709159" cy="0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l"/>
            <a:r>
              <a:rPr sz="1250" b="0">
                <a:solidFill>
                  <a:srgbClr val="B1BBCC"/>
                </a:solidFill>
                <a:latin typeface="Aptos"/>
              </a:rPr>
              <a:t>APP_ENV, APP_SECRET y DATABASE_URL seguros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1828800"/>
            <a:ext cx="5120640" cy="777240"/>
          </a:xfrm>
          <a:prstGeom prst="roundRect">
            <a:avLst/>
          </a:prstGeom>
          <a:solidFill>
            <a:srgbClr val="172238"/>
          </a:solidFill>
          <a:ln>
            <a:solidFill>
              <a:srgbClr val="2A3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126480" y="1828800"/>
            <a:ext cx="64008" cy="777240"/>
          </a:xfrm>
          <a:prstGeom prst="roundRect">
            <a:avLst/>
          </a:prstGeom>
          <a:solidFill>
            <a:srgbClr val="FF6978"/>
          </a:solidFill>
          <a:ln>
            <a:solidFill>
              <a:srgbClr val="FF69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5080" y="2011680"/>
            <a:ext cx="4709159" cy="292608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ptos"/>
              </a:rPr>
              <a:t>P0 · API URL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2468880"/>
            <a:ext cx="4709159" cy="0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l"/>
            <a:r>
              <a:rPr sz="1250" b="0">
                <a:solidFill>
                  <a:srgbClr val="B1BBCC"/>
                </a:solidFill>
                <a:latin typeface="Aptos"/>
              </a:rPr>
              <a:t>frontend/.env.production con dominio real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2816352"/>
            <a:ext cx="5120640" cy="777240"/>
          </a:xfrm>
          <a:prstGeom prst="roundRect">
            <a:avLst/>
          </a:prstGeom>
          <a:solidFill>
            <a:srgbClr val="172238"/>
          </a:solidFill>
          <a:ln>
            <a:solidFill>
              <a:srgbClr val="2A3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40080" y="2816352"/>
            <a:ext cx="64008" cy="777240"/>
          </a:xfrm>
          <a:prstGeom prst="roundRect">
            <a:avLst/>
          </a:prstGeom>
          <a:solidFill>
            <a:srgbClr val="FF6978"/>
          </a:solidFill>
          <a:ln>
            <a:solidFill>
              <a:srgbClr val="FF69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2999232"/>
            <a:ext cx="4709159" cy="292608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ptos"/>
              </a:rPr>
              <a:t>P0 · Apache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3456432"/>
            <a:ext cx="4709159" cy="0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l"/>
            <a:r>
              <a:rPr sz="1250" b="0">
                <a:solidFill>
                  <a:srgbClr val="B1BBCC"/>
                </a:solidFill>
                <a:latin typeface="Aptos"/>
              </a:rPr>
              <a:t>.htaccess para Symfony y React Router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26480" y="2816352"/>
            <a:ext cx="5120640" cy="777240"/>
          </a:xfrm>
          <a:prstGeom prst="roundRect">
            <a:avLst/>
          </a:prstGeom>
          <a:solidFill>
            <a:srgbClr val="172238"/>
          </a:solidFill>
          <a:ln>
            <a:solidFill>
              <a:srgbClr val="2A3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126480" y="2816352"/>
            <a:ext cx="64008" cy="777240"/>
          </a:xfrm>
          <a:prstGeom prst="roundRect">
            <a:avLst/>
          </a:prstGeom>
          <a:solidFill>
            <a:srgbClr val="FF9E58"/>
          </a:solidFill>
          <a:ln>
            <a:solidFill>
              <a:srgbClr val="FF9E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55080" y="2999232"/>
            <a:ext cx="4709159" cy="292608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ptos"/>
              </a:rPr>
              <a:t>P1 · CORS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5080" y="3456432"/>
            <a:ext cx="4709159" cy="0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l"/>
            <a:r>
              <a:rPr sz="1250" b="0">
                <a:solidFill>
                  <a:srgbClr val="B1BBCC"/>
                </a:solidFill>
                <a:latin typeface="Aptos"/>
              </a:rPr>
              <a:t>Restringido al frontend real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3803904"/>
            <a:ext cx="5120640" cy="777240"/>
          </a:xfrm>
          <a:prstGeom prst="roundRect">
            <a:avLst/>
          </a:prstGeom>
          <a:solidFill>
            <a:srgbClr val="172238"/>
          </a:solidFill>
          <a:ln>
            <a:solidFill>
              <a:srgbClr val="2A3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40080" y="3803904"/>
            <a:ext cx="64008" cy="777240"/>
          </a:xfrm>
          <a:prstGeom prst="roundRect">
            <a:avLst/>
          </a:prstGeom>
          <a:solidFill>
            <a:srgbClr val="FF9E58"/>
          </a:solidFill>
          <a:ln>
            <a:solidFill>
              <a:srgbClr val="FF9E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8680" y="3986784"/>
            <a:ext cx="4709159" cy="292608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ptos"/>
              </a:rPr>
              <a:t>P1 · Base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80" y="4443984"/>
            <a:ext cx="4709159" cy="0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l"/>
            <a:r>
              <a:rPr sz="1250" b="0">
                <a:solidFill>
                  <a:srgbClr val="B1BBCC"/>
                </a:solidFill>
                <a:latin typeface="Aptos"/>
              </a:rPr>
              <a:t>serverVersion de Hostinger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26480" y="3803904"/>
            <a:ext cx="5120640" cy="777240"/>
          </a:xfrm>
          <a:prstGeom prst="roundRect">
            <a:avLst/>
          </a:prstGeom>
          <a:solidFill>
            <a:srgbClr val="172238"/>
          </a:solidFill>
          <a:ln>
            <a:solidFill>
              <a:srgbClr val="2A3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126480" y="3803904"/>
            <a:ext cx="64008" cy="777240"/>
          </a:xfrm>
          <a:prstGeom prst="roundRect">
            <a:avLst/>
          </a:prstGeom>
          <a:solidFill>
            <a:srgbClr val="FF9E58"/>
          </a:solidFill>
          <a:ln>
            <a:solidFill>
              <a:srgbClr val="FF9E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55080" y="3986784"/>
            <a:ext cx="4709159" cy="292608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ptos"/>
              </a:rPr>
              <a:t>P1 · Deploy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55080" y="4443984"/>
            <a:ext cx="4709159" cy="0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l"/>
            <a:r>
              <a:rPr sz="1250" b="0">
                <a:solidFill>
                  <a:srgbClr val="B1BBCC"/>
                </a:solidFill>
                <a:latin typeface="Aptos"/>
              </a:rPr>
              <a:t>Checklist/script repetible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0080" y="4791456"/>
            <a:ext cx="5120640" cy="777240"/>
          </a:xfrm>
          <a:prstGeom prst="roundRect">
            <a:avLst/>
          </a:prstGeom>
          <a:solidFill>
            <a:srgbClr val="172238"/>
          </a:solidFill>
          <a:ln>
            <a:solidFill>
              <a:srgbClr val="2A3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640080" y="4791456"/>
            <a:ext cx="64008" cy="777240"/>
          </a:xfrm>
          <a:prstGeom prst="roundRect">
            <a:avLst/>
          </a:prstGeom>
          <a:solidFill>
            <a:srgbClr val="53D68E"/>
          </a:solidFill>
          <a:ln>
            <a:solidFill>
              <a:srgbClr val="53D6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68680" y="4974336"/>
            <a:ext cx="4709159" cy="292608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ptos"/>
              </a:rPr>
              <a:t>P2 · Logs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8680" y="5431536"/>
            <a:ext cx="4709159" cy="0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l"/>
            <a:r>
              <a:rPr sz="1250" b="0">
                <a:solidFill>
                  <a:srgbClr val="B1BBCC"/>
                </a:solidFill>
                <a:latin typeface="Aptos"/>
              </a:rPr>
              <a:t>Errores sin debug público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126480" y="4791456"/>
            <a:ext cx="5120640" cy="777240"/>
          </a:xfrm>
          <a:prstGeom prst="roundRect">
            <a:avLst/>
          </a:prstGeom>
          <a:solidFill>
            <a:srgbClr val="172238"/>
          </a:solidFill>
          <a:ln>
            <a:solidFill>
              <a:srgbClr val="2A3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6126480" y="4791456"/>
            <a:ext cx="64008" cy="777240"/>
          </a:xfrm>
          <a:prstGeom prst="roundRect">
            <a:avLst/>
          </a:prstGeom>
          <a:solidFill>
            <a:srgbClr val="53D68E"/>
          </a:solidFill>
          <a:ln>
            <a:solidFill>
              <a:srgbClr val="53D6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355080" y="4974336"/>
            <a:ext cx="4709159" cy="292608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ptos"/>
              </a:rPr>
              <a:t>P2 · Higiene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55080" y="5431536"/>
            <a:ext cx="4709159" cy="0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l"/>
            <a:r>
              <a:rPr sz="1250" b="0">
                <a:solidFill>
                  <a:srgbClr val="B1BBCC"/>
                </a:solidFill>
                <a:latin typeface="Aptos"/>
              </a:rPr>
              <a:t>Excluir cachés, logs y secretos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3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53D68E"/>
          </a:solidFill>
          <a:ln>
            <a:solidFill>
              <a:srgbClr val="53D6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2743200" cy="228600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l"/>
            <a:r>
              <a:rPr sz="1000" b="1">
                <a:solidFill>
                  <a:srgbClr val="53D68E"/>
                </a:solidFill>
                <a:latin typeface="Aptos"/>
              </a:rPr>
              <a:t>VALIDACIÓN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320040"/>
            <a:ext cx="502920" cy="228600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r"/>
            <a:r>
              <a:rPr sz="1000" b="1">
                <a:solidFill>
                  <a:srgbClr val="B1BBCC"/>
                </a:solidFill>
                <a:latin typeface="Aptos"/>
              </a:rPr>
              <a:t>31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58952"/>
            <a:ext cx="10698480" cy="502920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Aptos"/>
              </a:rPr>
              <a:t>Checklist antes de abrir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1353312"/>
            <a:ext cx="10607040" cy="365760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l"/>
            <a:r>
              <a:rPr sz="1300" b="0">
                <a:solidFill>
                  <a:srgbClr val="B1BBCC"/>
                </a:solidFill>
                <a:latin typeface="Aptos"/>
              </a:rPr>
              <a:t>La publicación termina cuando funciona el flujo completo.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510528"/>
            <a:ext cx="3657600" cy="164592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l"/>
            <a:r>
              <a:rPr sz="800" b="1">
                <a:solidFill>
                  <a:srgbClr val="B1BBCC"/>
                </a:solidFill>
                <a:latin typeface="Aptos"/>
              </a:rPr>
              <a:t>CINE APP · HOSTINGER COMPARTIDO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874519"/>
            <a:ext cx="347472" cy="347472"/>
          </a:xfrm>
          <a:prstGeom prst="roundRect">
            <a:avLst/>
          </a:prstGeom>
          <a:solidFill>
            <a:srgbClr val="172238"/>
          </a:solidFill>
          <a:ln>
            <a:solidFill>
              <a:srgbClr val="53D6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5528" y="1892807"/>
            <a:ext cx="310896" cy="228600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ctr"/>
            <a:r>
              <a:rPr sz="1300" b="1">
                <a:solidFill>
                  <a:srgbClr val="53D68E"/>
                </a:solidFill>
                <a:latin typeface="Aptos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07592" y="1856231"/>
            <a:ext cx="4526280" cy="365760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ptos"/>
              </a:rPr>
              <a:t>PHP 8.2+ y extensiones OK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874519"/>
            <a:ext cx="347472" cy="347472"/>
          </a:xfrm>
          <a:prstGeom prst="roundRect">
            <a:avLst/>
          </a:prstGeom>
          <a:solidFill>
            <a:srgbClr val="172238"/>
          </a:solidFill>
          <a:ln>
            <a:solidFill>
              <a:srgbClr val="53D6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81927" y="1892807"/>
            <a:ext cx="310896" cy="228600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ctr"/>
            <a:r>
              <a:rPr sz="1300" b="1">
                <a:solidFill>
                  <a:srgbClr val="53D68E"/>
                </a:solidFill>
                <a:latin typeface="Aptos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93992" y="1856231"/>
            <a:ext cx="4526280" cy="365760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Aptos"/>
              </a:rPr>
              <a:t>APP_ENV=prod / debug apagado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2624327"/>
            <a:ext cx="347472" cy="347472"/>
          </a:xfrm>
          <a:prstGeom prst="roundRect">
            <a:avLst/>
          </a:prstGeom>
          <a:solidFill>
            <a:srgbClr val="172238"/>
          </a:solidFill>
          <a:ln>
            <a:solidFill>
              <a:srgbClr val="53D6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5528" y="2642615"/>
            <a:ext cx="310896" cy="228600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ctr"/>
            <a:r>
              <a:rPr sz="1300" b="1">
                <a:solidFill>
                  <a:srgbClr val="53D68E"/>
                </a:solidFill>
                <a:latin typeface="Aptos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07592" y="2606039"/>
            <a:ext cx="4526280" cy="365760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Aptos"/>
              </a:rPr>
              <a:t>Migraciones aplicadas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40" y="2624327"/>
            <a:ext cx="347472" cy="347472"/>
          </a:xfrm>
          <a:prstGeom prst="roundRect">
            <a:avLst/>
          </a:prstGeom>
          <a:solidFill>
            <a:srgbClr val="172238"/>
          </a:solidFill>
          <a:ln>
            <a:solidFill>
              <a:srgbClr val="53D6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81927" y="2642615"/>
            <a:ext cx="310896" cy="228600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ctr"/>
            <a:r>
              <a:rPr sz="1300" b="1">
                <a:solidFill>
                  <a:srgbClr val="53D68E"/>
                </a:solidFill>
                <a:latin typeface="Aptos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93992" y="2606039"/>
            <a:ext cx="4526280" cy="365760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Aptos"/>
              </a:rPr>
              <a:t>HTTPS definitivo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" y="3374135"/>
            <a:ext cx="347472" cy="347472"/>
          </a:xfrm>
          <a:prstGeom prst="roundRect">
            <a:avLst/>
          </a:prstGeom>
          <a:solidFill>
            <a:srgbClr val="172238"/>
          </a:solidFill>
          <a:ln>
            <a:solidFill>
              <a:srgbClr val="53D6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95528" y="3392423"/>
            <a:ext cx="310896" cy="228600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ctr"/>
            <a:r>
              <a:rPr sz="1300" b="1">
                <a:solidFill>
                  <a:srgbClr val="53D68E"/>
                </a:solidFill>
                <a:latin typeface="Aptos"/>
              </a:rP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07592" y="3355847"/>
            <a:ext cx="4526280" cy="365760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Aptos"/>
              </a:rPr>
              <a:t>CORS restringido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63640" y="3374135"/>
            <a:ext cx="347472" cy="347472"/>
          </a:xfrm>
          <a:prstGeom prst="roundRect">
            <a:avLst/>
          </a:prstGeom>
          <a:solidFill>
            <a:srgbClr val="172238"/>
          </a:solidFill>
          <a:ln>
            <a:solidFill>
              <a:srgbClr val="53D6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81927" y="3392423"/>
            <a:ext cx="310896" cy="228600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ctr"/>
            <a:r>
              <a:rPr sz="1300" b="1">
                <a:solidFill>
                  <a:srgbClr val="53D68E"/>
                </a:solidFill>
                <a:latin typeface="Aptos"/>
              </a:rPr>
              <a:t>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93992" y="3355847"/>
            <a:ext cx="4526280" cy="365760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ptos"/>
              </a:rPr>
              <a:t>Rutas React recargan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77240" y="4123944"/>
            <a:ext cx="347472" cy="347472"/>
          </a:xfrm>
          <a:prstGeom prst="roundRect">
            <a:avLst/>
          </a:prstGeom>
          <a:solidFill>
            <a:srgbClr val="172238"/>
          </a:solidFill>
          <a:ln>
            <a:solidFill>
              <a:srgbClr val="53D6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5528" y="4142231"/>
            <a:ext cx="310896" cy="228600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ctr"/>
            <a:r>
              <a:rPr sz="1300" b="1">
                <a:solidFill>
                  <a:srgbClr val="53D68E"/>
                </a:solidFill>
                <a:latin typeface="Aptos"/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07592" y="4105656"/>
            <a:ext cx="4526280" cy="365760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Aptos"/>
              </a:rPr>
              <a:t>API responde JSON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63640" y="4123944"/>
            <a:ext cx="347472" cy="347472"/>
          </a:xfrm>
          <a:prstGeom prst="roundRect">
            <a:avLst/>
          </a:prstGeom>
          <a:solidFill>
            <a:srgbClr val="172238"/>
          </a:solidFill>
          <a:ln>
            <a:solidFill>
              <a:srgbClr val="53D6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281927" y="4142231"/>
            <a:ext cx="310896" cy="228600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ctr"/>
            <a:r>
              <a:rPr sz="1300" b="1">
                <a:solidFill>
                  <a:srgbClr val="53D68E"/>
                </a:solidFill>
                <a:latin typeface="Aptos"/>
              </a:rPr>
              <a:t>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93992" y="4105656"/>
            <a:ext cx="4526280" cy="365760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Aptos"/>
              </a:rPr>
              <a:t>Consulta real a MySQL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77240" y="4873752"/>
            <a:ext cx="347472" cy="347472"/>
          </a:xfrm>
          <a:prstGeom prst="roundRect">
            <a:avLst/>
          </a:prstGeom>
          <a:solidFill>
            <a:srgbClr val="172238"/>
          </a:solidFill>
          <a:ln>
            <a:solidFill>
              <a:srgbClr val="53D6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95528" y="4892040"/>
            <a:ext cx="310896" cy="228600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ctr"/>
            <a:r>
              <a:rPr sz="1300" b="1">
                <a:solidFill>
                  <a:srgbClr val="53D68E"/>
                </a:solidFill>
                <a:latin typeface="Aptos"/>
              </a:rPr>
              <a:t>✓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307592" y="4855464"/>
            <a:ext cx="4526280" cy="365760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Aptos"/>
              </a:rPr>
              <a:t>Compra/reserva probada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263640" y="4873752"/>
            <a:ext cx="347472" cy="347472"/>
          </a:xfrm>
          <a:prstGeom prst="roundRect">
            <a:avLst/>
          </a:prstGeom>
          <a:solidFill>
            <a:srgbClr val="172238"/>
          </a:solidFill>
          <a:ln>
            <a:solidFill>
              <a:srgbClr val="53D6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81927" y="4892040"/>
            <a:ext cx="310896" cy="228600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ctr"/>
            <a:r>
              <a:rPr sz="1300" b="1">
                <a:solidFill>
                  <a:srgbClr val="53D68E"/>
                </a:solidFill>
                <a:latin typeface="Aptos"/>
              </a:rPr>
              <a:t>✓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793992" y="4855464"/>
            <a:ext cx="4526280" cy="365760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Aptos"/>
              </a:rPr>
              <a:t>Backup y rollback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77240" y="5806440"/>
            <a:ext cx="10607040" cy="502920"/>
          </a:xfrm>
          <a:prstGeom prst="roundRect">
            <a:avLst/>
          </a:prstGeom>
          <a:solidFill>
            <a:srgbClr val="172238"/>
          </a:solidFill>
          <a:ln>
            <a:solidFill>
              <a:srgbClr val="1722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60120" y="5961888"/>
            <a:ext cx="10195560" cy="182880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GO / NO-GO: sin secretos públicos · sin debug · flujo principal completo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3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53D68E"/>
          </a:solidFill>
          <a:ln>
            <a:solidFill>
              <a:srgbClr val="53D6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2743200" cy="228600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l"/>
            <a:r>
              <a:rPr sz="1000" b="1">
                <a:solidFill>
                  <a:srgbClr val="53D68E"/>
                </a:solidFill>
                <a:latin typeface="Aptos"/>
              </a:rPr>
              <a:t>OPERACIÓN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320040"/>
            <a:ext cx="502920" cy="228600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r"/>
            <a:r>
              <a:rPr sz="1000" b="1">
                <a:solidFill>
                  <a:srgbClr val="B1BBCC"/>
                </a:solidFill>
                <a:latin typeface="Aptos"/>
              </a:rPr>
              <a:t>32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58952"/>
            <a:ext cx="10698480" cy="502920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Aptos"/>
              </a:rPr>
              <a:t>Después del lanzamiento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1353312"/>
            <a:ext cx="10607040" cy="365760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l"/>
            <a:r>
              <a:rPr sz="1300" b="0">
                <a:solidFill>
                  <a:srgbClr val="B1BBCC"/>
                </a:solidFill>
                <a:latin typeface="Aptos"/>
              </a:rPr>
              <a:t>Producción necesita mantenimiento, no sólo una primera subida.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510528"/>
            <a:ext cx="3657600" cy="164592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l"/>
            <a:r>
              <a:rPr sz="800" b="1">
                <a:solidFill>
                  <a:srgbClr val="B1BBCC"/>
                </a:solidFill>
                <a:latin typeface="Aptos"/>
              </a:rPr>
              <a:t>CINE APP · HOSTINGER COMPARTIDO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011680"/>
            <a:ext cx="3429000" cy="2468880"/>
          </a:xfrm>
          <a:prstGeom prst="roundRect">
            <a:avLst/>
          </a:prstGeom>
          <a:solidFill>
            <a:srgbClr val="172238"/>
          </a:solidFill>
          <a:ln>
            <a:solidFill>
              <a:srgbClr val="2A3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40080" y="2011680"/>
            <a:ext cx="64008" cy="2468880"/>
          </a:xfrm>
          <a:prstGeom prst="roundRect">
            <a:avLst/>
          </a:prstGeom>
          <a:solidFill>
            <a:srgbClr val="36D3DD"/>
          </a:solidFill>
          <a:ln>
            <a:solidFill>
              <a:srgbClr val="36D3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194560"/>
            <a:ext cx="3017520" cy="292608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ptos"/>
              </a:rPr>
              <a:t>CADA DEPLOY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651760"/>
            <a:ext cx="3017520" cy="1691640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l"/>
            <a:r>
              <a:rPr sz="1250" b="0">
                <a:solidFill>
                  <a:srgbClr val="B1BBCC"/>
                </a:solidFill>
                <a:latin typeface="Aptos"/>
              </a:rPr>
              <a:t>Backup → código → Composer → migraciones → caché → smoke test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2011680"/>
            <a:ext cx="3429000" cy="2468880"/>
          </a:xfrm>
          <a:prstGeom prst="roundRect">
            <a:avLst/>
          </a:prstGeom>
          <a:solidFill>
            <a:srgbClr val="172238"/>
          </a:solidFill>
          <a:ln>
            <a:solidFill>
              <a:srgbClr val="2A3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389120" y="2011680"/>
            <a:ext cx="64008" cy="2468880"/>
          </a:xfrm>
          <a:prstGeom prst="roundRect">
            <a:avLst/>
          </a:prstGeom>
          <a:solidFill>
            <a:srgbClr val="FF9E58"/>
          </a:solidFill>
          <a:ln>
            <a:solidFill>
              <a:srgbClr val="FF9E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17720" y="2194560"/>
            <a:ext cx="3017520" cy="292608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ptos"/>
              </a:rPr>
              <a:t>CADA SEMANA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7720" y="2651760"/>
            <a:ext cx="3017520" cy="1691640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l"/>
            <a:r>
              <a:rPr sz="1250" b="0">
                <a:solidFill>
                  <a:srgbClr val="B1BBCC"/>
                </a:solidFill>
                <a:latin typeface="Aptos"/>
              </a:rPr>
              <a:t>Revisar logs, espacio, errores 5xx, SSL y backups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8160" y="2011680"/>
            <a:ext cx="3429000" cy="2468880"/>
          </a:xfrm>
          <a:prstGeom prst="roundRect">
            <a:avLst/>
          </a:prstGeom>
          <a:solidFill>
            <a:srgbClr val="172238"/>
          </a:solidFill>
          <a:ln>
            <a:solidFill>
              <a:srgbClr val="2A3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138160" y="2011680"/>
            <a:ext cx="64008" cy="2468880"/>
          </a:xfrm>
          <a:prstGeom prst="roundRect">
            <a:avLst/>
          </a:prstGeom>
          <a:solidFill>
            <a:srgbClr val="FF6978"/>
          </a:solidFill>
          <a:ln>
            <a:solidFill>
              <a:srgbClr val="FF69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66760" y="2194560"/>
            <a:ext cx="3017520" cy="292608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ptos"/>
              </a:rPr>
              <a:t>SI FALLA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66760" y="2651760"/>
            <a:ext cx="3017520" cy="1691640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l"/>
            <a:r>
              <a:rPr sz="1250" b="0">
                <a:solidFill>
                  <a:srgbClr val="B1BBCC"/>
                </a:solidFill>
                <a:latin typeface="Aptos"/>
              </a:rPr>
              <a:t>Restaurar versión anterior; no editar producción sin registrar el cambio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5349240"/>
            <a:ext cx="10515600" cy="594360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Aptos"/>
              </a:rPr>
              <a:t>Ensayar primero en staging con subdominio y base separados; luego repetir el procedimiento en producción.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3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53D68E"/>
          </a:solidFill>
          <a:ln>
            <a:solidFill>
              <a:srgbClr val="53D6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2743200" cy="228600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l"/>
            <a:r>
              <a:rPr sz="1000" b="1">
                <a:solidFill>
                  <a:srgbClr val="53D68E"/>
                </a:solidFill>
                <a:latin typeface="Aptos"/>
              </a:rPr>
              <a:t>INTEGRACIÓN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320040"/>
            <a:ext cx="502920" cy="228600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r"/>
            <a:r>
              <a:rPr sz="1000" b="1">
                <a:solidFill>
                  <a:srgbClr val="B1BBCC"/>
                </a:solidFill>
                <a:latin typeface="Aptos"/>
              </a:rPr>
              <a:t>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58952"/>
            <a:ext cx="10698480" cy="502920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Aptos"/>
              </a:rPr>
              <a:t>Cómo se comunican frontend y backend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1353312"/>
            <a:ext cx="10607040" cy="365760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l"/>
            <a:r>
              <a:rPr sz="1300" b="0">
                <a:solidFill>
                  <a:srgbClr val="B1BBCC"/>
                </a:solidFill>
                <a:latin typeface="Aptos"/>
              </a:rPr>
              <a:t>React no accede directamente a MariaDB: siempre consume la API HTTP de Symfony.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510528"/>
            <a:ext cx="3657600" cy="164592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l"/>
            <a:r>
              <a:rPr sz="800" b="1">
                <a:solidFill>
                  <a:srgbClr val="B1BBCC"/>
                </a:solidFill>
                <a:latin typeface="Aptos"/>
              </a:rPr>
              <a:t>CINE APP · HOSTINGER COMPARTIDO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2103120"/>
            <a:ext cx="2148840" cy="2514600"/>
          </a:xfrm>
          <a:prstGeom prst="roundRect">
            <a:avLst/>
          </a:prstGeom>
          <a:solidFill>
            <a:srgbClr val="172238"/>
          </a:solidFill>
          <a:ln>
            <a:solidFill>
              <a:srgbClr val="2A3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11480" y="2103120"/>
            <a:ext cx="64008" cy="2514600"/>
          </a:xfrm>
          <a:prstGeom prst="roundRect">
            <a:avLst/>
          </a:prstGeom>
          <a:solidFill>
            <a:srgbClr val="FF9E58"/>
          </a:solidFill>
          <a:ln>
            <a:solidFill>
              <a:srgbClr val="FF9E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286000"/>
            <a:ext cx="1737360" cy="292608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ptos"/>
              </a:rPr>
              <a:t>1 · REACT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743200"/>
            <a:ext cx="1737360" cy="1737360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l"/>
            <a:r>
              <a:rPr sz="1250" b="0">
                <a:solidFill>
                  <a:srgbClr val="B1BBCC"/>
                </a:solidFill>
                <a:latin typeface="Aptos"/>
              </a:rPr>
              <a:t>useMovies / SeatsPage</a:t>
            </a:r>
            <a:br/>
            <a:r>
              <a:rPr sz="1250" b="0">
                <a:solidFill>
                  <a:srgbClr val="B1BBCC"/>
                </a:solidFill>
                <a:latin typeface="Aptos"/>
              </a:rPr>
              <a:t>solicitan recursos</a:t>
            </a:r>
            <a:br/>
            <a:br/>
            <a:r>
              <a:rPr sz="1250" b="0">
                <a:solidFill>
                  <a:srgbClr val="B1BBCC"/>
                </a:solidFill>
                <a:latin typeface="Aptos"/>
              </a:rPr>
              <a:t>Navegador :5173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508760" y="2267712"/>
            <a:ext cx="777240" cy="274320"/>
          </a:xfrm>
          <a:prstGeom prst="roundRect">
            <a:avLst/>
          </a:prstGeom>
          <a:solidFill>
            <a:srgbClr val="FF9E58"/>
          </a:solidFill>
          <a:ln>
            <a:solidFill>
              <a:srgbClr val="FF9E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54480" y="2313432"/>
            <a:ext cx="685800" cy="128016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ctr"/>
            <a:r>
              <a:rPr sz="800" b="1">
                <a:solidFill>
                  <a:srgbClr val="0C1323"/>
                </a:solidFill>
                <a:latin typeface="Aptos"/>
              </a:rPr>
              <a:t>FRONTEND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51760" y="2880360"/>
            <a:ext cx="960120" cy="640080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ctr"/>
            <a:r>
              <a:rPr sz="1400" b="1">
                <a:solidFill>
                  <a:srgbClr val="53D68E"/>
                </a:solidFill>
                <a:latin typeface="Aptos"/>
              </a:rPr>
              <a:t>HTTP GET</a:t>
            </a:r>
            <a:br/>
            <a:r>
              <a:rPr sz="1400" b="1">
                <a:solidFill>
                  <a:srgbClr val="53D68E"/>
                </a:solidFill>
                <a:latin typeface="Aptos"/>
              </a:rPr>
              <a:t>JSON 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0" y="2103120"/>
            <a:ext cx="2148840" cy="2514600"/>
          </a:xfrm>
          <a:prstGeom prst="roundRect">
            <a:avLst/>
          </a:prstGeom>
          <a:solidFill>
            <a:srgbClr val="172238"/>
          </a:solidFill>
          <a:ln>
            <a:solidFill>
              <a:srgbClr val="2A3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657600" y="2103120"/>
            <a:ext cx="64008" cy="2514600"/>
          </a:xfrm>
          <a:prstGeom prst="roundRect">
            <a:avLst/>
          </a:prstGeom>
          <a:solidFill>
            <a:srgbClr val="53D68E"/>
          </a:solidFill>
          <a:ln>
            <a:solidFill>
              <a:srgbClr val="53D6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886200" y="2286000"/>
            <a:ext cx="1737360" cy="292608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ptos"/>
              </a:rPr>
              <a:t>2 · API.JS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86200" y="2743200"/>
            <a:ext cx="1737360" cy="1737360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l"/>
            <a:r>
              <a:rPr sz="1250" b="0">
                <a:solidFill>
                  <a:srgbClr val="B1BBCC"/>
                </a:solidFill>
                <a:latin typeface="Aptos"/>
              </a:rPr>
              <a:t>Construye la URL:</a:t>
            </a:r>
            <a:br/>
            <a:r>
              <a:rPr sz="1250" b="0">
                <a:solidFill>
                  <a:srgbClr val="B1BBCC"/>
                </a:solidFill>
                <a:latin typeface="Aptos"/>
              </a:rPr>
              <a:t>API_URL + path</a:t>
            </a:r>
            <a:br/>
            <a:br/>
            <a:r>
              <a:rPr sz="1250" b="0">
                <a:solidFill>
                  <a:srgbClr val="B1BBCC"/>
                </a:solidFill>
                <a:latin typeface="Aptos"/>
              </a:rPr>
              <a:t>fetch(...) 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16168" y="2880360"/>
            <a:ext cx="777240" cy="640080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ctr"/>
            <a:r>
              <a:rPr sz="1400" b="1">
                <a:solidFill>
                  <a:srgbClr val="36D3DD"/>
                </a:solidFill>
                <a:latin typeface="Aptos"/>
              </a:rPr>
              <a:t>/api/...</a:t>
            </a:r>
            <a:br/>
            <a:r>
              <a:rPr sz="1400" b="1">
                <a:solidFill>
                  <a:srgbClr val="36D3DD"/>
                </a:solidFill>
                <a:latin typeface="Aptos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766560" y="2103120"/>
            <a:ext cx="2331720" cy="2514600"/>
          </a:xfrm>
          <a:prstGeom prst="roundRect">
            <a:avLst/>
          </a:prstGeom>
          <a:solidFill>
            <a:srgbClr val="172238"/>
          </a:solidFill>
          <a:ln>
            <a:solidFill>
              <a:srgbClr val="2A3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766560" y="2103120"/>
            <a:ext cx="64008" cy="2514600"/>
          </a:xfrm>
          <a:prstGeom prst="roundRect">
            <a:avLst/>
          </a:prstGeom>
          <a:solidFill>
            <a:srgbClr val="36D3DD"/>
          </a:solidFill>
          <a:ln>
            <a:solidFill>
              <a:srgbClr val="36D3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995160" y="2286000"/>
            <a:ext cx="1920239" cy="292608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ptos"/>
              </a:rPr>
              <a:t>3 · SYMFONY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2743200"/>
            <a:ext cx="1920239" cy="1737360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l"/>
            <a:r>
              <a:rPr sz="1250" b="0">
                <a:solidFill>
                  <a:srgbClr val="B1BBCC"/>
                </a:solidFill>
                <a:latin typeface="Aptos"/>
              </a:rPr>
              <a:t>Apache → index.php</a:t>
            </a:r>
            <a:br/>
            <a:r>
              <a:rPr sz="1250" b="0">
                <a:solidFill>
                  <a:srgbClr val="B1BBCC"/>
                </a:solidFill>
                <a:latin typeface="Aptos"/>
              </a:rPr>
              <a:t>Controller → Repository</a:t>
            </a:r>
            <a:br/>
            <a:r>
              <a:rPr sz="1250" b="0">
                <a:solidFill>
                  <a:srgbClr val="B1BBCC"/>
                </a:solidFill>
                <a:latin typeface="Aptos"/>
              </a:rPr>
              <a:t>Doctrine ORM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46719" y="2267712"/>
            <a:ext cx="777240" cy="274320"/>
          </a:xfrm>
          <a:prstGeom prst="roundRect">
            <a:avLst/>
          </a:prstGeom>
          <a:solidFill>
            <a:srgbClr val="36D3DD"/>
          </a:solidFill>
          <a:ln>
            <a:solidFill>
              <a:srgbClr val="36D3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92440" y="2313432"/>
            <a:ext cx="685800" cy="128016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ctr"/>
            <a:r>
              <a:rPr sz="800" b="1">
                <a:solidFill>
                  <a:srgbClr val="0C1323"/>
                </a:solidFill>
                <a:latin typeface="Aptos"/>
              </a:rPr>
              <a:t>BACKEND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89720" y="2880360"/>
            <a:ext cx="685800" cy="640080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ctr"/>
            <a:r>
              <a:rPr sz="1400" b="1">
                <a:solidFill>
                  <a:srgbClr val="53D68E"/>
                </a:solidFill>
                <a:latin typeface="Aptos"/>
              </a:rPr>
              <a:t>SQL</a:t>
            </a:r>
            <a:br/>
            <a:r>
              <a:rPr sz="1400" b="1">
                <a:solidFill>
                  <a:srgbClr val="53D68E"/>
                </a:solidFill>
                <a:latin typeface="Aptos"/>
              </a:rPr>
              <a:t>↔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966960" y="2103120"/>
            <a:ext cx="1783080" cy="2514600"/>
          </a:xfrm>
          <a:prstGeom prst="roundRect">
            <a:avLst/>
          </a:prstGeom>
          <a:solidFill>
            <a:srgbClr val="172238"/>
          </a:solidFill>
          <a:ln>
            <a:solidFill>
              <a:srgbClr val="2A3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9966960" y="2103120"/>
            <a:ext cx="64008" cy="2514600"/>
          </a:xfrm>
          <a:prstGeom prst="roundRect">
            <a:avLst/>
          </a:prstGeom>
          <a:solidFill>
            <a:srgbClr val="53D68E"/>
          </a:solidFill>
          <a:ln>
            <a:solidFill>
              <a:srgbClr val="53D6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195560" y="2286000"/>
            <a:ext cx="1371600" cy="292608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ptos"/>
              </a:rPr>
              <a:t>4 · MARIADB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195560" y="2743200"/>
            <a:ext cx="1371600" cy="1737360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l"/>
            <a:r>
              <a:rPr sz="1250" b="0">
                <a:solidFill>
                  <a:srgbClr val="B1BBCC"/>
                </a:solidFill>
                <a:latin typeface="Aptos"/>
              </a:rPr>
              <a:t>pelicula</a:t>
            </a:r>
            <a:br/>
            <a:r>
              <a:rPr sz="1250" b="0">
                <a:solidFill>
                  <a:srgbClr val="B1BBCC"/>
                </a:solidFill>
                <a:latin typeface="Aptos"/>
              </a:rPr>
              <a:t>funcion</a:t>
            </a:r>
            <a:br/>
            <a:r>
              <a:rPr sz="1250" b="0">
                <a:solidFill>
                  <a:srgbClr val="B1BBCC"/>
                </a:solidFill>
                <a:latin typeface="Aptos"/>
              </a:rPr>
              <a:t>asiento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0698480" y="2267712"/>
            <a:ext cx="777240" cy="274320"/>
          </a:xfrm>
          <a:prstGeom prst="roundRect">
            <a:avLst/>
          </a:prstGeom>
          <a:solidFill>
            <a:srgbClr val="53D68E"/>
          </a:solidFill>
          <a:ln>
            <a:solidFill>
              <a:srgbClr val="53D6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744200" y="2313432"/>
            <a:ext cx="685800" cy="128016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ctr"/>
            <a:r>
              <a:rPr sz="800" b="1">
                <a:solidFill>
                  <a:srgbClr val="0C1323"/>
                </a:solidFill>
                <a:latin typeface="Aptos"/>
              </a:rPr>
              <a:t>XAMPP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85800" y="5257800"/>
            <a:ext cx="10789920" cy="566928"/>
          </a:xfrm>
          <a:prstGeom prst="roundRect">
            <a:avLst/>
          </a:prstGeom>
          <a:solidFill>
            <a:srgbClr val="172238"/>
          </a:solidFill>
          <a:ln>
            <a:solidFill>
              <a:srgbClr val="1722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4400" y="5440680"/>
            <a:ext cx="10287000" cy="228600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RESPUESTA: MariaDB → Doctrine → JsonResponse → fetch() → estado de React → pantalla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" y="5989320"/>
            <a:ext cx="10607040" cy="292608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ctr"/>
            <a:r>
              <a:rPr sz="1300" b="1">
                <a:solidFill>
                  <a:srgbClr val="36D3DD"/>
                </a:solidFill>
                <a:latin typeface="Aptos"/>
              </a:rPr>
              <a:t>Ejemplo completo: http://localhost/cine-app/public/api/funciones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3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53D68E"/>
          </a:solidFill>
          <a:ln>
            <a:solidFill>
              <a:srgbClr val="53D6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2743200" cy="228600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l"/>
            <a:r>
              <a:rPr sz="1000" b="1">
                <a:solidFill>
                  <a:srgbClr val="53D68E"/>
                </a:solidFill>
                <a:latin typeface="Aptos"/>
              </a:rPr>
              <a:t>ENDPOINTS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320040"/>
            <a:ext cx="502920" cy="228600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r"/>
            <a:r>
              <a:rPr sz="1000" b="1">
                <a:solidFill>
                  <a:srgbClr val="B1BBCC"/>
                </a:solidFill>
                <a:latin typeface="Aptos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58952"/>
            <a:ext cx="10698480" cy="502920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Aptos"/>
              </a:rPr>
              <a:t>Dónde están definidos los endpoints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1353312"/>
            <a:ext cx="10607040" cy="365760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l"/>
            <a:r>
              <a:rPr sz="1300" b="0">
                <a:solidFill>
                  <a:srgbClr val="B1BBCC"/>
                </a:solidFill>
                <a:latin typeface="Aptos"/>
              </a:rPr>
              <a:t>La anotación #[Route(...)] del controlador determina cada URL pública.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510528"/>
            <a:ext cx="3657600" cy="164592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l"/>
            <a:r>
              <a:rPr sz="800" b="1">
                <a:solidFill>
                  <a:srgbClr val="B1BBCC"/>
                </a:solidFill>
                <a:latin typeface="Aptos"/>
              </a:rPr>
              <a:t>CINE APP · HOSTINGER COMPARTIDO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874519"/>
            <a:ext cx="3474720" cy="2057400"/>
          </a:xfrm>
          <a:prstGeom prst="roundRect">
            <a:avLst/>
          </a:prstGeom>
          <a:solidFill>
            <a:srgbClr val="172238"/>
          </a:solidFill>
          <a:ln>
            <a:solidFill>
              <a:srgbClr val="2A3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02920" y="1874519"/>
            <a:ext cx="64008" cy="2057400"/>
          </a:xfrm>
          <a:prstGeom prst="roundRect">
            <a:avLst/>
          </a:prstGeom>
          <a:solidFill>
            <a:srgbClr val="53D68E"/>
          </a:solidFill>
          <a:ln>
            <a:solidFill>
              <a:srgbClr val="53D6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057400"/>
            <a:ext cx="3063239" cy="292608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ptos"/>
              </a:rPr>
              <a:t>GET /api/health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514600"/>
            <a:ext cx="3063239" cy="1280160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l"/>
            <a:r>
              <a:rPr sz="1250" b="0">
                <a:solidFill>
                  <a:srgbClr val="B1BBCC"/>
                </a:solidFill>
                <a:latin typeface="Aptos"/>
              </a:rPr>
              <a:t>Archivo:</a:t>
            </a:r>
            <a:br/>
            <a:r>
              <a:rPr sz="1250" b="0">
                <a:solidFill>
                  <a:srgbClr val="B1BBCC"/>
                </a:solidFill>
                <a:latin typeface="Aptos"/>
              </a:rPr>
              <a:t>src/Controller/HealthController.php</a:t>
            </a:r>
            <a:br/>
            <a:br/>
            <a:r>
              <a:rPr sz="1250" b="0">
                <a:solidFill>
                  <a:srgbClr val="B1BBCC"/>
                </a:solidFill>
                <a:latin typeface="Aptos"/>
              </a:rPr>
              <a:t>Comprueba que la API funciona.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61688" y="1874519"/>
            <a:ext cx="3474720" cy="2057400"/>
          </a:xfrm>
          <a:prstGeom prst="roundRect">
            <a:avLst/>
          </a:prstGeom>
          <a:solidFill>
            <a:srgbClr val="172238"/>
          </a:solidFill>
          <a:ln>
            <a:solidFill>
              <a:srgbClr val="2A3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361688" y="1874519"/>
            <a:ext cx="64008" cy="2057400"/>
          </a:xfrm>
          <a:prstGeom prst="roundRect">
            <a:avLst/>
          </a:prstGeom>
          <a:solidFill>
            <a:srgbClr val="36D3DD"/>
          </a:solidFill>
          <a:ln>
            <a:solidFill>
              <a:srgbClr val="36D3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90288" y="2057400"/>
            <a:ext cx="3063239" cy="292608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ptos"/>
              </a:rPr>
              <a:t>GET /api/funciones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90288" y="2514600"/>
            <a:ext cx="3063239" cy="1280160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l"/>
            <a:r>
              <a:rPr sz="1250" b="0">
                <a:solidFill>
                  <a:srgbClr val="B1BBCC"/>
                </a:solidFill>
                <a:latin typeface="Aptos"/>
              </a:rPr>
              <a:t>Archivo:</a:t>
            </a:r>
            <a:br/>
            <a:r>
              <a:rPr sz="1250" b="0">
                <a:solidFill>
                  <a:srgbClr val="B1BBCC"/>
                </a:solidFill>
                <a:latin typeface="Aptos"/>
              </a:rPr>
              <a:t>src/Controller/FuncionController.php</a:t>
            </a:r>
            <a:br/>
            <a:r>
              <a:rPr sz="1250" b="0">
                <a:solidFill>
                  <a:srgbClr val="B1BBCC"/>
                </a:solidFill>
                <a:latin typeface="Aptos"/>
              </a:rPr>
              <a:t>Método: list()</a:t>
            </a:r>
            <a:br/>
            <a:br/>
            <a:r>
              <a:rPr sz="1250" b="0">
                <a:solidFill>
                  <a:srgbClr val="B1BBCC"/>
                </a:solidFill>
                <a:latin typeface="Aptos"/>
              </a:rPr>
              <a:t>Devuelve películas y funciones.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11312" y="1874519"/>
            <a:ext cx="3474720" cy="2057400"/>
          </a:xfrm>
          <a:prstGeom prst="roundRect">
            <a:avLst/>
          </a:prstGeom>
          <a:solidFill>
            <a:srgbClr val="172238"/>
          </a:solidFill>
          <a:ln>
            <a:solidFill>
              <a:srgbClr val="2A3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211312" y="1874519"/>
            <a:ext cx="64008" cy="2057400"/>
          </a:xfrm>
          <a:prstGeom prst="roundRect">
            <a:avLst/>
          </a:prstGeom>
          <a:solidFill>
            <a:srgbClr val="FF9E58"/>
          </a:solidFill>
          <a:ln>
            <a:solidFill>
              <a:srgbClr val="FF9E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39912" y="2057400"/>
            <a:ext cx="3063239" cy="292608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ptos"/>
              </a:rPr>
              <a:t>GET /api/funciones/{id}/asientos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39912" y="2514600"/>
            <a:ext cx="3063239" cy="1280160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l"/>
            <a:r>
              <a:rPr sz="1250" b="0">
                <a:solidFill>
                  <a:srgbClr val="B1BBCC"/>
                </a:solidFill>
                <a:latin typeface="Aptos"/>
              </a:rPr>
              <a:t>Archivo:</a:t>
            </a:r>
            <a:br/>
            <a:r>
              <a:rPr sz="1250" b="0">
                <a:solidFill>
                  <a:srgbClr val="B1BBCC"/>
                </a:solidFill>
                <a:latin typeface="Aptos"/>
              </a:rPr>
              <a:t>src/Controller/FuncionController.php</a:t>
            </a:r>
            <a:br/>
            <a:r>
              <a:rPr sz="1250" b="0">
                <a:solidFill>
                  <a:srgbClr val="B1BBCC"/>
                </a:solidFill>
                <a:latin typeface="Aptos"/>
              </a:rPr>
              <a:t>Método: seats()</a:t>
            </a:r>
            <a:br/>
            <a:br/>
            <a:r>
              <a:rPr sz="1250" b="0">
                <a:solidFill>
                  <a:srgbClr val="B1BBCC"/>
                </a:solidFill>
                <a:latin typeface="Aptos"/>
              </a:rPr>
              <a:t>Devuelve asientos de una función.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4251960"/>
            <a:ext cx="5349240" cy="1325880"/>
          </a:xfrm>
          <a:prstGeom prst="roundRect">
            <a:avLst/>
          </a:prstGeom>
          <a:solidFill>
            <a:srgbClr val="172238"/>
          </a:solidFill>
          <a:ln>
            <a:solidFill>
              <a:srgbClr val="2A3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02920" y="4251960"/>
            <a:ext cx="64008" cy="1325880"/>
          </a:xfrm>
          <a:prstGeom prst="roundRect">
            <a:avLst/>
          </a:prstGeom>
          <a:solidFill>
            <a:srgbClr val="FF9E58"/>
          </a:solidFill>
          <a:ln>
            <a:solidFill>
              <a:srgbClr val="FF9E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4434840"/>
            <a:ext cx="4937759" cy="292608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ptos"/>
              </a:rPr>
              <a:t>QUIÉN LOS CONSUME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4892040"/>
            <a:ext cx="4937759" cy="548640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l"/>
            <a:r>
              <a:rPr sz="1250" b="0">
                <a:solidFill>
                  <a:srgbClr val="B1BBCC"/>
                </a:solidFill>
                <a:latin typeface="Aptos"/>
              </a:rPr>
              <a:t>hooks/useMovies.js: api('/funciones')</a:t>
            </a:r>
            <a:br/>
            <a:r>
              <a:rPr sz="1250" b="0">
                <a:solidFill>
                  <a:srgbClr val="B1BBCC"/>
                </a:solidFill>
                <a:latin typeface="Aptos"/>
              </a:rPr>
              <a:t>pages/SeatsPage.jsx: api('/funciones/{id}/asientos')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99632" y="4251960"/>
            <a:ext cx="5486400" cy="1325880"/>
          </a:xfrm>
          <a:prstGeom prst="roundRect">
            <a:avLst/>
          </a:prstGeom>
          <a:solidFill>
            <a:srgbClr val="172238"/>
          </a:solidFill>
          <a:ln>
            <a:solidFill>
              <a:srgbClr val="2A3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199632" y="4251960"/>
            <a:ext cx="64008" cy="1325880"/>
          </a:xfrm>
          <a:prstGeom prst="roundRect">
            <a:avLst/>
          </a:prstGeom>
          <a:solidFill>
            <a:srgbClr val="36D3DD"/>
          </a:solidFill>
          <a:ln>
            <a:solidFill>
              <a:srgbClr val="36D3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28232" y="4434840"/>
            <a:ext cx="5074920" cy="292608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ptos"/>
              </a:rPr>
              <a:t>QUIÉN ARMA LA URL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28232" y="4892040"/>
            <a:ext cx="5074920" cy="548640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l"/>
            <a:r>
              <a:rPr sz="1250" b="0">
                <a:solidFill>
                  <a:srgbClr val="B1BBCC"/>
                </a:solidFill>
                <a:latin typeface="Aptos"/>
              </a:rPr>
              <a:t>frontend/src/services/api.js</a:t>
            </a:r>
            <a:br/>
            <a:r>
              <a:rPr sz="1250" b="0">
                <a:solidFill>
                  <a:srgbClr val="B1BBCC"/>
                </a:solidFill>
                <a:latin typeface="Aptos"/>
              </a:rPr>
              <a:t>Base local: http://localhost/cine-app/public/api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5897880"/>
            <a:ext cx="10881360" cy="320040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ctr"/>
            <a:r>
              <a:rPr sz="1400" b="1">
                <a:solidFill>
                  <a:srgbClr val="53D68E"/>
                </a:solidFill>
                <a:latin typeface="Consolas"/>
              </a:rPr>
              <a:t>Ver todas las rutas:  C:\xampp\php\php.exe bin\console debug:router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3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53D68E"/>
          </a:solidFill>
          <a:ln>
            <a:solidFill>
              <a:srgbClr val="53D6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2743200" cy="228600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l"/>
            <a:r>
              <a:rPr sz="1000" b="1">
                <a:solidFill>
                  <a:srgbClr val="53D68E"/>
                </a:solidFill>
                <a:latin typeface="Aptos"/>
              </a:rPr>
              <a:t>HTTP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320040"/>
            <a:ext cx="502920" cy="228600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r"/>
            <a:r>
              <a:rPr sz="1000" b="1">
                <a:solidFill>
                  <a:srgbClr val="B1BBCC"/>
                </a:solidFill>
                <a:latin typeface="Aptos"/>
              </a:rPr>
              <a:t>19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58952"/>
            <a:ext cx="10698480" cy="502920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Aptos"/>
              </a:rPr>
              <a:t>Cómo pide recursos el frontend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1353312"/>
            <a:ext cx="10607040" cy="365760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l"/>
            <a:r>
              <a:rPr sz="1300" b="0">
                <a:solidFill>
                  <a:srgbClr val="B1BBCC"/>
                </a:solidFill>
                <a:latin typeface="Aptos"/>
              </a:rPr>
              <a:t>HTTP es el protocolo de comunicación entre el navegador y el servidor.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510528"/>
            <a:ext cx="3657600" cy="164592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l"/>
            <a:r>
              <a:rPr sz="800" b="1">
                <a:solidFill>
                  <a:srgbClr val="B1BBCC"/>
                </a:solidFill>
                <a:latin typeface="Aptos"/>
              </a:rPr>
              <a:t>CINE APP · HOSTINGER COMPARTIDO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1874519"/>
            <a:ext cx="2606040" cy="3429000"/>
          </a:xfrm>
          <a:prstGeom prst="roundRect">
            <a:avLst/>
          </a:prstGeom>
          <a:solidFill>
            <a:srgbClr val="172238"/>
          </a:solidFill>
          <a:ln>
            <a:solidFill>
              <a:srgbClr val="2A3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11480" y="1874519"/>
            <a:ext cx="64008" cy="3429000"/>
          </a:xfrm>
          <a:prstGeom prst="roundRect">
            <a:avLst/>
          </a:prstGeom>
          <a:solidFill>
            <a:srgbClr val="36D3DD"/>
          </a:solidFill>
          <a:ln>
            <a:solidFill>
              <a:srgbClr val="36D3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057400"/>
            <a:ext cx="2194560" cy="292608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ptos"/>
              </a:rPr>
              <a:t>GET · LEER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514600"/>
            <a:ext cx="2194560" cy="2651760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l"/>
            <a:r>
              <a:rPr sz="1250" b="0">
                <a:solidFill>
                  <a:srgbClr val="B1BBCC"/>
                </a:solidFill>
                <a:latin typeface="Aptos"/>
              </a:rPr>
              <a:t>Pide un recurso sin modificarlo.</a:t>
            </a:r>
            <a:br/>
            <a:br/>
            <a:r>
              <a:rPr sz="1250" b="0">
                <a:solidFill>
                  <a:srgbClr val="B1BBCC"/>
                </a:solidFill>
                <a:latin typeface="Aptos"/>
              </a:rPr>
              <a:t>GET /api/funciones</a:t>
            </a:r>
            <a:br/>
            <a:r>
              <a:rPr sz="1250" b="0">
                <a:solidFill>
                  <a:srgbClr val="B1BBCC"/>
                </a:solidFill>
                <a:latin typeface="Aptos"/>
              </a:rPr>
              <a:t>GET /api/funciones/5/asientos</a:t>
            </a:r>
            <a:br/>
            <a:br/>
            <a:r>
              <a:rPr sz="1250" b="0">
                <a:solidFill>
                  <a:srgbClr val="B1BBCC"/>
                </a:solidFill>
                <a:latin typeface="Aptos"/>
              </a:rPr>
              <a:t>Respuesta habitual: 200 OK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965960" y="2039112"/>
            <a:ext cx="777240" cy="274320"/>
          </a:xfrm>
          <a:prstGeom prst="roundRect">
            <a:avLst/>
          </a:prstGeom>
          <a:solidFill>
            <a:srgbClr val="36D3DD"/>
          </a:solidFill>
          <a:ln>
            <a:solidFill>
              <a:srgbClr val="36D3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011680" y="2084831"/>
            <a:ext cx="685800" cy="128016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ctr"/>
            <a:r>
              <a:rPr sz="800" b="1">
                <a:solidFill>
                  <a:srgbClr val="0C1323"/>
                </a:solidFill>
                <a:latin typeface="Aptos"/>
              </a:rPr>
              <a:t>ACTUAL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37560" y="1874519"/>
            <a:ext cx="2606040" cy="3429000"/>
          </a:xfrm>
          <a:prstGeom prst="roundRect">
            <a:avLst/>
          </a:prstGeom>
          <a:solidFill>
            <a:srgbClr val="172238"/>
          </a:solidFill>
          <a:ln>
            <a:solidFill>
              <a:srgbClr val="2A3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337560" y="1874519"/>
            <a:ext cx="64008" cy="3429000"/>
          </a:xfrm>
          <a:prstGeom prst="roundRect">
            <a:avLst/>
          </a:prstGeom>
          <a:solidFill>
            <a:srgbClr val="53D68E"/>
          </a:solidFill>
          <a:ln>
            <a:solidFill>
              <a:srgbClr val="53D6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66160" y="2057400"/>
            <a:ext cx="2194560" cy="292608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ptos"/>
              </a:rPr>
              <a:t>POST · CREAR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66160" y="2514600"/>
            <a:ext cx="2194560" cy="2651760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l"/>
            <a:r>
              <a:rPr sz="1250" b="0">
                <a:solidFill>
                  <a:srgbClr val="B1BBCC"/>
                </a:solidFill>
                <a:latin typeface="Aptos"/>
              </a:rPr>
              <a:t>Envía datos para crear un recurso.</a:t>
            </a:r>
            <a:br/>
            <a:br/>
            <a:r>
              <a:rPr sz="1250" b="0">
                <a:solidFill>
                  <a:srgbClr val="B1BBCC"/>
                </a:solidFill>
                <a:latin typeface="Aptos"/>
              </a:rPr>
              <a:t>POST /api/funciones</a:t>
            </a:r>
            <a:br/>
            <a:r>
              <a:rPr sz="1250" b="0">
                <a:solidFill>
                  <a:srgbClr val="B1BBCC"/>
                </a:solidFill>
                <a:latin typeface="Aptos"/>
              </a:rPr>
              <a:t>Body JSON con la nueva función</a:t>
            </a:r>
            <a:br/>
            <a:br/>
            <a:r>
              <a:rPr sz="1250" b="0">
                <a:solidFill>
                  <a:srgbClr val="B1BBCC"/>
                </a:solidFill>
                <a:latin typeface="Aptos"/>
              </a:rPr>
              <a:t>Respuesta habitual: 201 Created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892040" y="2039112"/>
            <a:ext cx="777240" cy="274320"/>
          </a:xfrm>
          <a:prstGeom prst="roundRect">
            <a:avLst/>
          </a:prstGeom>
          <a:solidFill>
            <a:srgbClr val="53D68E"/>
          </a:solidFill>
          <a:ln>
            <a:solidFill>
              <a:srgbClr val="53D6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937760" y="2084831"/>
            <a:ext cx="685800" cy="128016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ctr"/>
            <a:r>
              <a:rPr sz="800" b="1">
                <a:solidFill>
                  <a:srgbClr val="0C1323"/>
                </a:solidFill>
                <a:latin typeface="Aptos"/>
              </a:rPr>
              <a:t>CRUD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1874519"/>
            <a:ext cx="2606040" cy="3429000"/>
          </a:xfrm>
          <a:prstGeom prst="roundRect">
            <a:avLst/>
          </a:prstGeom>
          <a:solidFill>
            <a:srgbClr val="172238"/>
          </a:solidFill>
          <a:ln>
            <a:solidFill>
              <a:srgbClr val="2A3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263640" y="1874519"/>
            <a:ext cx="64008" cy="3429000"/>
          </a:xfrm>
          <a:prstGeom prst="roundRect">
            <a:avLst/>
          </a:prstGeom>
          <a:solidFill>
            <a:srgbClr val="FF9E58"/>
          </a:solidFill>
          <a:ln>
            <a:solidFill>
              <a:srgbClr val="FF9E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92240" y="2057400"/>
            <a:ext cx="2194560" cy="292608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ptos"/>
              </a:rPr>
              <a:t>PUT · ACTUALIZAR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2514600"/>
            <a:ext cx="2194560" cy="2651760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l"/>
            <a:r>
              <a:rPr sz="1250" b="0">
                <a:solidFill>
                  <a:srgbClr val="B1BBCC"/>
                </a:solidFill>
                <a:latin typeface="Aptos"/>
              </a:rPr>
              <a:t>Reemplaza o actualiza un recurso identificado.</a:t>
            </a:r>
            <a:br/>
            <a:br/>
            <a:r>
              <a:rPr sz="1250" b="0">
                <a:solidFill>
                  <a:srgbClr val="B1BBCC"/>
                </a:solidFill>
                <a:latin typeface="Aptos"/>
              </a:rPr>
              <a:t>PUT /api/funciones/5</a:t>
            </a:r>
            <a:br/>
            <a:r>
              <a:rPr sz="1250" b="0">
                <a:solidFill>
                  <a:srgbClr val="B1BBCC"/>
                </a:solidFill>
                <a:latin typeface="Aptos"/>
              </a:rPr>
              <a:t>Body JSON actualizado</a:t>
            </a:r>
            <a:br/>
            <a:br/>
            <a:r>
              <a:rPr sz="1250" b="0">
                <a:solidFill>
                  <a:srgbClr val="B1BBCC"/>
                </a:solidFill>
                <a:latin typeface="Aptos"/>
              </a:rPr>
              <a:t>Respuesta habitual: 200 o 204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818119" y="2039112"/>
            <a:ext cx="777240" cy="274320"/>
          </a:xfrm>
          <a:prstGeom prst="roundRect">
            <a:avLst/>
          </a:prstGeom>
          <a:solidFill>
            <a:srgbClr val="FF9E58"/>
          </a:solidFill>
          <a:ln>
            <a:solidFill>
              <a:srgbClr val="FF9E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863840" y="2084831"/>
            <a:ext cx="685800" cy="128016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ctr"/>
            <a:r>
              <a:rPr sz="800" b="1">
                <a:solidFill>
                  <a:srgbClr val="0C1323"/>
                </a:solidFill>
                <a:latin typeface="Aptos"/>
              </a:rPr>
              <a:t>CRUD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189720" y="1874519"/>
            <a:ext cx="2606040" cy="3429000"/>
          </a:xfrm>
          <a:prstGeom prst="roundRect">
            <a:avLst/>
          </a:prstGeom>
          <a:solidFill>
            <a:srgbClr val="172238"/>
          </a:solidFill>
          <a:ln>
            <a:solidFill>
              <a:srgbClr val="2A3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9189720" y="1874519"/>
            <a:ext cx="64008" cy="3429000"/>
          </a:xfrm>
          <a:prstGeom prst="roundRect">
            <a:avLst/>
          </a:prstGeom>
          <a:solidFill>
            <a:srgbClr val="FF6978"/>
          </a:solidFill>
          <a:ln>
            <a:solidFill>
              <a:srgbClr val="FF69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418320" y="2057400"/>
            <a:ext cx="2194560" cy="292608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ptos"/>
              </a:rPr>
              <a:t>DELETE · ELIMINAR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18320" y="2514600"/>
            <a:ext cx="2194560" cy="2651760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l"/>
            <a:r>
              <a:rPr sz="1250" b="0">
                <a:solidFill>
                  <a:srgbClr val="B1BBCC"/>
                </a:solidFill>
                <a:latin typeface="Aptos"/>
              </a:rPr>
              <a:t>Solicita eliminar un recurso.</a:t>
            </a:r>
            <a:br/>
            <a:br/>
            <a:r>
              <a:rPr sz="1250" b="0">
                <a:solidFill>
                  <a:srgbClr val="B1BBCC"/>
                </a:solidFill>
                <a:latin typeface="Aptos"/>
              </a:rPr>
              <a:t>DELETE /api/funciones/5</a:t>
            </a:r>
            <a:br/>
            <a:br/>
            <a:r>
              <a:rPr sz="1250" b="0">
                <a:solidFill>
                  <a:srgbClr val="B1BBCC"/>
                </a:solidFill>
                <a:latin typeface="Aptos"/>
              </a:rPr>
              <a:t>Respuesta habitual:</a:t>
            </a:r>
            <a:br/>
            <a:r>
              <a:rPr sz="1250" b="0">
                <a:solidFill>
                  <a:srgbClr val="B1BBCC"/>
                </a:solidFill>
                <a:latin typeface="Aptos"/>
              </a:rPr>
              <a:t>204 No Content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744200" y="2039112"/>
            <a:ext cx="777240" cy="274320"/>
          </a:xfrm>
          <a:prstGeom prst="roundRect">
            <a:avLst/>
          </a:prstGeom>
          <a:solidFill>
            <a:srgbClr val="FF6978"/>
          </a:solidFill>
          <a:ln>
            <a:solidFill>
              <a:srgbClr val="FF69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789920" y="2084831"/>
            <a:ext cx="685800" cy="128016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ctr"/>
            <a:r>
              <a:rPr sz="800" b="1">
                <a:solidFill>
                  <a:srgbClr val="0C1323"/>
                </a:solidFill>
                <a:latin typeface="Aptos"/>
              </a:rPr>
              <a:t>CRUD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85800" y="5623560"/>
            <a:ext cx="10789920" cy="566928"/>
          </a:xfrm>
          <a:prstGeom prst="roundRect">
            <a:avLst/>
          </a:prstGeom>
          <a:solidFill>
            <a:srgbClr val="172238"/>
          </a:solidFill>
          <a:ln>
            <a:solidFill>
              <a:srgbClr val="1722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14400" y="5806440"/>
            <a:ext cx="10287000" cy="228600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PETICIÓN HTTP = método + URL + headers + body opcional   |   RESPUESTA = estado + headers + JSON opcional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" y="6199632"/>
            <a:ext cx="10698480" cy="228600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ctr"/>
            <a:r>
              <a:rPr sz="1100" b="1">
                <a:solidFill>
                  <a:srgbClr val="B1BBCC"/>
                </a:solidFill>
                <a:latin typeface="Aptos"/>
              </a:rPr>
              <a:t>En Cine App hoy están implementados los GET; POST, PUT y DELETE representan la ampliación del CRUD.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3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36D3DD"/>
          </a:solidFill>
          <a:ln>
            <a:solidFill>
              <a:srgbClr val="36D3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2743200" cy="228600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l"/>
            <a:r>
              <a:rPr sz="1000" b="1">
                <a:solidFill>
                  <a:srgbClr val="36D3DD"/>
                </a:solidFill>
                <a:latin typeface="Aptos"/>
              </a:rPr>
              <a:t>BACKEND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320040"/>
            <a:ext cx="502920" cy="228600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r"/>
            <a:r>
              <a:rPr sz="1000" b="1">
                <a:solidFill>
                  <a:srgbClr val="B1BBCC"/>
                </a:solidFill>
                <a:latin typeface="Aptos"/>
              </a:rPr>
              <a:t>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58952"/>
            <a:ext cx="10698480" cy="502920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Aptos"/>
              </a:rPr>
              <a:t>De {id} a una entidad Funcion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1353312"/>
            <a:ext cx="10607040" cy="365760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l"/>
            <a:r>
              <a:rPr sz="1300" b="0">
                <a:solidFill>
                  <a:srgbClr val="B1BBCC"/>
                </a:solidFill>
                <a:latin typeface="Aptos"/>
              </a:rPr>
              <a:t>La búsqueda ahora está escrita paso a paso para que no dependa de una conversión automática invisible.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510528"/>
            <a:ext cx="3657600" cy="164592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l"/>
            <a:r>
              <a:rPr sz="800" b="1">
                <a:solidFill>
                  <a:srgbClr val="B1BBCC"/>
                </a:solidFill>
                <a:latin typeface="Aptos"/>
              </a:rPr>
              <a:t>CINE APP · HOSTINGER COMPARTIDO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1965960"/>
            <a:ext cx="2103120" cy="2606040"/>
          </a:xfrm>
          <a:prstGeom prst="roundRect">
            <a:avLst/>
          </a:prstGeom>
          <a:solidFill>
            <a:srgbClr val="172238"/>
          </a:solidFill>
          <a:ln>
            <a:solidFill>
              <a:srgbClr val="2A3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65760" y="1965960"/>
            <a:ext cx="64008" cy="2606040"/>
          </a:xfrm>
          <a:prstGeom prst="roundRect">
            <a:avLst/>
          </a:prstGeom>
          <a:solidFill>
            <a:srgbClr val="FF9E58"/>
          </a:solidFill>
          <a:ln>
            <a:solidFill>
              <a:srgbClr val="FF9E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2148840"/>
            <a:ext cx="1691639" cy="292608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ptos"/>
              </a:rPr>
              <a:t>1 · URL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606039"/>
            <a:ext cx="1691639" cy="1828800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l"/>
            <a:r>
              <a:rPr sz="1250" b="0">
                <a:solidFill>
                  <a:srgbClr val="B1BBCC"/>
                </a:solidFill>
                <a:latin typeface="Aptos"/>
              </a:rPr>
              <a:t>GET /api/funciones/5/asientos</a:t>
            </a:r>
            <a:br/>
            <a:br/>
            <a:r>
              <a:rPr sz="1250" b="0">
                <a:solidFill>
                  <a:srgbClr val="B1BBCC"/>
                </a:solidFill>
                <a:latin typeface="Aptos"/>
              </a:rPr>
              <a:t>Symfony reconoce:</a:t>
            </a:r>
            <a:br/>
            <a:r>
              <a:rPr sz="1250" b="0">
                <a:solidFill>
                  <a:srgbClr val="B1BBCC"/>
                </a:solidFill>
                <a:latin typeface="Aptos"/>
              </a:rPr>
              <a:t>{id} = 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32888" y="2898648"/>
            <a:ext cx="411480" cy="411480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ctr"/>
            <a:r>
              <a:rPr sz="2400" b="1">
                <a:solidFill>
                  <a:srgbClr val="53D68E"/>
                </a:solidFill>
                <a:latin typeface="Aptos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971800" y="1965960"/>
            <a:ext cx="2240280" cy="2606040"/>
          </a:xfrm>
          <a:prstGeom prst="roundRect">
            <a:avLst/>
          </a:prstGeom>
          <a:solidFill>
            <a:srgbClr val="172238"/>
          </a:solidFill>
          <a:ln>
            <a:solidFill>
              <a:srgbClr val="2A3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971800" y="1965960"/>
            <a:ext cx="64008" cy="2606040"/>
          </a:xfrm>
          <a:prstGeom prst="roundRect">
            <a:avLst/>
          </a:prstGeom>
          <a:solidFill>
            <a:srgbClr val="36D3DD"/>
          </a:solidFill>
          <a:ln>
            <a:solidFill>
              <a:srgbClr val="36D3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00400" y="2148840"/>
            <a:ext cx="1828800" cy="292608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ptos"/>
              </a:rPr>
              <a:t>2 · PARÁMETRO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2606039"/>
            <a:ext cx="1828800" cy="1828800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l"/>
            <a:r>
              <a:rPr sz="1250" b="0">
                <a:solidFill>
                  <a:srgbClr val="B1BBCC"/>
                </a:solidFill>
                <a:latin typeface="Aptos"/>
              </a:rPr>
              <a:t>public function seats(int $id)</a:t>
            </a:r>
            <a:br/>
            <a:br/>
            <a:r>
              <a:rPr sz="1250" b="0">
                <a:solidFill>
                  <a:srgbClr val="B1BBCC"/>
                </a:solidFill>
                <a:latin typeface="Aptos"/>
              </a:rPr>
              <a:t>El valor 5 entra como:</a:t>
            </a:r>
            <a:br/>
            <a:r>
              <a:rPr sz="1250" b="0">
                <a:solidFill>
                  <a:srgbClr val="B1BBCC"/>
                </a:solidFill>
                <a:latin typeface="Aptos"/>
              </a:rPr>
              <a:t>$id = 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76088" y="2898648"/>
            <a:ext cx="411480" cy="411480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ctr"/>
            <a:r>
              <a:rPr sz="2400" b="1">
                <a:solidFill>
                  <a:srgbClr val="53D68E"/>
                </a:solidFill>
                <a:latin typeface="Aptos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715000" y="1965960"/>
            <a:ext cx="2468880" cy="2606040"/>
          </a:xfrm>
          <a:prstGeom prst="roundRect">
            <a:avLst/>
          </a:prstGeom>
          <a:solidFill>
            <a:srgbClr val="172238"/>
          </a:solidFill>
          <a:ln>
            <a:solidFill>
              <a:srgbClr val="2A3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715000" y="1965960"/>
            <a:ext cx="64008" cy="2606040"/>
          </a:xfrm>
          <a:prstGeom prst="roundRect">
            <a:avLst/>
          </a:prstGeom>
          <a:solidFill>
            <a:srgbClr val="53D68E"/>
          </a:solidFill>
          <a:ln>
            <a:solidFill>
              <a:srgbClr val="53D6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0" y="2148840"/>
            <a:ext cx="2057400" cy="292608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ptos"/>
              </a:rPr>
              <a:t>3 · REPOSITORY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0" y="2606039"/>
            <a:ext cx="2057400" cy="1828800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l"/>
            <a:r>
              <a:rPr sz="1250" b="0">
                <a:solidFill>
                  <a:srgbClr val="B1BBCC"/>
                </a:solidFill>
                <a:latin typeface="Aptos"/>
              </a:rPr>
              <a:t>$this-&gt;funcionRepository</a:t>
            </a:r>
            <a:br/>
            <a:r>
              <a:rPr sz="1250" b="0">
                <a:solidFill>
                  <a:srgbClr val="B1BBCC"/>
                </a:solidFill>
                <a:latin typeface="Aptos"/>
              </a:rPr>
              <a:t>    -&gt;find($id)</a:t>
            </a:r>
            <a:br/>
            <a:br/>
            <a:r>
              <a:rPr sz="1250" b="0">
                <a:solidFill>
                  <a:srgbClr val="B1BBCC"/>
                </a:solidFill>
                <a:latin typeface="Aptos"/>
              </a:rPr>
              <a:t>Doctrine busca funcion.id = 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47888" y="2898648"/>
            <a:ext cx="411480" cy="411480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ctr"/>
            <a:r>
              <a:rPr sz="2400" b="1">
                <a:solidFill>
                  <a:srgbClr val="53D68E"/>
                </a:solidFill>
                <a:latin typeface="Aptos"/>
              </a:rP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686800" y="1965960"/>
            <a:ext cx="3063240" cy="2606040"/>
          </a:xfrm>
          <a:prstGeom prst="roundRect">
            <a:avLst/>
          </a:prstGeom>
          <a:solidFill>
            <a:srgbClr val="172238"/>
          </a:solidFill>
          <a:ln>
            <a:solidFill>
              <a:srgbClr val="2A3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686800" y="1965960"/>
            <a:ext cx="64008" cy="2606040"/>
          </a:xfrm>
          <a:prstGeom prst="roundRect">
            <a:avLst/>
          </a:prstGeom>
          <a:solidFill>
            <a:srgbClr val="FF6978"/>
          </a:solidFill>
          <a:ln>
            <a:solidFill>
              <a:srgbClr val="FF69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915400" y="2148840"/>
            <a:ext cx="2651760" cy="292608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ptos"/>
              </a:rPr>
              <a:t>4 · RESULTADO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15400" y="2606039"/>
            <a:ext cx="2651760" cy="1828800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l"/>
            <a:r>
              <a:rPr sz="1250" b="0">
                <a:solidFill>
                  <a:srgbClr val="B1BBCC"/>
                </a:solidFill>
                <a:latin typeface="Aptos"/>
              </a:rPr>
              <a:t>Existe: objeto Funcion</a:t>
            </a:r>
            <a:br/>
            <a:r>
              <a:rPr sz="1250" b="0">
                <a:solidFill>
                  <a:srgbClr val="B1BBCC"/>
                </a:solidFill>
                <a:latin typeface="Aptos"/>
              </a:rPr>
              <a:t>y HTTP 200</a:t>
            </a:r>
            <a:br/>
            <a:br/>
            <a:r>
              <a:rPr sz="1250" b="0">
                <a:solidFill>
                  <a:srgbClr val="B1BBCC"/>
                </a:solidFill>
                <a:latin typeface="Aptos"/>
              </a:rPr>
              <a:t>No existe: null</a:t>
            </a:r>
            <a:br/>
            <a:r>
              <a:rPr sz="1250" b="0">
                <a:solidFill>
                  <a:srgbClr val="B1BBCC"/>
                </a:solidFill>
                <a:latin typeface="Aptos"/>
              </a:rPr>
              <a:t>y HTTP 404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94360" y="5074920"/>
            <a:ext cx="10972800" cy="621792"/>
          </a:xfrm>
          <a:prstGeom prst="roundRect">
            <a:avLst/>
          </a:prstGeom>
          <a:solidFill>
            <a:srgbClr val="172238"/>
          </a:solidFill>
          <a:ln>
            <a:solidFill>
              <a:srgbClr val="1722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960" y="5285232"/>
            <a:ext cx="10515600" cy="228600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Después: findBy(['funcion' =&gt; $funcion]) busca los asientos cuyo funcion_id corresponde a esa función.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6016752"/>
            <a:ext cx="10881360" cy="274320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ctr"/>
            <a:r>
              <a:rPr sz="1300" b="1">
                <a:solidFill>
                  <a:srgbClr val="36D3DD"/>
                </a:solidFill>
                <a:latin typeface="Consolas"/>
              </a:rPr>
              <a:t>Archivo: src/Controller/FuncionController.php  ·  Método: seats(int $id)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3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53D68E"/>
          </a:solidFill>
          <a:ln>
            <a:solidFill>
              <a:srgbClr val="53D6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2743200" cy="228600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l"/>
            <a:r>
              <a:rPr sz="1000" b="1">
                <a:solidFill>
                  <a:srgbClr val="53D68E"/>
                </a:solidFill>
                <a:latin typeface="Aptos"/>
              </a:rPr>
              <a:t>DOCTRINE 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320040"/>
            <a:ext cx="502920" cy="228600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r"/>
            <a:r>
              <a:rPr sz="1000" b="1">
                <a:solidFill>
                  <a:srgbClr val="B1BBCC"/>
                </a:solidFill>
                <a:latin typeface="Aptos"/>
              </a:rPr>
              <a:t>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58952"/>
            <a:ext cx="10698480" cy="502920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Aptos"/>
              </a:rPr>
              <a:t>Objetos PHP en lugar de SQL repetitivo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1353312"/>
            <a:ext cx="10607040" cy="365760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l"/>
            <a:r>
              <a:rPr sz="1300" b="0">
                <a:solidFill>
                  <a:srgbClr val="B1BBCC"/>
                </a:solidFill>
                <a:latin typeface="Aptos"/>
              </a:rPr>
              <a:t>ORM significa Object–Relational Mapping: conecta entidades PHP con tablas de una base relacional.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510528"/>
            <a:ext cx="3657600" cy="164592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l"/>
            <a:r>
              <a:rPr sz="800" b="1">
                <a:solidFill>
                  <a:srgbClr val="B1BBCC"/>
                </a:solidFill>
                <a:latin typeface="Aptos"/>
              </a:rPr>
              <a:t>CINE APP · HOSTINGER COMPARTIDO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965960"/>
            <a:ext cx="2880360" cy="2971800"/>
          </a:xfrm>
          <a:prstGeom prst="roundRect">
            <a:avLst/>
          </a:prstGeom>
          <a:solidFill>
            <a:srgbClr val="172238"/>
          </a:solidFill>
          <a:ln>
            <a:solidFill>
              <a:srgbClr val="2A3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64008" cy="2971800"/>
          </a:xfrm>
          <a:prstGeom prst="roundRect">
            <a:avLst/>
          </a:prstGeom>
          <a:solidFill>
            <a:srgbClr val="36D3DD"/>
          </a:solidFill>
          <a:ln>
            <a:solidFill>
              <a:srgbClr val="36D3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148840"/>
            <a:ext cx="2468879" cy="292608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ptos"/>
              </a:rPr>
              <a:t>ENTIDAD PHP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606039"/>
            <a:ext cx="2468879" cy="2194560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l"/>
            <a:r>
              <a:rPr sz="1250" b="0">
                <a:solidFill>
                  <a:srgbClr val="B1BBCC"/>
                </a:solidFill>
                <a:latin typeface="Aptos"/>
              </a:rPr>
              <a:t>Funcion.php</a:t>
            </a:r>
            <a:br/>
            <a:r>
              <a:rPr sz="1250" b="0">
                <a:solidFill>
                  <a:srgbClr val="B1BBCC"/>
                </a:solidFill>
                <a:latin typeface="Aptos"/>
              </a:rPr>
              <a:t>Pelicula.php</a:t>
            </a:r>
            <a:br/>
            <a:r>
              <a:rPr sz="1250" b="0">
                <a:solidFill>
                  <a:srgbClr val="B1BBCC"/>
                </a:solidFill>
                <a:latin typeface="Aptos"/>
              </a:rPr>
              <a:t>Asiento.php</a:t>
            </a:r>
            <a:br/>
            <a:br/>
            <a:r>
              <a:rPr sz="1250" b="0">
                <a:solidFill>
                  <a:srgbClr val="B1BBCC"/>
                </a:solidFill>
                <a:latin typeface="Aptos"/>
              </a:rPr>
              <a:t>Objetos con propiedades y relaciones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331720" y="2130552"/>
            <a:ext cx="777240" cy="274320"/>
          </a:xfrm>
          <a:prstGeom prst="roundRect">
            <a:avLst/>
          </a:prstGeom>
          <a:solidFill>
            <a:srgbClr val="36D3DD"/>
          </a:solidFill>
          <a:ln>
            <a:solidFill>
              <a:srgbClr val="36D3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377440" y="2176272"/>
            <a:ext cx="685800" cy="128016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ctr"/>
            <a:r>
              <a:rPr sz="800" b="1">
                <a:solidFill>
                  <a:srgbClr val="0C1323"/>
                </a:solidFill>
                <a:latin typeface="Aptos"/>
              </a:rPr>
              <a:t>CÓDIGO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02152" y="2880360"/>
            <a:ext cx="1051560" cy="640080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ctr"/>
            <a:r>
              <a:rPr sz="1400" b="1">
                <a:solidFill>
                  <a:srgbClr val="53D68E"/>
                </a:solidFill>
                <a:latin typeface="Aptos"/>
              </a:rPr>
              <a:t>Doctrine</a:t>
            </a:r>
            <a:br/>
            <a:r>
              <a:rPr sz="1400" b="1">
                <a:solidFill>
                  <a:srgbClr val="53D68E"/>
                </a:solidFill>
                <a:latin typeface="Aptos"/>
              </a:rPr>
              <a:t>traduce ↔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663440" y="1965960"/>
            <a:ext cx="2880360" cy="2971800"/>
          </a:xfrm>
          <a:prstGeom prst="roundRect">
            <a:avLst/>
          </a:prstGeom>
          <a:solidFill>
            <a:srgbClr val="172238"/>
          </a:solidFill>
          <a:ln>
            <a:solidFill>
              <a:srgbClr val="2A3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663440" y="1965960"/>
            <a:ext cx="64008" cy="2971800"/>
          </a:xfrm>
          <a:prstGeom prst="roundRect">
            <a:avLst/>
          </a:prstGeom>
          <a:solidFill>
            <a:srgbClr val="53D68E"/>
          </a:solidFill>
          <a:ln>
            <a:solidFill>
              <a:srgbClr val="53D6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892040" y="2148840"/>
            <a:ext cx="2468879" cy="292608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ptos"/>
              </a:rPr>
              <a:t>MAPEO ORM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92040" y="2606039"/>
            <a:ext cx="2468879" cy="2194560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l"/>
            <a:r>
              <a:rPr sz="1250" b="0">
                <a:solidFill>
                  <a:srgbClr val="B1BBCC"/>
                </a:solidFill>
                <a:latin typeface="Aptos"/>
              </a:rPr>
              <a:t>#[ORM\Entity]</a:t>
            </a:r>
            <a:br/>
            <a:r>
              <a:rPr sz="1250" b="0">
                <a:solidFill>
                  <a:srgbClr val="B1BBCC"/>
                </a:solidFill>
                <a:latin typeface="Aptos"/>
              </a:rPr>
              <a:t>#[ORM\Column]</a:t>
            </a:r>
            <a:br/>
            <a:r>
              <a:rPr sz="1250" b="0">
                <a:solidFill>
                  <a:srgbClr val="B1BBCC"/>
                </a:solidFill>
                <a:latin typeface="Aptos"/>
              </a:rPr>
              <a:t>#[ORM\ManyToOne]</a:t>
            </a:r>
            <a:br/>
            <a:br/>
            <a:r>
              <a:rPr sz="1250" b="0">
                <a:solidFill>
                  <a:srgbClr val="B1BBCC"/>
                </a:solidFill>
                <a:latin typeface="Aptos"/>
              </a:rPr>
              <a:t>Describe cómo se guardan los objetos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92240" y="2130552"/>
            <a:ext cx="777240" cy="274320"/>
          </a:xfrm>
          <a:prstGeom prst="roundRect">
            <a:avLst/>
          </a:prstGeom>
          <a:solidFill>
            <a:srgbClr val="53D68E"/>
          </a:solidFill>
          <a:ln>
            <a:solidFill>
              <a:srgbClr val="53D6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37960" y="2176272"/>
            <a:ext cx="685800" cy="128016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ctr"/>
            <a:r>
              <a:rPr sz="800" b="1">
                <a:solidFill>
                  <a:srgbClr val="0C1323"/>
                </a:solidFill>
                <a:latin typeface="Aptos"/>
              </a:rPr>
              <a:t>ORM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62672" y="2880360"/>
            <a:ext cx="640080" cy="640080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ctr"/>
            <a:r>
              <a:rPr sz="1400" b="1">
                <a:solidFill>
                  <a:srgbClr val="53D68E"/>
                </a:solidFill>
                <a:latin typeface="Aptos"/>
              </a:rPr>
              <a:t>SQL</a:t>
            </a:r>
            <a:br/>
            <a:r>
              <a:rPr sz="1400" b="1">
                <a:solidFill>
                  <a:srgbClr val="53D68E"/>
                </a:solidFill>
                <a:latin typeface="Aptos"/>
              </a:rPr>
              <a:t>↔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412480" y="1965960"/>
            <a:ext cx="3246120" cy="2971800"/>
          </a:xfrm>
          <a:prstGeom prst="roundRect">
            <a:avLst/>
          </a:prstGeom>
          <a:solidFill>
            <a:srgbClr val="172238"/>
          </a:solidFill>
          <a:ln>
            <a:solidFill>
              <a:srgbClr val="2A3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412480" y="1965960"/>
            <a:ext cx="64008" cy="2971800"/>
          </a:xfrm>
          <a:prstGeom prst="roundRect">
            <a:avLst/>
          </a:prstGeom>
          <a:solidFill>
            <a:srgbClr val="FF9E58"/>
          </a:solidFill>
          <a:ln>
            <a:solidFill>
              <a:srgbClr val="FF9E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41080" y="2148840"/>
            <a:ext cx="2834639" cy="292608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ptos"/>
              </a:rPr>
              <a:t>TABLAS MARIADB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41080" y="2606039"/>
            <a:ext cx="2834639" cy="2194560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l"/>
            <a:r>
              <a:rPr sz="1250" b="0">
                <a:solidFill>
                  <a:srgbClr val="B1BBCC"/>
                </a:solidFill>
                <a:latin typeface="Aptos"/>
              </a:rPr>
              <a:t>funcion</a:t>
            </a:r>
            <a:br/>
            <a:r>
              <a:rPr sz="1250" b="0">
                <a:solidFill>
                  <a:srgbClr val="B1BBCC"/>
                </a:solidFill>
                <a:latin typeface="Aptos"/>
              </a:rPr>
              <a:t>pelicula</a:t>
            </a:r>
            <a:br/>
            <a:r>
              <a:rPr sz="1250" b="0">
                <a:solidFill>
                  <a:srgbClr val="B1BBCC"/>
                </a:solidFill>
                <a:latin typeface="Aptos"/>
              </a:rPr>
              <a:t>asiento</a:t>
            </a:r>
            <a:br/>
            <a:br/>
            <a:r>
              <a:rPr sz="1250" b="0">
                <a:solidFill>
                  <a:srgbClr val="B1BBCC"/>
                </a:solidFill>
                <a:latin typeface="Aptos"/>
              </a:rPr>
              <a:t>Filas, columnas y claves foráneas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607040" y="2130552"/>
            <a:ext cx="777240" cy="274320"/>
          </a:xfrm>
          <a:prstGeom prst="roundRect">
            <a:avLst/>
          </a:prstGeom>
          <a:solidFill>
            <a:srgbClr val="FF9E58"/>
          </a:solidFill>
          <a:ln>
            <a:solidFill>
              <a:srgbClr val="FF9E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652760" y="2176272"/>
            <a:ext cx="685800" cy="128016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ctr"/>
            <a:r>
              <a:rPr sz="800" b="1">
                <a:solidFill>
                  <a:srgbClr val="0C1323"/>
                </a:solidFill>
                <a:latin typeface="Aptos"/>
              </a:rPr>
              <a:t>XAMPP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94360" y="5303520"/>
            <a:ext cx="10972800" cy="566928"/>
          </a:xfrm>
          <a:prstGeom prst="roundRect">
            <a:avLst/>
          </a:prstGeom>
          <a:solidFill>
            <a:srgbClr val="172238"/>
          </a:solidFill>
          <a:ln>
            <a:solidFill>
              <a:srgbClr val="1722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2960" y="5486400"/>
            <a:ext cx="10515600" cy="228600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Doctrine permite consultar, insertar, actualizar y eliminar usando objetos; genera SQL y transforma cada fila en una entidad.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6016752"/>
            <a:ext cx="10881360" cy="274320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ctr"/>
            <a:r>
              <a:rPr sz="1200" b="1">
                <a:solidFill>
                  <a:srgbClr val="36D3DD"/>
                </a:solidFill>
                <a:latin typeface="Aptos"/>
              </a:rPr>
              <a:t>Ventaja didáctica: el código trabaja con $funcion-&gt;getPelicula(), mientras Doctrine administra pelicula_id.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3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53D68E"/>
          </a:solidFill>
          <a:ln>
            <a:solidFill>
              <a:srgbClr val="53D6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2743200" cy="228600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l"/>
            <a:r>
              <a:rPr sz="1000" b="1">
                <a:solidFill>
                  <a:srgbClr val="53D68E"/>
                </a:solidFill>
                <a:latin typeface="Aptos"/>
              </a:rPr>
              <a:t>QUERYBUILDER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320040"/>
            <a:ext cx="502920" cy="228600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r"/>
            <a:r>
              <a:rPr sz="1000" b="1">
                <a:solidFill>
                  <a:srgbClr val="B1BBCC"/>
                </a:solidFill>
                <a:latin typeface="Aptos"/>
              </a:rPr>
              <a:t>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58952"/>
            <a:ext cx="10698480" cy="502920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Aptos"/>
              </a:rPr>
              <a:t>La consulta Doctrine y su SQL equivalente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1353312"/>
            <a:ext cx="10607040" cy="365760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l"/>
            <a:r>
              <a:rPr sz="1300" b="0">
                <a:solidFill>
                  <a:srgbClr val="B1BBCC"/>
                </a:solidFill>
                <a:latin typeface="Aptos"/>
              </a:rPr>
              <a:t>createQueryBuilder construye la consulta paso a paso; getResult() es quien finalmente la ejecuta.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510528"/>
            <a:ext cx="3657600" cy="164592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l"/>
            <a:r>
              <a:rPr sz="800" b="1">
                <a:solidFill>
                  <a:srgbClr val="B1BBCC"/>
                </a:solidFill>
                <a:latin typeface="Aptos"/>
              </a:rPr>
              <a:t>CINE APP · HOSTINGER COMPARTIDO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1828800"/>
            <a:ext cx="5257800" cy="3246120"/>
          </a:xfrm>
          <a:prstGeom prst="roundRect">
            <a:avLst/>
          </a:prstGeom>
          <a:solidFill>
            <a:srgbClr val="172238"/>
          </a:solidFill>
          <a:ln>
            <a:solidFill>
              <a:srgbClr val="2A3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11480" y="1828800"/>
            <a:ext cx="64008" cy="3246120"/>
          </a:xfrm>
          <a:prstGeom prst="roundRect">
            <a:avLst/>
          </a:prstGeom>
          <a:solidFill>
            <a:srgbClr val="36D3DD"/>
          </a:solidFill>
          <a:ln>
            <a:solidFill>
              <a:srgbClr val="36D3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011680"/>
            <a:ext cx="4846320" cy="292608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ptos"/>
              </a:rPr>
              <a:t>FUNCIONREPOSITORY.PHP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468880"/>
            <a:ext cx="4846320" cy="2468879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l"/>
            <a:r>
              <a:rPr sz="1250" b="0">
                <a:solidFill>
                  <a:srgbClr val="B1BBCC"/>
                </a:solidFill>
                <a:latin typeface="Aptos"/>
              </a:rPr>
              <a:t>$qb = $this-&gt;createQueryBuilder('f')</a:t>
            </a:r>
            <a:br/>
            <a:r>
              <a:rPr sz="1250" b="0">
                <a:solidFill>
                  <a:srgbClr val="B1BBCC"/>
                </a:solidFill>
                <a:latin typeface="Aptos"/>
              </a:rPr>
              <a:t>  -&gt;join('f.pelicula', 'p')</a:t>
            </a:r>
            <a:br/>
            <a:r>
              <a:rPr sz="1250" b="0">
                <a:solidFill>
                  <a:srgbClr val="B1BBCC"/>
                </a:solidFill>
                <a:latin typeface="Aptos"/>
              </a:rPr>
              <a:t>  -&gt;addSelect('p')</a:t>
            </a:r>
            <a:br/>
            <a:r>
              <a:rPr sz="1250" b="0">
                <a:solidFill>
                  <a:srgbClr val="B1BBCC"/>
                </a:solidFill>
                <a:latin typeface="Aptos"/>
              </a:rPr>
              <a:t>  -&gt;orderBy('p.id', 'ASC')</a:t>
            </a:r>
            <a:br/>
            <a:r>
              <a:rPr sz="1250" b="0">
                <a:solidFill>
                  <a:srgbClr val="B1BBCC"/>
                </a:solidFill>
                <a:latin typeface="Aptos"/>
              </a:rPr>
              <a:t>  -&gt;addOrderBy('f.fechaHora', 'ASC');</a:t>
            </a:r>
            <a:br/>
            <a:br/>
            <a:r>
              <a:rPr sz="1250" b="0">
                <a:solidFill>
                  <a:srgbClr val="B1BBCC"/>
                </a:solidFill>
                <a:latin typeface="Aptos"/>
              </a:rPr>
              <a:t>return $qb-&gt;getQuery()-&gt;getResult();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617720" y="1993392"/>
            <a:ext cx="777240" cy="274320"/>
          </a:xfrm>
          <a:prstGeom prst="roundRect">
            <a:avLst/>
          </a:prstGeom>
          <a:solidFill>
            <a:srgbClr val="36D3DD"/>
          </a:solidFill>
          <a:ln>
            <a:solidFill>
              <a:srgbClr val="36D3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63440" y="2039112"/>
            <a:ext cx="685800" cy="128016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ctr"/>
            <a:r>
              <a:rPr sz="800" b="1">
                <a:solidFill>
                  <a:srgbClr val="0C1323"/>
                </a:solidFill>
                <a:latin typeface="Aptos"/>
              </a:rPr>
              <a:t>ORM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89320" y="1828800"/>
            <a:ext cx="5760720" cy="3246120"/>
          </a:xfrm>
          <a:prstGeom prst="roundRect">
            <a:avLst/>
          </a:prstGeom>
          <a:solidFill>
            <a:srgbClr val="172238"/>
          </a:solidFill>
          <a:ln>
            <a:solidFill>
              <a:srgbClr val="2A3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989320" y="1828800"/>
            <a:ext cx="64008" cy="3246120"/>
          </a:xfrm>
          <a:prstGeom prst="roundRect">
            <a:avLst/>
          </a:prstGeom>
          <a:solidFill>
            <a:srgbClr val="FF9E58"/>
          </a:solidFill>
          <a:ln>
            <a:solidFill>
              <a:srgbClr val="FF9E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7920" y="2011680"/>
            <a:ext cx="5349240" cy="292608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ptos"/>
              </a:rPr>
              <a:t>SQL PURO EQUIVALENTE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2468880"/>
            <a:ext cx="5349240" cy="2468879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l"/>
            <a:r>
              <a:rPr sz="1250" b="0">
                <a:solidFill>
                  <a:srgbClr val="B1BBCC"/>
                </a:solidFill>
                <a:latin typeface="Aptos"/>
              </a:rPr>
              <a:t>SELECT f.*, p.*</a:t>
            </a:r>
            <a:br/>
            <a:r>
              <a:rPr sz="1250" b="0">
                <a:solidFill>
                  <a:srgbClr val="B1BBCC"/>
                </a:solidFill>
                <a:latin typeface="Aptos"/>
              </a:rPr>
              <a:t>FROM funcion AS f</a:t>
            </a:r>
            <a:br/>
            <a:r>
              <a:rPr sz="1250" b="0">
                <a:solidFill>
                  <a:srgbClr val="B1BBCC"/>
                </a:solidFill>
                <a:latin typeface="Aptos"/>
              </a:rPr>
              <a:t>INNER JOIN pelicula AS p</a:t>
            </a:r>
            <a:br/>
            <a:r>
              <a:rPr sz="1250" b="0">
                <a:solidFill>
                  <a:srgbClr val="B1BBCC"/>
                </a:solidFill>
                <a:latin typeface="Aptos"/>
              </a:rPr>
              <a:t>  ON f.pelicula_id = p.id</a:t>
            </a:r>
            <a:br/>
            <a:r>
              <a:rPr sz="1250" b="0">
                <a:solidFill>
                  <a:srgbClr val="B1BBCC"/>
                </a:solidFill>
                <a:latin typeface="Aptos"/>
              </a:rPr>
              <a:t>ORDER BY p.id ASC,</a:t>
            </a:r>
            <a:br/>
            <a:r>
              <a:rPr sz="1250" b="0">
                <a:solidFill>
                  <a:srgbClr val="B1BBCC"/>
                </a:solidFill>
                <a:latin typeface="Aptos"/>
              </a:rPr>
              <a:t>         f.fecha_hora ASC;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698480" y="1993392"/>
            <a:ext cx="777240" cy="274320"/>
          </a:xfrm>
          <a:prstGeom prst="roundRect">
            <a:avLst/>
          </a:prstGeom>
          <a:solidFill>
            <a:srgbClr val="FF9E58"/>
          </a:solidFill>
          <a:ln>
            <a:solidFill>
              <a:srgbClr val="FF9E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744200" y="2039112"/>
            <a:ext cx="685800" cy="128016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ctr"/>
            <a:r>
              <a:rPr sz="800" b="1">
                <a:solidFill>
                  <a:srgbClr val="0C1323"/>
                </a:solidFill>
                <a:latin typeface="Aptos"/>
              </a:rPr>
              <a:t>SQL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5321808"/>
            <a:ext cx="10972800" cy="320040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ctr"/>
            <a:r>
              <a:rPr sz="1300" b="1">
                <a:solidFill>
                  <a:srgbClr val="53D68E"/>
                </a:solidFill>
                <a:latin typeface="Aptos"/>
              </a:rPr>
              <a:t>f = alias de Funcion/funcion   ·   p = alias de Pelicula/pelicula   ·   JOIN une ambas tablas mediante pelicula_id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4360" y="5760720"/>
            <a:ext cx="10972800" cy="566928"/>
          </a:xfrm>
          <a:prstGeom prst="roundRect">
            <a:avLst/>
          </a:prstGeom>
          <a:solidFill>
            <a:srgbClr val="172238"/>
          </a:solidFill>
          <a:ln>
            <a:solidFill>
              <a:srgbClr val="1722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5943600"/>
            <a:ext cx="10515600" cy="228600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onsolas"/>
              </a:rPr>
              <a:t>Con ?fecha=2026-07-30:  WHERE f.fecha_hora &gt;= :inicio AND f.fecha_hora &lt; :fin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3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53D68E"/>
          </a:solidFill>
          <a:ln>
            <a:solidFill>
              <a:srgbClr val="53D6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2743200" cy="228600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l"/>
            <a:r>
              <a:rPr sz="1000" b="1">
                <a:solidFill>
                  <a:srgbClr val="53D68E"/>
                </a:solidFill>
                <a:latin typeface="Aptos"/>
              </a:rPr>
              <a:t>ARQUITECTURA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320040"/>
            <a:ext cx="502920" cy="228600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r"/>
            <a:r>
              <a:rPr sz="1000" b="1">
                <a:solidFill>
                  <a:srgbClr val="B1BBCC"/>
                </a:solidFill>
                <a:latin typeface="Aptos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58952"/>
            <a:ext cx="10698480" cy="502920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Aptos"/>
              </a:rPr>
              <a:t>Una responsabilidad por capa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1353312"/>
            <a:ext cx="10607040" cy="365760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l"/>
            <a:r>
              <a:rPr sz="1300" b="0">
                <a:solidFill>
                  <a:srgbClr val="B1BBCC"/>
                </a:solidFill>
                <a:latin typeface="Aptos"/>
              </a:rPr>
              <a:t>Separar HTTP, reglas, consultas y datos hace que el código sea más legible, reutilizable y comprobable.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510528"/>
            <a:ext cx="3657600" cy="164592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l"/>
            <a:r>
              <a:rPr sz="800" b="1">
                <a:solidFill>
                  <a:srgbClr val="B1BBCC"/>
                </a:solidFill>
                <a:latin typeface="Aptos"/>
              </a:rPr>
              <a:t>CINE APP · HOSTINGER COMPARTIDO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0040" y="1828800"/>
            <a:ext cx="2514600" cy="3429000"/>
          </a:xfrm>
          <a:prstGeom prst="roundRect">
            <a:avLst/>
          </a:prstGeom>
          <a:solidFill>
            <a:srgbClr val="172238"/>
          </a:solidFill>
          <a:ln>
            <a:solidFill>
              <a:srgbClr val="2A3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20040" y="1828800"/>
            <a:ext cx="64008" cy="3429000"/>
          </a:xfrm>
          <a:prstGeom prst="roundRect">
            <a:avLst/>
          </a:prstGeom>
          <a:solidFill>
            <a:srgbClr val="FF9E58"/>
          </a:solidFill>
          <a:ln>
            <a:solidFill>
              <a:srgbClr val="FF9E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011680"/>
            <a:ext cx="2103120" cy="292608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ptos"/>
              </a:rPr>
              <a:t>CONTROLLER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468880"/>
            <a:ext cx="2103120" cy="2651760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l"/>
            <a:r>
              <a:rPr sz="1250" b="0">
                <a:solidFill>
                  <a:srgbClr val="B1BBCC"/>
                </a:solidFill>
                <a:latin typeface="Aptos"/>
              </a:rPr>
              <a:t>Recibe Request</a:t>
            </a:r>
            <a:br/>
            <a:r>
              <a:rPr sz="1250" b="0">
                <a:solidFill>
                  <a:srgbClr val="B1BBCC"/>
                </a:solidFill>
                <a:latin typeface="Aptos"/>
              </a:rPr>
              <a:t>Valida formato HTTP</a:t>
            </a:r>
            <a:br/>
            <a:r>
              <a:rPr sz="1250" b="0">
                <a:solidFill>
                  <a:srgbClr val="B1BBCC"/>
                </a:solidFill>
                <a:latin typeface="Aptos"/>
              </a:rPr>
              <a:t>Elige 200/400/404</a:t>
            </a:r>
            <a:br/>
            <a:r>
              <a:rPr sz="1250" b="0">
                <a:solidFill>
                  <a:srgbClr val="B1BBCC"/>
                </a:solidFill>
                <a:latin typeface="Aptos"/>
              </a:rPr>
              <a:t>Construye JsonResponse</a:t>
            </a:r>
            <a:br/>
            <a:br/>
            <a:r>
              <a:rPr sz="1250" b="0">
                <a:solidFill>
                  <a:srgbClr val="B1BBCC"/>
                </a:solidFill>
                <a:latin typeface="Aptos"/>
              </a:rPr>
              <a:t>No escribe consultas SQL.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783080" y="1993392"/>
            <a:ext cx="777240" cy="274320"/>
          </a:xfrm>
          <a:prstGeom prst="roundRect">
            <a:avLst/>
          </a:prstGeom>
          <a:solidFill>
            <a:srgbClr val="FF9E58"/>
          </a:solidFill>
          <a:ln>
            <a:solidFill>
              <a:srgbClr val="FF9E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828800" y="2039112"/>
            <a:ext cx="685800" cy="128016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ctr"/>
            <a:r>
              <a:rPr sz="800" b="1">
                <a:solidFill>
                  <a:srgbClr val="0C1323"/>
                </a:solidFill>
                <a:latin typeface="Aptos"/>
              </a:rPr>
              <a:t>HTTP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017520" y="1828800"/>
            <a:ext cx="2514600" cy="3429000"/>
          </a:xfrm>
          <a:prstGeom prst="roundRect">
            <a:avLst/>
          </a:prstGeom>
          <a:solidFill>
            <a:srgbClr val="172238"/>
          </a:solidFill>
          <a:ln>
            <a:solidFill>
              <a:srgbClr val="2A3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017520" y="1828800"/>
            <a:ext cx="64008" cy="3429000"/>
          </a:xfrm>
          <a:prstGeom prst="roundRect">
            <a:avLst/>
          </a:prstGeom>
          <a:solidFill>
            <a:srgbClr val="53D68E"/>
          </a:solidFill>
          <a:ln>
            <a:solidFill>
              <a:srgbClr val="53D6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46120" y="2011680"/>
            <a:ext cx="2103120" cy="292608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ptos"/>
              </a:rPr>
              <a:t>SERVICE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46120" y="2468880"/>
            <a:ext cx="2103120" cy="2651760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l"/>
            <a:r>
              <a:rPr sz="1250" b="0">
                <a:solidFill>
                  <a:srgbClr val="B1BBCC"/>
                </a:solidFill>
                <a:latin typeface="Aptos"/>
              </a:rPr>
              <a:t>Coordina casos de uso</a:t>
            </a:r>
            <a:br/>
            <a:r>
              <a:rPr sz="1250" b="0">
                <a:solidFill>
                  <a:srgbClr val="B1BBCC"/>
                </a:solidFill>
                <a:latin typeface="Aptos"/>
              </a:rPr>
              <a:t>y reglas del negocio.</a:t>
            </a:r>
            <a:br/>
            <a:br/>
            <a:r>
              <a:rPr sz="1250" b="0">
                <a:solidFill>
                  <a:srgbClr val="B1BBCC"/>
                </a:solidFill>
                <a:latin typeface="Aptos"/>
              </a:rPr>
              <a:t>Ejemplo actual:</a:t>
            </a:r>
            <a:br/>
            <a:r>
              <a:rPr sz="1250" b="0">
                <a:solidFill>
                  <a:srgbClr val="B1BBCC"/>
                </a:solidFill>
                <a:latin typeface="Aptos"/>
              </a:rPr>
              <a:t>HealthService</a:t>
            </a:r>
            <a:br/>
            <a:br/>
            <a:r>
              <a:rPr sz="1250" b="0">
                <a:solidFill>
                  <a:srgbClr val="B1BBCC"/>
                </a:solidFill>
                <a:latin typeface="Aptos"/>
              </a:rPr>
              <a:t>No es obligatorio si sólo delega.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480560" y="1993392"/>
            <a:ext cx="777240" cy="274320"/>
          </a:xfrm>
          <a:prstGeom prst="roundRect">
            <a:avLst/>
          </a:prstGeom>
          <a:solidFill>
            <a:srgbClr val="53D68E"/>
          </a:solidFill>
          <a:ln>
            <a:solidFill>
              <a:srgbClr val="53D6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26279" y="2039112"/>
            <a:ext cx="685800" cy="128016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ctr"/>
            <a:r>
              <a:rPr sz="800" b="1">
                <a:solidFill>
                  <a:srgbClr val="0C1323"/>
                </a:solidFill>
                <a:latin typeface="Aptos"/>
              </a:rPr>
              <a:t>NEGOCIO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715000" y="1828800"/>
            <a:ext cx="2514600" cy="3429000"/>
          </a:xfrm>
          <a:prstGeom prst="roundRect">
            <a:avLst/>
          </a:prstGeom>
          <a:solidFill>
            <a:srgbClr val="172238"/>
          </a:solidFill>
          <a:ln>
            <a:solidFill>
              <a:srgbClr val="2A3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715000" y="1828800"/>
            <a:ext cx="64008" cy="3429000"/>
          </a:xfrm>
          <a:prstGeom prst="roundRect">
            <a:avLst/>
          </a:prstGeom>
          <a:solidFill>
            <a:srgbClr val="36D3DD"/>
          </a:solidFill>
          <a:ln>
            <a:solidFill>
              <a:srgbClr val="36D3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0" y="2011680"/>
            <a:ext cx="2103120" cy="292608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ptos"/>
              </a:rPr>
              <a:t>REPOSITORY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0" y="2468880"/>
            <a:ext cx="2103120" cy="2651760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l"/>
            <a:r>
              <a:rPr sz="1250" b="0">
                <a:solidFill>
                  <a:srgbClr val="B1BBCC"/>
                </a:solidFill>
                <a:latin typeface="Aptos"/>
              </a:rPr>
              <a:t>Centraliza consultas</a:t>
            </a:r>
            <a:br/>
            <a:r>
              <a:rPr sz="1250" b="0">
                <a:solidFill>
                  <a:srgbClr val="B1BBCC"/>
                </a:solidFill>
                <a:latin typeface="Aptos"/>
              </a:rPr>
              <a:t>QueryBuilder / Doctrine</a:t>
            </a:r>
            <a:br/>
            <a:r>
              <a:rPr sz="1250" b="0">
                <a:solidFill>
                  <a:srgbClr val="B1BBCC"/>
                </a:solidFill>
                <a:latin typeface="Aptos"/>
              </a:rPr>
              <a:t>Filtros y ordenamiento</a:t>
            </a:r>
            <a:br/>
            <a:br/>
            <a:r>
              <a:rPr sz="1250" b="0">
                <a:solidFill>
                  <a:srgbClr val="B1BBCC"/>
                </a:solidFill>
                <a:latin typeface="Aptos"/>
              </a:rPr>
              <a:t>FuncionRepository</a:t>
            </a:r>
            <a:br/>
            <a:r>
              <a:rPr sz="1250" b="0">
                <a:solidFill>
                  <a:srgbClr val="B1BBCC"/>
                </a:solidFill>
                <a:latin typeface="Aptos"/>
              </a:rPr>
              <a:t>AsientoRepository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178040" y="1993392"/>
            <a:ext cx="777240" cy="274320"/>
          </a:xfrm>
          <a:prstGeom prst="roundRect">
            <a:avLst/>
          </a:prstGeom>
          <a:solidFill>
            <a:srgbClr val="36D3DD"/>
          </a:solidFill>
          <a:ln>
            <a:solidFill>
              <a:srgbClr val="36D3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223760" y="2039112"/>
            <a:ext cx="685800" cy="128016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ctr"/>
            <a:r>
              <a:rPr sz="800" b="1">
                <a:solidFill>
                  <a:srgbClr val="0C1323"/>
                </a:solidFill>
                <a:latin typeface="Aptos"/>
              </a:rPr>
              <a:t>DATOS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412480" y="1828800"/>
            <a:ext cx="2514600" cy="3429000"/>
          </a:xfrm>
          <a:prstGeom prst="roundRect">
            <a:avLst/>
          </a:prstGeom>
          <a:solidFill>
            <a:srgbClr val="172238"/>
          </a:solidFill>
          <a:ln>
            <a:solidFill>
              <a:srgbClr val="2A3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8412480" y="1828800"/>
            <a:ext cx="64008" cy="3429000"/>
          </a:xfrm>
          <a:prstGeom prst="roundRect">
            <a:avLst/>
          </a:prstGeom>
          <a:solidFill>
            <a:srgbClr val="FF6978"/>
          </a:solidFill>
          <a:ln>
            <a:solidFill>
              <a:srgbClr val="FF69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641080" y="2011680"/>
            <a:ext cx="2103120" cy="292608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ptos"/>
              </a:rPr>
              <a:t>ENTITY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41080" y="2468880"/>
            <a:ext cx="2103120" cy="2651760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l"/>
            <a:r>
              <a:rPr sz="1250" b="0">
                <a:solidFill>
                  <a:srgbClr val="B1BBCC"/>
                </a:solidFill>
                <a:latin typeface="Aptos"/>
              </a:rPr>
              <a:t>Representa el dominio</a:t>
            </a:r>
            <a:br/>
            <a:r>
              <a:rPr sz="1250" b="0">
                <a:solidFill>
                  <a:srgbClr val="B1BBCC"/>
                </a:solidFill>
                <a:latin typeface="Aptos"/>
              </a:rPr>
              <a:t>y su mapeo ORM.</a:t>
            </a:r>
            <a:br/>
            <a:br/>
            <a:r>
              <a:rPr sz="1250" b="0">
                <a:solidFill>
                  <a:srgbClr val="B1BBCC"/>
                </a:solidFill>
                <a:latin typeface="Aptos"/>
              </a:rPr>
              <a:t>Funcion</a:t>
            </a:r>
            <a:br/>
            <a:r>
              <a:rPr sz="1250" b="0">
                <a:solidFill>
                  <a:srgbClr val="B1BBCC"/>
                </a:solidFill>
                <a:latin typeface="Aptos"/>
              </a:rPr>
              <a:t>Pelicula</a:t>
            </a:r>
            <a:br/>
            <a:r>
              <a:rPr sz="1250" b="0">
                <a:solidFill>
                  <a:srgbClr val="B1BBCC"/>
                </a:solidFill>
                <a:latin typeface="Aptos"/>
              </a:rPr>
              <a:t>Asiento</a:t>
            </a:r>
            <a:br/>
            <a:br/>
            <a:r>
              <a:rPr sz="1250" b="0">
                <a:solidFill>
                  <a:srgbClr val="B1BBCC"/>
                </a:solidFill>
                <a:latin typeface="Aptos"/>
              </a:rPr>
              <a:t>No conoce HTTP.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875519" y="1993392"/>
            <a:ext cx="777240" cy="274320"/>
          </a:xfrm>
          <a:prstGeom prst="roundRect">
            <a:avLst/>
          </a:prstGeom>
          <a:solidFill>
            <a:srgbClr val="FF6978"/>
          </a:solidFill>
          <a:ln>
            <a:solidFill>
              <a:srgbClr val="FF69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921240" y="2039112"/>
            <a:ext cx="685800" cy="128016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ctr"/>
            <a:r>
              <a:rPr sz="800" b="1">
                <a:solidFill>
                  <a:srgbClr val="0C1323"/>
                </a:solidFill>
                <a:latin typeface="Aptos"/>
              </a:rPr>
              <a:t>MODELO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94360" y="5623560"/>
            <a:ext cx="10972800" cy="566928"/>
          </a:xfrm>
          <a:prstGeom prst="roundRect">
            <a:avLst/>
          </a:prstGeom>
          <a:solidFill>
            <a:srgbClr val="172238"/>
          </a:solidFill>
          <a:ln>
            <a:solidFill>
              <a:srgbClr val="1722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2960" y="5806440"/>
            <a:ext cx="10515600" cy="228600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Frontend → Controller → Service (si hay reglas) → Repository → Doctrine ORM → MariaDB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3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53D68E"/>
          </a:solidFill>
          <a:ln>
            <a:solidFill>
              <a:srgbClr val="53D6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2743200" cy="228600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l"/>
            <a:r>
              <a:rPr sz="1000" b="1">
                <a:solidFill>
                  <a:srgbClr val="53D68E"/>
                </a:solidFill>
                <a:latin typeface="Aptos"/>
              </a:rPr>
              <a:t>REFACTOR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320040"/>
            <a:ext cx="502920" cy="228600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r"/>
            <a:r>
              <a:rPr sz="1000" b="1">
                <a:solidFill>
                  <a:srgbClr val="B1BBCC"/>
                </a:solidFill>
                <a:latin typeface="Aptos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58952"/>
            <a:ext cx="10698480" cy="502920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Aptos"/>
              </a:rPr>
              <a:t>Cómo quedó Cine App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1353312"/>
            <a:ext cx="10607040" cy="365760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l"/>
            <a:r>
              <a:rPr sz="1300" b="0">
                <a:solidFill>
                  <a:srgbClr val="B1BBCC"/>
                </a:solidFill>
                <a:latin typeface="Aptos"/>
              </a:rPr>
              <a:t>El Controller pide datos con métodos que expresan intención; cada Repository encapsula los detalles de acceso.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510528"/>
            <a:ext cx="3657600" cy="164592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l"/>
            <a:r>
              <a:rPr sz="800" b="1">
                <a:solidFill>
                  <a:srgbClr val="B1BBCC"/>
                </a:solidFill>
                <a:latin typeface="Aptos"/>
              </a:rPr>
              <a:t>CINE APP · HOSTINGER COMPARTIDO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1828800"/>
            <a:ext cx="3474720" cy="3566160"/>
          </a:xfrm>
          <a:prstGeom prst="roundRect">
            <a:avLst/>
          </a:prstGeom>
          <a:solidFill>
            <a:srgbClr val="172238"/>
          </a:solidFill>
          <a:ln>
            <a:solidFill>
              <a:srgbClr val="2A3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11480" y="1828800"/>
            <a:ext cx="64008" cy="3566160"/>
          </a:xfrm>
          <a:prstGeom prst="roundRect">
            <a:avLst/>
          </a:prstGeom>
          <a:solidFill>
            <a:srgbClr val="FF9E58"/>
          </a:solidFill>
          <a:ln>
            <a:solidFill>
              <a:srgbClr val="FF9E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011680"/>
            <a:ext cx="3063239" cy="292608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ptos"/>
              </a:rPr>
              <a:t>FUNCIONCONTROLLER.PHP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468880"/>
            <a:ext cx="3063239" cy="2788920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l"/>
            <a:r>
              <a:rPr sz="1250" b="0">
                <a:solidFill>
                  <a:srgbClr val="B1BBCC"/>
                </a:solidFill>
                <a:latin typeface="Aptos"/>
              </a:rPr>
              <a:t>list(</a:t>
            </a:r>
            <a:br/>
            <a:r>
              <a:rPr sz="1250" b="0">
                <a:solidFill>
                  <a:srgbClr val="B1BBCC"/>
                </a:solidFill>
                <a:latin typeface="Aptos"/>
              </a:rPr>
              <a:t>  #[MapQueryParameter]</a:t>
            </a:r>
            <a:br/>
            <a:r>
              <a:rPr sz="1250" b="0">
                <a:solidFill>
                  <a:srgbClr val="B1BBCC"/>
                </a:solidFill>
                <a:latin typeface="Aptos"/>
              </a:rPr>
              <a:t>  ?string $fecha = null</a:t>
            </a:r>
            <a:br/>
            <a:r>
              <a:rPr sz="1250" b="0">
                <a:solidFill>
                  <a:srgbClr val="B1BBCC"/>
                </a:solidFill>
                <a:latin typeface="Aptos"/>
              </a:rPr>
              <a:t>)</a:t>
            </a:r>
            <a:br/>
            <a:br/>
            <a:r>
              <a:rPr sz="1250" b="0">
                <a:solidFill>
                  <a:srgbClr val="B1BBCC"/>
                </a:solidFill>
                <a:latin typeface="Aptos"/>
              </a:rPr>
              <a:t>$funciones = $this-&gt;funcionRepository</a:t>
            </a:r>
            <a:br/>
            <a:r>
              <a:rPr sz="1250" b="0">
                <a:solidFill>
                  <a:srgbClr val="B1BBCC"/>
                </a:solidFill>
                <a:latin typeface="Aptos"/>
              </a:rPr>
              <a:t>  -&gt;findCartelera($inicio, $fin);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834640" y="1993392"/>
            <a:ext cx="777240" cy="274320"/>
          </a:xfrm>
          <a:prstGeom prst="roundRect">
            <a:avLst/>
          </a:prstGeom>
          <a:solidFill>
            <a:srgbClr val="FF9E58"/>
          </a:solidFill>
          <a:ln>
            <a:solidFill>
              <a:srgbClr val="FF9E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880360" y="2039112"/>
            <a:ext cx="685800" cy="128016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ctr"/>
            <a:r>
              <a:rPr sz="800" b="1">
                <a:solidFill>
                  <a:srgbClr val="0C1323"/>
                </a:solidFill>
                <a:latin typeface="Aptos"/>
              </a:rPr>
              <a:t>CONTROLLER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77639" y="3063240"/>
            <a:ext cx="502920" cy="457200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ctr"/>
            <a:r>
              <a:rPr sz="2600" b="1">
                <a:solidFill>
                  <a:srgbClr val="53D68E"/>
                </a:solidFill>
                <a:latin typeface="Aptos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0" y="1828800"/>
            <a:ext cx="3063240" cy="3566160"/>
          </a:xfrm>
          <a:prstGeom prst="roundRect">
            <a:avLst/>
          </a:prstGeom>
          <a:solidFill>
            <a:srgbClr val="172238"/>
          </a:solidFill>
          <a:ln>
            <a:solidFill>
              <a:srgbClr val="2A3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572000" y="1828800"/>
            <a:ext cx="64008" cy="3566160"/>
          </a:xfrm>
          <a:prstGeom prst="roundRect">
            <a:avLst/>
          </a:prstGeom>
          <a:solidFill>
            <a:srgbClr val="36D3DD"/>
          </a:solidFill>
          <a:ln>
            <a:solidFill>
              <a:srgbClr val="36D3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800600" y="2011680"/>
            <a:ext cx="2651760" cy="292608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ptos"/>
              </a:rPr>
              <a:t>FUNCIONREPOSITORY.PHP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0600" y="2468880"/>
            <a:ext cx="2651760" cy="2788920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l"/>
            <a:r>
              <a:rPr sz="1250" b="0">
                <a:solidFill>
                  <a:srgbClr val="B1BBCC"/>
                </a:solidFill>
                <a:latin typeface="Aptos"/>
              </a:rPr>
              <a:t>findCartelera($inicio, $fin)</a:t>
            </a:r>
            <a:br/>
            <a:r>
              <a:rPr sz="1250" b="0">
                <a:solidFill>
                  <a:srgbClr val="B1BBCC"/>
                </a:solidFill>
                <a:latin typeface="Aptos"/>
              </a:rPr>
              <a:t>find($id)</a:t>
            </a:r>
            <a:br/>
            <a:br/>
            <a:r>
              <a:rPr sz="1250" b="0">
                <a:solidFill>
                  <a:srgbClr val="B1BBCC"/>
                </a:solidFill>
                <a:latin typeface="Aptos"/>
              </a:rPr>
              <a:t>JOIN con película</a:t>
            </a:r>
            <a:br/>
            <a:r>
              <a:rPr sz="1250" b="0">
                <a:solidFill>
                  <a:srgbClr val="B1BBCC"/>
                </a:solidFill>
                <a:latin typeface="Aptos"/>
              </a:rPr>
              <a:t>Filtro por fecha</a:t>
            </a:r>
            <a:br/>
            <a:r>
              <a:rPr sz="1250" b="0">
                <a:solidFill>
                  <a:srgbClr val="B1BBCC"/>
                </a:solidFill>
                <a:latin typeface="Aptos"/>
              </a:rPr>
              <a:t>Ordenamiento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79" y="1993392"/>
            <a:ext cx="777240" cy="274320"/>
          </a:xfrm>
          <a:prstGeom prst="roundRect">
            <a:avLst/>
          </a:prstGeom>
          <a:solidFill>
            <a:srgbClr val="36D3DD"/>
          </a:solidFill>
          <a:ln>
            <a:solidFill>
              <a:srgbClr val="36D3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29400" y="2039112"/>
            <a:ext cx="685800" cy="128016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ctr"/>
            <a:r>
              <a:rPr sz="800" b="1">
                <a:solidFill>
                  <a:srgbClr val="0C1323"/>
                </a:solidFill>
                <a:latin typeface="Aptos"/>
              </a:rPr>
              <a:t>CONSULTAS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44968" y="3063240"/>
            <a:ext cx="411480" cy="457200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ctr"/>
            <a:r>
              <a:rPr sz="2600" b="1">
                <a:solidFill>
                  <a:srgbClr val="53D68E"/>
                </a:solidFill>
                <a:latin typeface="Aptos"/>
              </a:rPr>
              <a:t>+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0" y="1828800"/>
            <a:ext cx="3520440" cy="3566160"/>
          </a:xfrm>
          <a:prstGeom prst="roundRect">
            <a:avLst/>
          </a:prstGeom>
          <a:solidFill>
            <a:srgbClr val="172238"/>
          </a:solidFill>
          <a:ln>
            <a:solidFill>
              <a:srgbClr val="2A3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229600" y="1828800"/>
            <a:ext cx="64008" cy="3566160"/>
          </a:xfrm>
          <a:prstGeom prst="roundRect">
            <a:avLst/>
          </a:prstGeom>
          <a:solidFill>
            <a:srgbClr val="53D68E"/>
          </a:solidFill>
          <a:ln>
            <a:solidFill>
              <a:srgbClr val="53D6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58200" y="2011680"/>
            <a:ext cx="3108960" cy="292608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ptos"/>
              </a:rPr>
              <a:t>ASIENTOREPOSITORY.PHP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58200" y="2468880"/>
            <a:ext cx="3108960" cy="2788920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l"/>
            <a:r>
              <a:rPr sz="1250" b="0">
                <a:solidFill>
                  <a:srgbClr val="B1BBCC"/>
                </a:solidFill>
                <a:latin typeface="Aptos"/>
              </a:rPr>
              <a:t>findByFuncionOrdenados(</a:t>
            </a:r>
            <a:br/>
            <a:r>
              <a:rPr sz="1250" b="0">
                <a:solidFill>
                  <a:srgbClr val="B1BBCC"/>
                </a:solidFill>
                <a:latin typeface="Aptos"/>
              </a:rPr>
              <a:t>    $funcion</a:t>
            </a:r>
            <a:br/>
            <a:r>
              <a:rPr sz="1250" b="0">
                <a:solidFill>
                  <a:srgbClr val="B1BBCC"/>
                </a:solidFill>
                <a:latin typeface="Aptos"/>
              </a:rPr>
              <a:t>)</a:t>
            </a:r>
            <a:br/>
            <a:br/>
            <a:r>
              <a:rPr sz="1250" b="0">
                <a:solidFill>
                  <a:srgbClr val="B1BBCC"/>
                </a:solidFill>
                <a:latin typeface="Aptos"/>
              </a:rPr>
              <a:t>Filtra por función</a:t>
            </a:r>
            <a:br/>
            <a:r>
              <a:rPr sz="1250" b="0">
                <a:solidFill>
                  <a:srgbClr val="B1BBCC"/>
                </a:solidFill>
                <a:latin typeface="Aptos"/>
              </a:rPr>
              <a:t>Ordena fila y número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698480" y="1993392"/>
            <a:ext cx="777240" cy="274320"/>
          </a:xfrm>
          <a:prstGeom prst="roundRect">
            <a:avLst/>
          </a:prstGeom>
          <a:solidFill>
            <a:srgbClr val="53D68E"/>
          </a:solidFill>
          <a:ln>
            <a:solidFill>
              <a:srgbClr val="53D6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744200" y="2039112"/>
            <a:ext cx="685800" cy="128016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ctr"/>
            <a:r>
              <a:rPr sz="800" b="1">
                <a:solidFill>
                  <a:srgbClr val="0C1323"/>
                </a:solidFill>
                <a:latin typeface="Aptos"/>
              </a:rPr>
              <a:t>CONSULTAS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5897880"/>
            <a:ext cx="11155680" cy="320040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ctr"/>
            <a:r>
              <a:rPr sz="1100" b="1">
                <a:solidFill>
                  <a:srgbClr val="36D3DD"/>
                </a:solidFill>
                <a:latin typeface="Consolas"/>
              </a:rPr>
              <a:t>Archivos: src/Controller/FuncionController.php · src/Repository/FuncionRepository.php · src/Repository/AsientoRepository.php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3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53D68E"/>
          </a:solidFill>
          <a:ln>
            <a:solidFill>
              <a:srgbClr val="53D6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2743200" cy="228600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l"/>
            <a:r>
              <a:rPr sz="1000" b="1">
                <a:solidFill>
                  <a:srgbClr val="53D68E"/>
                </a:solidFill>
                <a:latin typeface="Aptos"/>
              </a:rPr>
              <a:t>PARÁMETROS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320040"/>
            <a:ext cx="502920" cy="228600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r"/>
            <a:r>
              <a:rPr sz="1000" b="1">
                <a:solidFill>
                  <a:srgbClr val="B1BBCC"/>
                </a:solidFill>
                <a:latin typeface="Aptos"/>
              </a:rP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58952"/>
            <a:ext cx="10698480" cy="502920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Aptos"/>
              </a:rPr>
              <a:t>Query parameter explícito en list()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1353312"/>
            <a:ext cx="10607040" cy="365760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l"/>
            <a:r>
              <a:rPr sz="1300" b="0">
                <a:solidFill>
                  <a:srgbClr val="B1BBCC"/>
                </a:solidFill>
                <a:latin typeface="Aptos"/>
              </a:rPr>
              <a:t>El método recibe únicamente el dato que necesita, en lugar de recibir todo Request para extraerlo manualmente.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510528"/>
            <a:ext cx="3657600" cy="164592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l"/>
            <a:r>
              <a:rPr sz="800" b="1">
                <a:solidFill>
                  <a:srgbClr val="B1BBCC"/>
                </a:solidFill>
                <a:latin typeface="Aptos"/>
              </a:rPr>
              <a:t>CINE APP · HOSTINGER COMPARTIDO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965960"/>
            <a:ext cx="3154680" cy="3154680"/>
          </a:xfrm>
          <a:prstGeom prst="roundRect">
            <a:avLst/>
          </a:prstGeom>
          <a:solidFill>
            <a:srgbClr val="172238"/>
          </a:solidFill>
          <a:ln>
            <a:solidFill>
              <a:srgbClr val="2A3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57200" y="1965960"/>
            <a:ext cx="64008" cy="3154680"/>
          </a:xfrm>
          <a:prstGeom prst="roundRect">
            <a:avLst/>
          </a:prstGeom>
          <a:solidFill>
            <a:srgbClr val="53D68E"/>
          </a:solidFill>
          <a:ln>
            <a:solidFill>
              <a:srgbClr val="53D6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2148840"/>
            <a:ext cx="2743200" cy="292608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ptos"/>
              </a:rPr>
              <a:t>URL SIN FILTRO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606039"/>
            <a:ext cx="2743200" cy="2377440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l"/>
            <a:r>
              <a:rPr sz="1250" b="0">
                <a:solidFill>
                  <a:srgbClr val="B1BBCC"/>
                </a:solidFill>
                <a:latin typeface="Aptos"/>
              </a:rPr>
              <a:t>GET /api/funciones</a:t>
            </a:r>
            <a:br/>
            <a:br/>
            <a:r>
              <a:rPr sz="1250" b="0">
                <a:solidFill>
                  <a:srgbClr val="B1BBCC"/>
                </a:solidFill>
                <a:latin typeface="Aptos"/>
              </a:rPr>
              <a:t>No existe ?fecha</a:t>
            </a:r>
            <a:br/>
            <a:br/>
            <a:r>
              <a:rPr sz="1250" b="0">
                <a:solidFill>
                  <a:srgbClr val="B1BBCC"/>
                </a:solidFill>
                <a:latin typeface="Aptos"/>
              </a:rPr>
              <a:t>$fecha = null</a:t>
            </a:r>
            <a:br/>
            <a:br/>
            <a:r>
              <a:rPr sz="1250" b="0">
                <a:solidFill>
                  <a:srgbClr val="B1BBCC"/>
                </a:solidFill>
                <a:latin typeface="Aptos"/>
              </a:rPr>
              <a:t>Devuelve toda la cartelera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03320" y="3108960"/>
            <a:ext cx="457200" cy="411480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ctr"/>
            <a:r>
              <a:rPr sz="2500" b="1">
                <a:solidFill>
                  <a:srgbClr val="36D3DD"/>
                </a:solidFill>
                <a:latin typeface="Aptos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51960" y="1965960"/>
            <a:ext cx="3657600" cy="3154680"/>
          </a:xfrm>
          <a:prstGeom prst="roundRect">
            <a:avLst/>
          </a:prstGeom>
          <a:solidFill>
            <a:srgbClr val="172238"/>
          </a:solidFill>
          <a:ln>
            <a:solidFill>
              <a:srgbClr val="2A3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251960" y="1965960"/>
            <a:ext cx="64008" cy="3154680"/>
          </a:xfrm>
          <a:prstGeom prst="roundRect">
            <a:avLst/>
          </a:prstGeom>
          <a:solidFill>
            <a:srgbClr val="36D3DD"/>
          </a:solidFill>
          <a:ln>
            <a:solidFill>
              <a:srgbClr val="36D3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80560" y="2148840"/>
            <a:ext cx="3246120" cy="292608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ptos"/>
              </a:rPr>
              <a:t>FIRMA EXPLÍCITA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0560" y="2606039"/>
            <a:ext cx="3246120" cy="2377440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l"/>
            <a:r>
              <a:rPr sz="1250" b="0">
                <a:solidFill>
                  <a:srgbClr val="B1BBCC"/>
                </a:solidFill>
                <a:latin typeface="Aptos"/>
              </a:rPr>
              <a:t>public function list(</a:t>
            </a:r>
            <a:br/>
            <a:r>
              <a:rPr sz="1250" b="0">
                <a:solidFill>
                  <a:srgbClr val="B1BBCC"/>
                </a:solidFill>
                <a:latin typeface="Aptos"/>
              </a:rPr>
              <a:t>  #[MapQueryParameter]</a:t>
            </a:r>
            <a:br/>
            <a:r>
              <a:rPr sz="1250" b="0">
                <a:solidFill>
                  <a:srgbClr val="B1BBCC"/>
                </a:solidFill>
                <a:latin typeface="Aptos"/>
              </a:rPr>
              <a:t>  ?string $fecha = null</a:t>
            </a:r>
            <a:br/>
            <a:r>
              <a:rPr sz="1250" b="0">
                <a:solidFill>
                  <a:srgbClr val="B1BBCC"/>
                </a:solidFill>
                <a:latin typeface="Aptos"/>
              </a:rPr>
              <a:t>): JsonResponse</a:t>
            </a:r>
            <a:br/>
            <a:br/>
            <a:r>
              <a:rPr sz="1250" b="0">
                <a:solidFill>
                  <a:srgbClr val="B1BBCC"/>
                </a:solidFill>
                <a:latin typeface="Aptos"/>
              </a:rPr>
              <a:t>Symfony hace el mapeo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0" y="2130552"/>
            <a:ext cx="777240" cy="274320"/>
          </a:xfrm>
          <a:prstGeom prst="roundRect">
            <a:avLst/>
          </a:prstGeom>
          <a:solidFill>
            <a:srgbClr val="36D3DD"/>
          </a:solidFill>
          <a:ln>
            <a:solidFill>
              <a:srgbClr val="36D3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903720" y="2176272"/>
            <a:ext cx="685800" cy="128016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ctr"/>
            <a:r>
              <a:rPr sz="800" b="1">
                <a:solidFill>
                  <a:srgbClr val="0C1323"/>
                </a:solidFill>
                <a:latin typeface="Aptos"/>
              </a:rPr>
              <a:t>SYMFONY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01000" y="3108960"/>
            <a:ext cx="457200" cy="411480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ctr"/>
            <a:r>
              <a:rPr sz="2500" b="1">
                <a:solidFill>
                  <a:srgbClr val="36D3DD"/>
                </a:solidFill>
                <a:latin typeface="Aptos"/>
              </a:rPr>
              <a:t>←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549640" y="1965960"/>
            <a:ext cx="3154680" cy="3154680"/>
          </a:xfrm>
          <a:prstGeom prst="roundRect">
            <a:avLst/>
          </a:prstGeom>
          <a:solidFill>
            <a:srgbClr val="172238"/>
          </a:solidFill>
          <a:ln>
            <a:solidFill>
              <a:srgbClr val="2A3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549640" y="1965960"/>
            <a:ext cx="64008" cy="3154680"/>
          </a:xfrm>
          <a:prstGeom prst="roundRect">
            <a:avLst/>
          </a:prstGeom>
          <a:solidFill>
            <a:srgbClr val="FF9E58"/>
          </a:solidFill>
          <a:ln>
            <a:solidFill>
              <a:srgbClr val="FF9E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778240" y="2148840"/>
            <a:ext cx="2743200" cy="292608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ptos"/>
              </a:rPr>
              <a:t>URL CON FILTRO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78240" y="2606039"/>
            <a:ext cx="2743200" cy="2377440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l"/>
            <a:r>
              <a:rPr sz="1250" b="0">
                <a:solidFill>
                  <a:srgbClr val="B1BBCC"/>
                </a:solidFill>
                <a:latin typeface="Aptos"/>
              </a:rPr>
              <a:t>GET /api/funciones</a:t>
            </a:r>
            <a:br/>
            <a:r>
              <a:rPr sz="1250" b="0">
                <a:solidFill>
                  <a:srgbClr val="B1BBCC"/>
                </a:solidFill>
                <a:latin typeface="Aptos"/>
              </a:rPr>
              <a:t>  ?fecha=2026-07-30</a:t>
            </a:r>
            <a:br/>
            <a:br/>
            <a:r>
              <a:rPr sz="1250" b="0">
                <a:solidFill>
                  <a:srgbClr val="B1BBCC"/>
                </a:solidFill>
                <a:latin typeface="Aptos"/>
              </a:rPr>
              <a:t>$fecha = '2026-07-30'</a:t>
            </a:r>
            <a:br/>
            <a:br/>
            <a:r>
              <a:rPr sz="1250" b="0">
                <a:solidFill>
                  <a:srgbClr val="B1BBCC"/>
                </a:solidFill>
                <a:latin typeface="Aptos"/>
              </a:rPr>
              <a:t>Valida y consulta ese día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5800" y="5532120"/>
            <a:ext cx="10789920" cy="566928"/>
          </a:xfrm>
          <a:prstGeom prst="roundRect">
            <a:avLst/>
          </a:prstGeom>
          <a:solidFill>
            <a:srgbClr val="172238"/>
          </a:solidFill>
          <a:ln>
            <a:solidFill>
              <a:srgbClr val="1722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5715000"/>
            <a:ext cx="10287000" cy="228600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?string significa: acepta un string o null   ·   MapQueryParameter indica que el valor viene después del ? en la URL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3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53D68E"/>
          </a:solidFill>
          <a:ln>
            <a:solidFill>
              <a:srgbClr val="53D6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2743200" cy="228600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l"/>
            <a:r>
              <a:rPr sz="1000" b="1">
                <a:solidFill>
                  <a:srgbClr val="53D68E"/>
                </a:solidFill>
                <a:latin typeface="Aptos"/>
              </a:rPr>
              <a:t>HTTP STATUS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320040"/>
            <a:ext cx="502920" cy="228600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r"/>
            <a:r>
              <a:rPr sz="1000" b="1">
                <a:solidFill>
                  <a:srgbClr val="B1BBCC"/>
                </a:solidFill>
                <a:latin typeface="Aptos"/>
              </a:rPr>
              <a:t>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58952"/>
            <a:ext cx="10698480" cy="502920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Aptos"/>
              </a:rPr>
              <a:t>Qué significan los códigos de respuesta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1353312"/>
            <a:ext cx="10607040" cy="365760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l"/>
            <a:r>
              <a:rPr sz="1300" b="0">
                <a:solidFill>
                  <a:srgbClr val="B1BBCC"/>
                </a:solidFill>
                <a:latin typeface="Aptos"/>
              </a:rPr>
              <a:t>El status code resume el resultado de la petición antes de que el frontend lea el JSON.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510528"/>
            <a:ext cx="3657600" cy="164592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l"/>
            <a:r>
              <a:rPr sz="800" b="1">
                <a:solidFill>
                  <a:srgbClr val="B1BBCC"/>
                </a:solidFill>
                <a:latin typeface="Aptos"/>
              </a:rPr>
              <a:t>CINE APP · HOSTINGER COMPARTIDO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1874519"/>
            <a:ext cx="2743200" cy="3611880"/>
          </a:xfrm>
          <a:prstGeom prst="roundRect">
            <a:avLst/>
          </a:prstGeom>
          <a:solidFill>
            <a:srgbClr val="172238"/>
          </a:solidFill>
          <a:ln>
            <a:solidFill>
              <a:srgbClr val="2A3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65760" y="1874519"/>
            <a:ext cx="64008" cy="3611880"/>
          </a:xfrm>
          <a:prstGeom prst="roundRect">
            <a:avLst/>
          </a:prstGeom>
          <a:solidFill>
            <a:srgbClr val="53D68E"/>
          </a:solidFill>
          <a:ln>
            <a:solidFill>
              <a:srgbClr val="53D6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2057400"/>
            <a:ext cx="2331720" cy="292608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ptos"/>
              </a:rPr>
              <a:t>2xx · ÉXITO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514600"/>
            <a:ext cx="2331720" cy="2834640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l"/>
            <a:r>
              <a:rPr sz="1250" b="0">
                <a:solidFill>
                  <a:srgbClr val="B1BBCC"/>
                </a:solidFill>
                <a:latin typeface="Aptos"/>
              </a:rPr>
              <a:t>200 OK</a:t>
            </a:r>
            <a:br/>
            <a:r>
              <a:rPr sz="1250" b="0">
                <a:solidFill>
                  <a:srgbClr val="B1BBCC"/>
                </a:solidFill>
                <a:latin typeface="Aptos"/>
              </a:rPr>
              <a:t>Consulta exitosa con respuesta.</a:t>
            </a:r>
            <a:br/>
            <a:br/>
            <a:r>
              <a:rPr sz="1250" b="0">
                <a:solidFill>
                  <a:srgbClr val="B1BBCC"/>
                </a:solidFill>
                <a:latin typeface="Aptos"/>
              </a:rPr>
              <a:t>201 Created</a:t>
            </a:r>
            <a:br/>
            <a:r>
              <a:rPr sz="1250" b="0">
                <a:solidFill>
                  <a:srgbClr val="B1BBCC"/>
                </a:solidFill>
                <a:latin typeface="Aptos"/>
              </a:rPr>
              <a:t>Recurso creado.</a:t>
            </a:r>
            <a:br/>
            <a:br/>
            <a:r>
              <a:rPr sz="1250" b="0">
                <a:solidFill>
                  <a:srgbClr val="B1BBCC"/>
                </a:solidFill>
                <a:latin typeface="Aptos"/>
              </a:rPr>
              <a:t>204 No Content</a:t>
            </a:r>
            <a:br/>
            <a:r>
              <a:rPr sz="1250" b="0">
                <a:solidFill>
                  <a:srgbClr val="B1BBCC"/>
                </a:solidFill>
                <a:latin typeface="Aptos"/>
              </a:rPr>
              <a:t>Éxito sin body.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057400" y="2039112"/>
            <a:ext cx="777240" cy="274320"/>
          </a:xfrm>
          <a:prstGeom prst="roundRect">
            <a:avLst/>
          </a:prstGeom>
          <a:solidFill>
            <a:srgbClr val="53D68E"/>
          </a:solidFill>
          <a:ln>
            <a:solidFill>
              <a:srgbClr val="53D6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103120" y="2084831"/>
            <a:ext cx="685800" cy="128016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ctr"/>
            <a:r>
              <a:rPr sz="800" b="1">
                <a:solidFill>
                  <a:srgbClr val="0C1323"/>
                </a:solidFill>
                <a:latin typeface="Aptos"/>
              </a:rPr>
              <a:t>OK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37560" y="1874519"/>
            <a:ext cx="3794760" cy="3611880"/>
          </a:xfrm>
          <a:prstGeom prst="roundRect">
            <a:avLst/>
          </a:prstGeom>
          <a:solidFill>
            <a:srgbClr val="172238"/>
          </a:solidFill>
          <a:ln>
            <a:solidFill>
              <a:srgbClr val="2A3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337560" y="1874519"/>
            <a:ext cx="64008" cy="3611880"/>
          </a:xfrm>
          <a:prstGeom prst="roundRect">
            <a:avLst/>
          </a:prstGeom>
          <a:solidFill>
            <a:srgbClr val="FF9E58"/>
          </a:solidFill>
          <a:ln>
            <a:solidFill>
              <a:srgbClr val="FF9E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66160" y="2057400"/>
            <a:ext cx="3383280" cy="292608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ptos"/>
              </a:rPr>
              <a:t>4xx · ERROR DEL CLIENTE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66160" y="2514600"/>
            <a:ext cx="3383280" cy="2834640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l"/>
            <a:r>
              <a:rPr sz="1250" b="0">
                <a:solidFill>
                  <a:srgbClr val="B1BBCC"/>
                </a:solidFill>
                <a:latin typeface="Aptos"/>
              </a:rPr>
              <a:t>400 Bad Request: datos inválidos</a:t>
            </a:r>
            <a:br/>
            <a:r>
              <a:rPr sz="1250" b="0">
                <a:solidFill>
                  <a:srgbClr val="B1BBCC"/>
                </a:solidFill>
                <a:latin typeface="Aptos"/>
              </a:rPr>
              <a:t>401 Unauthorized: falta autenticación</a:t>
            </a:r>
            <a:br/>
            <a:r>
              <a:rPr sz="1250" b="0">
                <a:solidFill>
                  <a:srgbClr val="B1BBCC"/>
                </a:solidFill>
                <a:latin typeface="Aptos"/>
              </a:rPr>
              <a:t>403 Forbidden: sin permiso</a:t>
            </a:r>
            <a:br/>
            <a:r>
              <a:rPr sz="1250" b="0">
                <a:solidFill>
                  <a:srgbClr val="B1BBCC"/>
                </a:solidFill>
                <a:latin typeface="Aptos"/>
              </a:rPr>
              <a:t>404 Not Found: no existe</a:t>
            </a:r>
            <a:br/>
            <a:r>
              <a:rPr sz="1250" b="0">
                <a:solidFill>
                  <a:srgbClr val="B1BBCC"/>
                </a:solidFill>
                <a:latin typeface="Aptos"/>
              </a:rPr>
              <a:t>405 Method Not Allowed: método incorrecto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80760" y="2039112"/>
            <a:ext cx="777240" cy="274320"/>
          </a:xfrm>
          <a:prstGeom prst="roundRect">
            <a:avLst/>
          </a:prstGeom>
          <a:solidFill>
            <a:srgbClr val="FF9E58"/>
          </a:solidFill>
          <a:ln>
            <a:solidFill>
              <a:srgbClr val="FF9E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26480" y="2084831"/>
            <a:ext cx="685800" cy="128016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ctr"/>
            <a:r>
              <a:rPr sz="800" b="1">
                <a:solidFill>
                  <a:srgbClr val="0C1323"/>
                </a:solidFill>
                <a:latin typeface="Aptos"/>
              </a:rPr>
              <a:t>CLIENTE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60920" y="1874519"/>
            <a:ext cx="4434840" cy="3611880"/>
          </a:xfrm>
          <a:prstGeom prst="roundRect">
            <a:avLst/>
          </a:prstGeom>
          <a:solidFill>
            <a:srgbClr val="172238"/>
          </a:solidFill>
          <a:ln>
            <a:solidFill>
              <a:srgbClr val="2A3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360920" y="1874519"/>
            <a:ext cx="64008" cy="3611880"/>
          </a:xfrm>
          <a:prstGeom prst="roundRect">
            <a:avLst/>
          </a:prstGeom>
          <a:solidFill>
            <a:srgbClr val="FF6978"/>
          </a:solidFill>
          <a:ln>
            <a:solidFill>
              <a:srgbClr val="FF69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589520" y="2057400"/>
            <a:ext cx="4023359" cy="292608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ptos"/>
              </a:rPr>
              <a:t>5xx · ERROR DEL SERVIDOR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89520" y="2514600"/>
            <a:ext cx="4023359" cy="2834640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l"/>
            <a:r>
              <a:rPr sz="1250" b="0">
                <a:solidFill>
                  <a:srgbClr val="B1BBCC"/>
                </a:solidFill>
                <a:latin typeface="Aptos"/>
              </a:rPr>
              <a:t>500 Internal Server Error</a:t>
            </a:r>
            <a:br/>
            <a:r>
              <a:rPr sz="1250" b="0">
                <a:solidFill>
                  <a:srgbClr val="B1BBCC"/>
                </a:solidFill>
                <a:latin typeface="Aptos"/>
              </a:rPr>
              <a:t>Fallo inesperado del backend.</a:t>
            </a:r>
            <a:br/>
            <a:br/>
            <a:r>
              <a:rPr sz="1250" b="0">
                <a:solidFill>
                  <a:srgbClr val="B1BBCC"/>
                </a:solidFill>
                <a:latin typeface="Aptos"/>
              </a:rPr>
              <a:t>503 Service Unavailable</a:t>
            </a:r>
            <a:br/>
            <a:r>
              <a:rPr sz="1250" b="0">
                <a:solidFill>
                  <a:srgbClr val="B1BBCC"/>
                </a:solidFill>
                <a:latin typeface="Aptos"/>
              </a:rPr>
              <a:t>Servicio temporalmente no disponible.</a:t>
            </a:r>
            <a:br/>
            <a:br/>
            <a:r>
              <a:rPr sz="1250" b="0">
                <a:solidFill>
                  <a:srgbClr val="B1BBCC"/>
                </a:solidFill>
                <a:latin typeface="Aptos"/>
              </a:rPr>
              <a:t>No se debe mostrar debug al usuario.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744200" y="2039112"/>
            <a:ext cx="777240" cy="274320"/>
          </a:xfrm>
          <a:prstGeom prst="roundRect">
            <a:avLst/>
          </a:prstGeom>
          <a:solidFill>
            <a:srgbClr val="FF6978"/>
          </a:solidFill>
          <a:ln>
            <a:solidFill>
              <a:srgbClr val="FF69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789920" y="2084831"/>
            <a:ext cx="685800" cy="128016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ctr"/>
            <a:r>
              <a:rPr sz="800" b="1">
                <a:solidFill>
                  <a:srgbClr val="0C1323"/>
                </a:solidFill>
                <a:latin typeface="Aptos"/>
              </a:rPr>
              <a:t>SERVIDOR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5806440"/>
            <a:ext cx="10881360" cy="502920"/>
          </a:xfrm>
          <a:prstGeom prst="roundRect">
            <a:avLst/>
          </a:prstGeom>
          <a:solidFill>
            <a:srgbClr val="172238"/>
          </a:solidFill>
          <a:ln>
            <a:solidFill>
              <a:srgbClr val="1722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80" y="5961888"/>
            <a:ext cx="10424160" cy="201168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Regla: 2xx = salió bien · 4xx = corregir petición/autorización · 5xx = revisar backend, logs o infraestructura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3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53D68E"/>
          </a:solidFill>
          <a:ln>
            <a:solidFill>
              <a:srgbClr val="53D6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2743200" cy="228600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l"/>
            <a:r>
              <a:rPr sz="1000" b="1">
                <a:solidFill>
                  <a:srgbClr val="53D68E"/>
                </a:solidFill>
                <a:latin typeface="Aptos"/>
              </a:rPr>
              <a:t>RESPUESTAS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320040"/>
            <a:ext cx="502920" cy="228600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r"/>
            <a:r>
              <a:rPr sz="1000" b="1">
                <a:solidFill>
                  <a:srgbClr val="B1BBCC"/>
                </a:solidFill>
                <a:latin typeface="Aptos"/>
              </a:rPr>
              <a:t>21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58952"/>
            <a:ext cx="10698480" cy="502920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Aptos"/>
              </a:rPr>
              <a:t>Ejemplos reales en Cine App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1353312"/>
            <a:ext cx="10607040" cy="365760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l"/>
            <a:r>
              <a:rPr sz="1300" b="0">
                <a:solidFill>
                  <a:srgbClr val="B1BBCC"/>
                </a:solidFill>
                <a:latin typeface="Aptos"/>
              </a:rPr>
              <a:t>El frontend usa response.ok para distinguir 2xx de respuestas 4xx/5xx.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510528"/>
            <a:ext cx="3657600" cy="164592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l"/>
            <a:r>
              <a:rPr sz="800" b="1">
                <a:solidFill>
                  <a:srgbClr val="B1BBCC"/>
                </a:solidFill>
                <a:latin typeface="Aptos"/>
              </a:rPr>
              <a:t>CINE APP · HOSTINGER COMPARTIDO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1828800"/>
            <a:ext cx="3429000" cy="3611880"/>
          </a:xfrm>
          <a:prstGeom prst="roundRect">
            <a:avLst/>
          </a:prstGeom>
          <a:solidFill>
            <a:srgbClr val="172238"/>
          </a:solidFill>
          <a:ln>
            <a:solidFill>
              <a:srgbClr val="2A3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11480" y="1828800"/>
            <a:ext cx="64008" cy="3611880"/>
          </a:xfrm>
          <a:prstGeom prst="roundRect">
            <a:avLst/>
          </a:prstGeom>
          <a:solidFill>
            <a:srgbClr val="53D68E"/>
          </a:solidFill>
          <a:ln>
            <a:solidFill>
              <a:srgbClr val="53D6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011680"/>
            <a:ext cx="3017520" cy="292608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ptos"/>
              </a:rPr>
              <a:t>200 · CARTELERA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468880"/>
            <a:ext cx="3017520" cy="2834640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l"/>
            <a:r>
              <a:rPr sz="1250" b="0">
                <a:solidFill>
                  <a:srgbClr val="B1BBCC"/>
                </a:solidFill>
                <a:latin typeface="Aptos"/>
              </a:rPr>
              <a:t>GET /api/funciones</a:t>
            </a:r>
            <a:br/>
            <a:br/>
            <a:r>
              <a:rPr sz="1250" b="0">
                <a:solidFill>
                  <a:srgbClr val="B1BBCC"/>
                </a:solidFill>
                <a:latin typeface="Aptos"/>
              </a:rPr>
              <a:t>{</a:t>
            </a:r>
            <a:br/>
            <a:r>
              <a:rPr sz="1250" b="0">
                <a:solidFill>
                  <a:srgbClr val="B1BBCC"/>
                </a:solidFill>
                <a:latin typeface="Aptos"/>
              </a:rPr>
              <a:t>  "data": [...],</a:t>
            </a:r>
            <a:br/>
            <a:r>
              <a:rPr sz="1250" b="0">
                <a:solidFill>
                  <a:srgbClr val="B1BBCC"/>
                </a:solidFill>
                <a:latin typeface="Aptos"/>
              </a:rPr>
              <a:t>  "total": 4</a:t>
            </a:r>
            <a:br/>
            <a:r>
              <a:rPr sz="1250" b="0">
                <a:solidFill>
                  <a:srgbClr val="B1BBCC"/>
                </a:solidFill>
                <a:latin typeface="Aptos"/>
              </a:rPr>
              <a:t>}</a:t>
            </a:r>
            <a:br/>
            <a:br/>
            <a:r>
              <a:rPr sz="1250" b="0">
                <a:solidFill>
                  <a:srgbClr val="B1BBCC"/>
                </a:solidFill>
                <a:latin typeface="Aptos"/>
              </a:rPr>
              <a:t>La consulta fue correcta.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88920" y="1993392"/>
            <a:ext cx="777240" cy="274320"/>
          </a:xfrm>
          <a:prstGeom prst="roundRect">
            <a:avLst/>
          </a:prstGeom>
          <a:solidFill>
            <a:srgbClr val="53D68E"/>
          </a:solidFill>
          <a:ln>
            <a:solidFill>
              <a:srgbClr val="53D6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834640" y="2039112"/>
            <a:ext cx="685800" cy="128016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ctr"/>
            <a:r>
              <a:rPr sz="800" b="1">
                <a:solidFill>
                  <a:srgbClr val="0C1323"/>
                </a:solidFill>
                <a:latin typeface="Aptos"/>
              </a:rPr>
              <a:t>SUCCESS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069080" y="1828800"/>
            <a:ext cx="3794760" cy="3611880"/>
          </a:xfrm>
          <a:prstGeom prst="roundRect">
            <a:avLst/>
          </a:prstGeom>
          <a:solidFill>
            <a:srgbClr val="172238"/>
          </a:solidFill>
          <a:ln>
            <a:solidFill>
              <a:srgbClr val="2A3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069080" y="1828800"/>
            <a:ext cx="64008" cy="3611880"/>
          </a:xfrm>
          <a:prstGeom prst="roundRect">
            <a:avLst/>
          </a:prstGeom>
          <a:solidFill>
            <a:srgbClr val="FF9E58"/>
          </a:solidFill>
          <a:ln>
            <a:solidFill>
              <a:srgbClr val="FF9E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97680" y="2011680"/>
            <a:ext cx="3383280" cy="292608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ptos"/>
              </a:rPr>
              <a:t>400 · FECHA INVÁLIDA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97680" y="2468880"/>
            <a:ext cx="3383280" cy="2834640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l"/>
            <a:r>
              <a:rPr sz="1250" b="0">
                <a:solidFill>
                  <a:srgbClr val="B1BBCC"/>
                </a:solidFill>
                <a:latin typeface="Aptos"/>
              </a:rPr>
              <a:t>GET /api/funciones</a:t>
            </a:r>
            <a:br/>
            <a:r>
              <a:rPr sz="1250" b="0">
                <a:solidFill>
                  <a:srgbClr val="B1BBCC"/>
                </a:solidFill>
                <a:latin typeface="Aptos"/>
              </a:rPr>
              <a:t>  ?fecha=2026-99-99</a:t>
            </a:r>
            <a:br/>
            <a:br/>
            <a:r>
              <a:rPr sz="1250" b="0">
                <a:solidFill>
                  <a:srgbClr val="B1BBCC"/>
                </a:solidFill>
                <a:latin typeface="Aptos"/>
              </a:rPr>
              <a:t>{</a:t>
            </a:r>
            <a:br/>
            <a:r>
              <a:rPr sz="1250" b="0">
                <a:solidFill>
                  <a:srgbClr val="B1BBCC"/>
                </a:solidFill>
                <a:latin typeface="Aptos"/>
              </a:rPr>
              <a:t>  "error": "La fecha debe tener</a:t>
            </a:r>
            <a:br/>
            <a:r>
              <a:rPr sz="1250" b="0">
                <a:solidFill>
                  <a:srgbClr val="B1BBCC"/>
                </a:solidFill>
                <a:latin typeface="Aptos"/>
              </a:rPr>
              <a:t>  formato AAAA-MM-DD."</a:t>
            </a:r>
            <a:br/>
            <a:r>
              <a:rPr sz="1250" b="0">
                <a:solidFill>
                  <a:srgbClr val="B1BBCC"/>
                </a:solidFill>
                <a:latin typeface="Aptos"/>
              </a:rPr>
              <a:t>}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12280" y="1993392"/>
            <a:ext cx="777240" cy="274320"/>
          </a:xfrm>
          <a:prstGeom prst="roundRect">
            <a:avLst/>
          </a:prstGeom>
          <a:solidFill>
            <a:srgbClr val="FF9E58"/>
          </a:solidFill>
          <a:ln>
            <a:solidFill>
              <a:srgbClr val="FF9E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0" y="2039112"/>
            <a:ext cx="685800" cy="128016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ctr"/>
            <a:r>
              <a:rPr sz="800" b="1">
                <a:solidFill>
                  <a:srgbClr val="0C1323"/>
                </a:solidFill>
                <a:latin typeface="Aptos"/>
              </a:rPr>
              <a:t>VALIDACIÓN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92440" y="1828800"/>
            <a:ext cx="3703320" cy="3611880"/>
          </a:xfrm>
          <a:prstGeom prst="roundRect">
            <a:avLst/>
          </a:prstGeom>
          <a:solidFill>
            <a:srgbClr val="172238"/>
          </a:solidFill>
          <a:ln>
            <a:solidFill>
              <a:srgbClr val="2A3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092440" y="1828800"/>
            <a:ext cx="64008" cy="3611880"/>
          </a:xfrm>
          <a:prstGeom prst="roundRect">
            <a:avLst/>
          </a:prstGeom>
          <a:solidFill>
            <a:srgbClr val="FF6978"/>
          </a:solidFill>
          <a:ln>
            <a:solidFill>
              <a:srgbClr val="FF69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21040" y="2011680"/>
            <a:ext cx="3291839" cy="292608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ptos"/>
              </a:rPr>
              <a:t>404 · NO ENCONTRADO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21040" y="2468880"/>
            <a:ext cx="3291839" cy="2834640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l"/>
            <a:r>
              <a:rPr sz="1250" b="0">
                <a:solidFill>
                  <a:srgbClr val="B1BBCC"/>
                </a:solidFill>
                <a:latin typeface="Aptos"/>
              </a:rPr>
              <a:t>GET /api/funciones/999/asientos</a:t>
            </a:r>
            <a:br/>
            <a:br/>
            <a:r>
              <a:rPr sz="1250" b="0">
                <a:solidFill>
                  <a:srgbClr val="B1BBCC"/>
                </a:solidFill>
                <a:latin typeface="Aptos"/>
              </a:rPr>
              <a:t>{</a:t>
            </a:r>
            <a:br/>
            <a:r>
              <a:rPr sz="1250" b="0">
                <a:solidFill>
                  <a:srgbClr val="B1BBCC"/>
                </a:solidFill>
                <a:latin typeface="Aptos"/>
              </a:rPr>
              <a:t>  "error": "No existe una función</a:t>
            </a:r>
            <a:br/>
            <a:r>
              <a:rPr sz="1250" b="0">
                <a:solidFill>
                  <a:srgbClr val="B1BBCC"/>
                </a:solidFill>
                <a:latin typeface="Aptos"/>
              </a:rPr>
              <a:t>  con el ID 999."</a:t>
            </a:r>
            <a:br/>
            <a:r>
              <a:rPr sz="1250" b="0">
                <a:solidFill>
                  <a:srgbClr val="B1BBCC"/>
                </a:solidFill>
                <a:latin typeface="Aptos"/>
              </a:rPr>
              <a:t>}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744199" y="1993392"/>
            <a:ext cx="777240" cy="274320"/>
          </a:xfrm>
          <a:prstGeom prst="roundRect">
            <a:avLst/>
          </a:prstGeom>
          <a:solidFill>
            <a:srgbClr val="FF6978"/>
          </a:solidFill>
          <a:ln>
            <a:solidFill>
              <a:srgbClr val="FF69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789919" y="2039112"/>
            <a:ext cx="685800" cy="128016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ctr"/>
            <a:r>
              <a:rPr sz="800" b="1">
                <a:solidFill>
                  <a:srgbClr val="0C1323"/>
                </a:solidFill>
                <a:latin typeface="Aptos"/>
              </a:rPr>
              <a:t>NOT FOUND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5760720"/>
            <a:ext cx="10881360" cy="566928"/>
          </a:xfrm>
          <a:prstGeom prst="roundRect">
            <a:avLst/>
          </a:prstGeom>
          <a:solidFill>
            <a:srgbClr val="172238"/>
          </a:solidFill>
          <a:ln>
            <a:solidFill>
              <a:srgbClr val="1722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80" y="5934456"/>
            <a:ext cx="10424160" cy="246888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No devolver 200 con {error: ...}: el código HTTP debe representar correctamente el resultado para navegadores, apps y monitoreo.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3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53D68E"/>
          </a:solidFill>
          <a:ln>
            <a:solidFill>
              <a:srgbClr val="53D6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2743200" cy="228600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l"/>
            <a:r>
              <a:rPr sz="1000" b="1">
                <a:solidFill>
                  <a:srgbClr val="53D68E"/>
                </a:solidFill>
                <a:latin typeface="Aptos"/>
              </a:rPr>
              <a:t>REACT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320040"/>
            <a:ext cx="502920" cy="228600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r"/>
            <a:r>
              <a:rPr sz="1000" b="1">
                <a:solidFill>
                  <a:srgbClr val="B1BBCC"/>
                </a:solidFill>
                <a:latin typeface="Aptos"/>
              </a:rPr>
              <a:t>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58952"/>
            <a:ext cx="10698480" cy="502920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Aptos"/>
              </a:rPr>
              <a:t>Frontend separado por responsabilidades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1353312"/>
            <a:ext cx="10607040" cy="365760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l"/>
            <a:r>
              <a:rPr sz="1300" b="0">
                <a:solidFill>
                  <a:srgbClr val="B1BBCC"/>
                </a:solidFill>
                <a:latin typeface="Aptos"/>
              </a:rPr>
              <a:t>App.jsx pasó de concentrar toda la aplicación a ocuparse únicamente del layout y las rutas.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510528"/>
            <a:ext cx="3657600" cy="164592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l"/>
            <a:r>
              <a:rPr sz="800" b="1">
                <a:solidFill>
                  <a:srgbClr val="B1BBCC"/>
                </a:solidFill>
                <a:latin typeface="Aptos"/>
              </a:rPr>
              <a:t>CINE APP · HOSTINGER COMPARTIDO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1828800"/>
            <a:ext cx="2606040" cy="3611880"/>
          </a:xfrm>
          <a:prstGeom prst="roundRect">
            <a:avLst/>
          </a:prstGeom>
          <a:solidFill>
            <a:srgbClr val="172238"/>
          </a:solidFill>
          <a:ln>
            <a:solidFill>
              <a:srgbClr val="2A3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65760" y="1828800"/>
            <a:ext cx="64008" cy="3611880"/>
          </a:xfrm>
          <a:prstGeom prst="roundRect">
            <a:avLst/>
          </a:prstGeom>
          <a:solidFill>
            <a:srgbClr val="FF9E58"/>
          </a:solidFill>
          <a:ln>
            <a:solidFill>
              <a:srgbClr val="FF9E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2011680"/>
            <a:ext cx="2194560" cy="292608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ptos"/>
              </a:rPr>
              <a:t>APP.JSX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468880"/>
            <a:ext cx="2194560" cy="2834640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l"/>
            <a:r>
              <a:rPr sz="1250" b="0">
                <a:solidFill>
                  <a:srgbClr val="B1BBCC"/>
                </a:solidFill>
                <a:latin typeface="Aptos"/>
              </a:rPr>
              <a:t>Compone Header y Footer</a:t>
            </a:r>
            <a:br/>
            <a:r>
              <a:rPr sz="1250" b="0">
                <a:solidFill>
                  <a:srgbClr val="B1BBCC"/>
                </a:solidFill>
                <a:latin typeface="Aptos"/>
              </a:rPr>
              <a:t>Define &lt;Routes&gt;</a:t>
            </a:r>
            <a:br/>
            <a:r>
              <a:rPr sz="1250" b="0">
                <a:solidFill>
                  <a:srgbClr val="B1BBCC"/>
                </a:solidFill>
                <a:latin typeface="Aptos"/>
              </a:rPr>
              <a:t>Conecta URL con Page</a:t>
            </a:r>
            <a:br/>
            <a:br/>
            <a:r>
              <a:rPr sz="1250" b="0">
                <a:solidFill>
                  <a:srgbClr val="B1BBCC"/>
                </a:solidFill>
                <a:latin typeface="Aptos"/>
              </a:rPr>
              <a:t>No consulta la API</a:t>
            </a:r>
            <a:br/>
            <a:r>
              <a:rPr sz="1250" b="0">
                <a:solidFill>
                  <a:srgbClr val="B1BBCC"/>
                </a:solidFill>
                <a:latin typeface="Aptos"/>
              </a:rPr>
              <a:t>No implementa pantallas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920240" y="1993392"/>
            <a:ext cx="777240" cy="274320"/>
          </a:xfrm>
          <a:prstGeom prst="roundRect">
            <a:avLst/>
          </a:prstGeom>
          <a:solidFill>
            <a:srgbClr val="FF9E58"/>
          </a:solidFill>
          <a:ln>
            <a:solidFill>
              <a:srgbClr val="FF9E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965960" y="2039112"/>
            <a:ext cx="685800" cy="128016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ctr"/>
            <a:r>
              <a:rPr sz="800" b="1">
                <a:solidFill>
                  <a:srgbClr val="0C1323"/>
                </a:solidFill>
                <a:latin typeface="Aptos"/>
              </a:rPr>
              <a:t>RUTAS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46120" y="1828800"/>
            <a:ext cx="2606040" cy="3611880"/>
          </a:xfrm>
          <a:prstGeom prst="roundRect">
            <a:avLst/>
          </a:prstGeom>
          <a:solidFill>
            <a:srgbClr val="172238"/>
          </a:solidFill>
          <a:ln>
            <a:solidFill>
              <a:srgbClr val="2A3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246120" y="1828800"/>
            <a:ext cx="64008" cy="3611880"/>
          </a:xfrm>
          <a:prstGeom prst="roundRect">
            <a:avLst/>
          </a:prstGeom>
          <a:solidFill>
            <a:srgbClr val="36D3DD"/>
          </a:solidFill>
          <a:ln>
            <a:solidFill>
              <a:srgbClr val="36D3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74720" y="2011680"/>
            <a:ext cx="2194560" cy="292608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ptos"/>
              </a:rPr>
              <a:t>PAGES/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74720" y="2468880"/>
            <a:ext cx="2194560" cy="2834640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l"/>
            <a:r>
              <a:rPr sz="1250" b="0">
                <a:solidFill>
                  <a:srgbClr val="B1BBCC"/>
                </a:solidFill>
                <a:latin typeface="Aptos"/>
              </a:rPr>
              <a:t>Pantallas completas:</a:t>
            </a:r>
            <a:br/>
            <a:r>
              <a:rPr sz="1250" b="0">
                <a:solidFill>
                  <a:srgbClr val="B1BBCC"/>
                </a:solidFill>
                <a:latin typeface="Aptos"/>
              </a:rPr>
              <a:t>HomePage</a:t>
            </a:r>
            <a:br/>
            <a:r>
              <a:rPr sz="1250" b="0">
                <a:solidFill>
                  <a:srgbClr val="B1BBCC"/>
                </a:solidFill>
                <a:latin typeface="Aptos"/>
              </a:rPr>
              <a:t>BillboardPage</a:t>
            </a:r>
            <a:br/>
            <a:r>
              <a:rPr sz="1250" b="0">
                <a:solidFill>
                  <a:srgbClr val="B1BBCC"/>
                </a:solidFill>
                <a:latin typeface="Aptos"/>
              </a:rPr>
              <a:t>MovieDetailPage</a:t>
            </a:r>
            <a:br/>
            <a:r>
              <a:rPr sz="1250" b="0">
                <a:solidFill>
                  <a:srgbClr val="B1BBCC"/>
                </a:solidFill>
                <a:latin typeface="Aptos"/>
              </a:rPr>
              <a:t>SeatsPage</a:t>
            </a:r>
            <a:br/>
            <a:r>
              <a:rPr sz="1250" b="0">
                <a:solidFill>
                  <a:srgbClr val="B1BBCC"/>
                </a:solidFill>
                <a:latin typeface="Aptos"/>
              </a:rPr>
              <a:t>PaymentPage</a:t>
            </a:r>
            <a:br/>
            <a:r>
              <a:rPr sz="1250" b="0">
                <a:solidFill>
                  <a:srgbClr val="B1BBCC"/>
                </a:solidFill>
                <a:latin typeface="Aptos"/>
              </a:rPr>
              <a:t>TicketsPage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800600" y="1993392"/>
            <a:ext cx="777240" cy="274320"/>
          </a:xfrm>
          <a:prstGeom prst="roundRect">
            <a:avLst/>
          </a:prstGeom>
          <a:solidFill>
            <a:srgbClr val="36D3DD"/>
          </a:solidFill>
          <a:ln>
            <a:solidFill>
              <a:srgbClr val="36D3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46320" y="2039112"/>
            <a:ext cx="685800" cy="128016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ctr"/>
            <a:r>
              <a:rPr sz="800" b="1">
                <a:solidFill>
                  <a:srgbClr val="0C1323"/>
                </a:solidFill>
                <a:latin typeface="Aptos"/>
              </a:rPr>
              <a:t>VISTAS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26480" y="1828800"/>
            <a:ext cx="2606040" cy="3611880"/>
          </a:xfrm>
          <a:prstGeom prst="roundRect">
            <a:avLst/>
          </a:prstGeom>
          <a:solidFill>
            <a:srgbClr val="172238"/>
          </a:solidFill>
          <a:ln>
            <a:solidFill>
              <a:srgbClr val="2A3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126480" y="1828800"/>
            <a:ext cx="64008" cy="3611880"/>
          </a:xfrm>
          <a:prstGeom prst="roundRect">
            <a:avLst/>
          </a:prstGeom>
          <a:solidFill>
            <a:srgbClr val="53D68E"/>
          </a:solidFill>
          <a:ln>
            <a:solidFill>
              <a:srgbClr val="53D6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55080" y="2011680"/>
            <a:ext cx="2194560" cy="292608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ptos"/>
              </a:rPr>
              <a:t>COMPONENTS/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5080" y="2468880"/>
            <a:ext cx="2194560" cy="2834640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l"/>
            <a:r>
              <a:rPr sz="1250" b="0">
                <a:solidFill>
                  <a:srgbClr val="B1BBCC"/>
                </a:solidFill>
                <a:latin typeface="Aptos"/>
              </a:rPr>
              <a:t>Piezas reutilizables:</a:t>
            </a:r>
            <a:br/>
            <a:r>
              <a:rPr sz="1250" b="0">
                <a:solidFill>
                  <a:srgbClr val="B1BBCC"/>
                </a:solidFill>
                <a:latin typeface="Aptos"/>
              </a:rPr>
              <a:t>Header · Footer</a:t>
            </a:r>
            <a:br/>
            <a:r>
              <a:rPr sz="1250" b="0">
                <a:solidFill>
                  <a:srgbClr val="B1BBCC"/>
                </a:solidFill>
                <a:latin typeface="Aptos"/>
              </a:rPr>
              <a:t>Poster · MovieTile</a:t>
            </a:r>
            <a:br/>
            <a:r>
              <a:rPr sz="1250" b="0">
                <a:solidFill>
                  <a:srgbClr val="B1BBCC"/>
                </a:solidFill>
                <a:latin typeface="Aptos"/>
              </a:rPr>
              <a:t>FunctionCard · Stepper</a:t>
            </a:r>
            <a:br/>
            <a:r>
              <a:rPr sz="1250" b="0">
                <a:solidFill>
                  <a:srgbClr val="B1BBCC"/>
                </a:solidFill>
                <a:latin typeface="Aptos"/>
              </a:rPr>
              <a:t>MiniMovie · Ticket</a:t>
            </a:r>
            <a:br/>
            <a:r>
              <a:rPr sz="1250" b="0">
                <a:solidFill>
                  <a:srgbClr val="B1BBCC"/>
                </a:solidFill>
                <a:latin typeface="Aptos"/>
              </a:rPr>
              <a:t>Loading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680960" y="1993392"/>
            <a:ext cx="777240" cy="274320"/>
          </a:xfrm>
          <a:prstGeom prst="roundRect">
            <a:avLst/>
          </a:prstGeom>
          <a:solidFill>
            <a:srgbClr val="53D68E"/>
          </a:solidFill>
          <a:ln>
            <a:solidFill>
              <a:srgbClr val="53D6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26680" y="2039112"/>
            <a:ext cx="685800" cy="128016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ctr"/>
            <a:r>
              <a:rPr sz="800" b="1">
                <a:solidFill>
                  <a:srgbClr val="0C1323"/>
                </a:solidFill>
                <a:latin typeface="Aptos"/>
              </a:rPr>
              <a:t>UI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006840" y="1828800"/>
            <a:ext cx="2788920" cy="3611880"/>
          </a:xfrm>
          <a:prstGeom prst="roundRect">
            <a:avLst/>
          </a:prstGeom>
          <a:solidFill>
            <a:srgbClr val="172238"/>
          </a:solidFill>
          <a:ln>
            <a:solidFill>
              <a:srgbClr val="2A3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9006840" y="1828800"/>
            <a:ext cx="64008" cy="3611880"/>
          </a:xfrm>
          <a:prstGeom prst="roundRect">
            <a:avLst/>
          </a:prstGeom>
          <a:solidFill>
            <a:srgbClr val="FF6978"/>
          </a:solidFill>
          <a:ln>
            <a:solidFill>
              <a:srgbClr val="FF69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235440" y="2011680"/>
            <a:ext cx="2377439" cy="292608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ptos"/>
              </a:rPr>
              <a:t>APOYO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35440" y="2468880"/>
            <a:ext cx="2377439" cy="2834640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l"/>
            <a:r>
              <a:rPr sz="1250" b="0">
                <a:solidFill>
                  <a:srgbClr val="B1BBCC"/>
                </a:solidFill>
                <a:latin typeface="Aptos"/>
              </a:rPr>
              <a:t>hooks/ → estado y efectos</a:t>
            </a:r>
            <a:br/>
            <a:r>
              <a:rPr sz="1250" b="0">
                <a:solidFill>
                  <a:srgbClr val="B1BBCC"/>
                </a:solidFill>
                <a:latin typeface="Aptos"/>
              </a:rPr>
              <a:t>services/ → HTTP</a:t>
            </a:r>
            <a:br/>
            <a:r>
              <a:rPr sz="1250" b="0">
                <a:solidFill>
                  <a:srgbClr val="B1BBCC"/>
                </a:solidFill>
                <a:latin typeface="Aptos"/>
              </a:rPr>
              <a:t>utils/ → funciones puras</a:t>
            </a:r>
            <a:br/>
            <a:r>
              <a:rPr sz="1250" b="0">
                <a:solidFill>
                  <a:srgbClr val="B1BBCC"/>
                </a:solidFill>
                <a:latin typeface="Aptos"/>
              </a:rPr>
              <a:t>data/ → demostración</a:t>
            </a:r>
            <a:br/>
            <a:br/>
            <a:r>
              <a:rPr sz="1250" b="0">
                <a:solidFill>
                  <a:srgbClr val="B1BBCC"/>
                </a:solidFill>
                <a:latin typeface="Aptos"/>
              </a:rPr>
              <a:t>Cada carpeta tiene una razón.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744199" y="1993392"/>
            <a:ext cx="777240" cy="274320"/>
          </a:xfrm>
          <a:prstGeom prst="roundRect">
            <a:avLst/>
          </a:prstGeom>
          <a:solidFill>
            <a:srgbClr val="FF6978"/>
          </a:solidFill>
          <a:ln>
            <a:solidFill>
              <a:srgbClr val="FF69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789919" y="2039112"/>
            <a:ext cx="685800" cy="128016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ctr"/>
            <a:r>
              <a:rPr sz="800" b="1">
                <a:solidFill>
                  <a:srgbClr val="0C1323"/>
                </a:solidFill>
                <a:latin typeface="Aptos"/>
              </a:rPr>
              <a:t>LÓGICA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0080" y="5760720"/>
            <a:ext cx="10881360" cy="566928"/>
          </a:xfrm>
          <a:prstGeom prst="roundRect">
            <a:avLst/>
          </a:prstGeom>
          <a:solidFill>
            <a:srgbClr val="172238"/>
          </a:solidFill>
          <a:ln>
            <a:solidFill>
              <a:srgbClr val="1722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68680" y="5934456"/>
            <a:ext cx="10424160" cy="246888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Separar no significa crear archivos al azar: cada componente debe tener una responsabilidad clara y un nombre que exprese su intención.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3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53D68E"/>
          </a:solidFill>
          <a:ln>
            <a:solidFill>
              <a:srgbClr val="53D6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2743200" cy="228600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l"/>
            <a:r>
              <a:rPr sz="1000" b="1">
                <a:solidFill>
                  <a:srgbClr val="53D68E"/>
                </a:solidFill>
                <a:latin typeface="Aptos"/>
              </a:rPr>
              <a:t>ESTRUCTURA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320040"/>
            <a:ext cx="502920" cy="228600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r"/>
            <a:r>
              <a:rPr sz="1000" b="1">
                <a:solidFill>
                  <a:srgbClr val="B1BBCC"/>
                </a:solidFill>
                <a:latin typeface="Aptos"/>
              </a:rPr>
              <a:t>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58952"/>
            <a:ext cx="10698480" cy="502920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Aptos"/>
              </a:rPr>
              <a:t>Cómo está conformado frontend/src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1353312"/>
            <a:ext cx="10607040" cy="365760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l"/>
            <a:r>
              <a:rPr sz="1300" b="0">
                <a:solidFill>
                  <a:srgbClr val="B1BBCC"/>
                </a:solidFill>
                <a:latin typeface="Aptos"/>
              </a:rPr>
              <a:t>Las dependencias avanzan desde las páginas hacia componentes, hooks, servicios y utilidades.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510528"/>
            <a:ext cx="3657600" cy="164592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l"/>
            <a:r>
              <a:rPr sz="800" b="1">
                <a:solidFill>
                  <a:srgbClr val="B1BBCC"/>
                </a:solidFill>
                <a:latin typeface="Aptos"/>
              </a:rPr>
              <a:t>CINE APP · HOSTINGER COMPARTIDO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691640"/>
            <a:ext cx="5852160" cy="4526280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Consolas"/>
              </a:rPr>
              <a:t>src/</a:t>
            </a:r>
            <a:br/>
            <a:r>
              <a:rPr sz="1500" b="0">
                <a:solidFill>
                  <a:srgbClr val="FFFFFF"/>
                </a:solidFill>
                <a:latin typeface="Consolas"/>
              </a:rPr>
              <a:t>├── components/</a:t>
            </a:r>
            <a:br/>
            <a:r>
              <a:rPr sz="1500" b="0">
                <a:solidFill>
                  <a:srgbClr val="FFFFFF"/>
                </a:solidFill>
                <a:latin typeface="Consolas"/>
              </a:rPr>
              <a:t>│   ├── feedback/     Loading</a:t>
            </a:r>
            <a:br/>
            <a:r>
              <a:rPr sz="1500" b="0">
                <a:solidFill>
                  <a:srgbClr val="FFFFFF"/>
                </a:solidFill>
                <a:latin typeface="Consolas"/>
              </a:rPr>
              <a:t>│   ├── layout/       Header, Footer</a:t>
            </a:r>
            <a:br/>
            <a:r>
              <a:rPr sz="1500" b="0">
                <a:solidFill>
                  <a:srgbClr val="FFFFFF"/>
                </a:solidFill>
                <a:latin typeface="Consolas"/>
              </a:rPr>
              <a:t>│   ├── movies/       Poster, MovieTile, FunctionCard</a:t>
            </a:r>
            <a:br/>
            <a:r>
              <a:rPr sz="1500" b="0">
                <a:solidFill>
                  <a:srgbClr val="FFFFFF"/>
                </a:solidFill>
                <a:latin typeface="Consolas"/>
              </a:rPr>
              <a:t>│   ├── navigation/   Stepper</a:t>
            </a:r>
            <a:br/>
            <a:r>
              <a:rPr sz="1500" b="0">
                <a:solidFill>
                  <a:srgbClr val="FFFFFF"/>
                </a:solidFill>
                <a:latin typeface="Consolas"/>
              </a:rPr>
              <a:t>│   └── purchase/     MiniMovie, Ticket</a:t>
            </a:r>
            <a:br/>
            <a:r>
              <a:rPr sz="1500" b="0">
                <a:solidFill>
                  <a:srgbClr val="FFFFFF"/>
                </a:solidFill>
                <a:latin typeface="Consolas"/>
              </a:rPr>
              <a:t>├── pages/            Home, Cartelera, Detalle, Asientos, Pago</a:t>
            </a:r>
            <a:br/>
            <a:r>
              <a:rPr sz="1500" b="0">
                <a:solidFill>
                  <a:srgbClr val="FFFFFF"/>
                </a:solidFill>
                <a:latin typeface="Consolas"/>
              </a:rPr>
              <a:t>├── hooks/            useMovies</a:t>
            </a:r>
            <a:br/>
            <a:r>
              <a:rPr sz="1500" b="0">
                <a:solidFill>
                  <a:srgbClr val="FFFFFF"/>
                </a:solidFill>
                <a:latin typeface="Consolas"/>
              </a:rPr>
              <a:t>├── services/         api.js</a:t>
            </a:r>
            <a:br/>
            <a:r>
              <a:rPr sz="1500" b="0">
                <a:solidFill>
                  <a:srgbClr val="FFFFFF"/>
                </a:solidFill>
                <a:latin typeface="Consolas"/>
              </a:rPr>
              <a:t>├── utils/            formatters, movies</a:t>
            </a:r>
            <a:br/>
            <a:r>
              <a:rPr sz="1500" b="0">
                <a:solidFill>
                  <a:srgbClr val="FFFFFF"/>
                </a:solidFill>
                <a:latin typeface="Consolas"/>
              </a:rPr>
              <a:t>├── data/             datos de respaldo</a:t>
            </a:r>
            <a:br/>
            <a:r>
              <a:rPr sz="1500" b="0">
                <a:solidFill>
                  <a:srgbClr val="FFFFFF"/>
                </a:solidFill>
                <a:latin typeface="Consolas"/>
              </a:rPr>
              <a:t>└── App.jsx           layout + rutas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903720" y="1874519"/>
            <a:ext cx="4480560" cy="1188720"/>
          </a:xfrm>
          <a:prstGeom prst="roundRect">
            <a:avLst/>
          </a:prstGeom>
          <a:solidFill>
            <a:srgbClr val="172238"/>
          </a:solidFill>
          <a:ln>
            <a:solidFill>
              <a:srgbClr val="2A3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903720" y="1874519"/>
            <a:ext cx="64008" cy="1188720"/>
          </a:xfrm>
          <a:prstGeom prst="roundRect">
            <a:avLst/>
          </a:prstGeom>
          <a:solidFill>
            <a:srgbClr val="36D3DD"/>
          </a:solidFill>
          <a:ln>
            <a:solidFill>
              <a:srgbClr val="36D3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0" y="2057400"/>
            <a:ext cx="4069080" cy="292608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ptos"/>
              </a:rPr>
              <a:t>COMPONENTE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0" y="2514600"/>
            <a:ext cx="4069080" cy="411480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l"/>
            <a:r>
              <a:rPr sz="1250" b="0">
                <a:solidFill>
                  <a:srgbClr val="B1BBCC"/>
                </a:solidFill>
                <a:latin typeface="Aptos"/>
              </a:rPr>
              <a:t>Función React que recibe props y devuelve interfaz JSX. Puede reutilizarse en distintas páginas.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903720" y="3337560"/>
            <a:ext cx="4480560" cy="1188720"/>
          </a:xfrm>
          <a:prstGeom prst="roundRect">
            <a:avLst/>
          </a:prstGeom>
          <a:solidFill>
            <a:srgbClr val="172238"/>
          </a:solidFill>
          <a:ln>
            <a:solidFill>
              <a:srgbClr val="2A3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903720" y="3337560"/>
            <a:ext cx="64008" cy="1188720"/>
          </a:xfrm>
          <a:prstGeom prst="roundRect">
            <a:avLst/>
          </a:prstGeom>
          <a:solidFill>
            <a:srgbClr val="FF9E58"/>
          </a:solidFill>
          <a:ln>
            <a:solidFill>
              <a:srgbClr val="FF9E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32320" y="3520440"/>
            <a:ext cx="4069080" cy="292608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ptos"/>
              </a:rPr>
              <a:t>PAGE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0" y="3977639"/>
            <a:ext cx="4069080" cy="411480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l"/>
            <a:r>
              <a:rPr sz="1250" b="0">
                <a:solidFill>
                  <a:srgbClr val="B1BBCC"/>
                </a:solidFill>
                <a:latin typeface="Aptos"/>
              </a:rPr>
              <a:t>Componente de nivel pantalla asociado a una ruta. Coordina componentes y estado de esa vista.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903720" y="4800600"/>
            <a:ext cx="4480560" cy="1188720"/>
          </a:xfrm>
          <a:prstGeom prst="roundRect">
            <a:avLst/>
          </a:prstGeom>
          <a:solidFill>
            <a:srgbClr val="172238"/>
          </a:solidFill>
          <a:ln>
            <a:solidFill>
              <a:srgbClr val="2A3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903720" y="4800600"/>
            <a:ext cx="64008" cy="1188720"/>
          </a:xfrm>
          <a:prstGeom prst="roundRect">
            <a:avLst/>
          </a:prstGeom>
          <a:solidFill>
            <a:srgbClr val="53D68E"/>
          </a:solidFill>
          <a:ln>
            <a:solidFill>
              <a:srgbClr val="53D6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132320" y="4983480"/>
            <a:ext cx="4069080" cy="292608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ptos"/>
              </a:rPr>
              <a:t>REGLA PRÁCTICA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0" y="5440680"/>
            <a:ext cx="4069080" cy="411480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l"/>
            <a:r>
              <a:rPr sz="1250" b="0">
                <a:solidFill>
                  <a:srgbClr val="B1BBCC"/>
                </a:solidFill>
                <a:latin typeface="Aptos"/>
              </a:rPr>
              <a:t>Si una pieza aparece varias veces, tiene lógica propia o hace difícil leer la página, conviene extraerla.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3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53D68E"/>
          </a:solidFill>
          <a:ln>
            <a:solidFill>
              <a:srgbClr val="53D6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2743200" cy="228600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l"/>
            <a:r>
              <a:rPr sz="1000" b="1">
                <a:solidFill>
                  <a:srgbClr val="53D68E"/>
                </a:solidFill>
                <a:latin typeface="Aptos"/>
              </a:rPr>
              <a:t>HOOKS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320040"/>
            <a:ext cx="502920" cy="228600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r"/>
            <a:r>
              <a:rPr sz="1000" b="1">
                <a:solidFill>
                  <a:srgbClr val="B1BBCC"/>
                </a:solidFill>
                <a:latin typeface="Aptos"/>
              </a:rPr>
              <a:t>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58952"/>
            <a:ext cx="10698480" cy="502920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Aptos"/>
              </a:rPr>
              <a:t>Qué es un hook y qué hace useMovies()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1353312"/>
            <a:ext cx="10607040" cy="365760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l"/>
            <a:r>
              <a:rPr sz="1300" b="0">
                <a:solidFill>
                  <a:srgbClr val="B1BBCC"/>
                </a:solidFill>
                <a:latin typeface="Aptos"/>
              </a:rPr>
              <a:t>Un hook es una función que reutiliza estado y efectos de React; por convención su nombre comienza con use.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510528"/>
            <a:ext cx="3657600" cy="164592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l"/>
            <a:r>
              <a:rPr sz="800" b="1">
                <a:solidFill>
                  <a:srgbClr val="B1BBCC"/>
                </a:solidFill>
                <a:latin typeface="Aptos"/>
              </a:rPr>
              <a:t>CINE APP · HOSTINGER COMPARTIDO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1965960"/>
            <a:ext cx="2514600" cy="2926080"/>
          </a:xfrm>
          <a:prstGeom prst="roundRect">
            <a:avLst/>
          </a:prstGeom>
          <a:solidFill>
            <a:srgbClr val="172238"/>
          </a:solidFill>
          <a:ln>
            <a:solidFill>
              <a:srgbClr val="2A3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11480" y="1965960"/>
            <a:ext cx="64008" cy="2926080"/>
          </a:xfrm>
          <a:prstGeom prst="roundRect">
            <a:avLst/>
          </a:prstGeom>
          <a:solidFill>
            <a:srgbClr val="FF9E58"/>
          </a:solidFill>
          <a:ln>
            <a:solidFill>
              <a:srgbClr val="FF9E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148840"/>
            <a:ext cx="2103120" cy="292608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ptos"/>
              </a:rPr>
              <a:t>1 · PÁGINA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606039"/>
            <a:ext cx="2103120" cy="2148840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l"/>
            <a:r>
              <a:rPr sz="1250" b="0">
                <a:solidFill>
                  <a:srgbClr val="B1BBCC"/>
                </a:solidFill>
                <a:latin typeface="Aptos"/>
              </a:rPr>
              <a:t>HomePage o</a:t>
            </a:r>
            <a:br/>
            <a:r>
              <a:rPr sz="1250" b="0">
                <a:solidFill>
                  <a:srgbClr val="B1BBCC"/>
                </a:solidFill>
                <a:latin typeface="Aptos"/>
              </a:rPr>
              <a:t>BillboardPage llama:</a:t>
            </a:r>
            <a:br/>
            <a:br/>
            <a:r>
              <a:rPr sz="1250" b="0">
                <a:solidFill>
                  <a:srgbClr val="B1BBCC"/>
                </a:solidFill>
                <a:latin typeface="Aptos"/>
              </a:rPr>
              <a:t>const { movies, loading, error }</a:t>
            </a:r>
            <a:br/>
            <a:r>
              <a:rPr sz="1250" b="0">
                <a:solidFill>
                  <a:srgbClr val="B1BBCC"/>
                </a:solidFill>
                <a:latin typeface="Aptos"/>
              </a:rPr>
              <a:t>  = useMovies();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874520" y="2130552"/>
            <a:ext cx="777240" cy="274320"/>
          </a:xfrm>
          <a:prstGeom prst="roundRect">
            <a:avLst/>
          </a:prstGeom>
          <a:solidFill>
            <a:srgbClr val="FF9E58"/>
          </a:solidFill>
          <a:ln>
            <a:solidFill>
              <a:srgbClr val="FF9E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920240" y="2176272"/>
            <a:ext cx="685800" cy="128016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ctr"/>
            <a:r>
              <a:rPr sz="800" b="1">
                <a:solidFill>
                  <a:srgbClr val="0C1323"/>
                </a:solidFill>
                <a:latin typeface="Aptos"/>
              </a:rPr>
              <a:t>UI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17520" y="3017520"/>
            <a:ext cx="411480" cy="411480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ctr"/>
            <a:r>
              <a:rPr sz="2400" b="1">
                <a:solidFill>
                  <a:srgbClr val="53D68E"/>
                </a:solidFill>
                <a:latin typeface="Aptos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520440" y="1965960"/>
            <a:ext cx="2514600" cy="2926080"/>
          </a:xfrm>
          <a:prstGeom prst="roundRect">
            <a:avLst/>
          </a:prstGeom>
          <a:solidFill>
            <a:srgbClr val="172238"/>
          </a:solidFill>
          <a:ln>
            <a:solidFill>
              <a:srgbClr val="2A3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520440" y="1965960"/>
            <a:ext cx="64008" cy="2926080"/>
          </a:xfrm>
          <a:prstGeom prst="roundRect">
            <a:avLst/>
          </a:prstGeom>
          <a:solidFill>
            <a:srgbClr val="53D68E"/>
          </a:solidFill>
          <a:ln>
            <a:solidFill>
              <a:srgbClr val="53D6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49039" y="2148840"/>
            <a:ext cx="2103120" cy="292608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ptos"/>
              </a:rPr>
              <a:t>2 · HOOK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49039" y="2606039"/>
            <a:ext cx="2103120" cy="2148840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l"/>
            <a:r>
              <a:rPr sz="1250" b="0">
                <a:solidFill>
                  <a:srgbClr val="B1BBCC"/>
                </a:solidFill>
                <a:latin typeface="Aptos"/>
              </a:rPr>
              <a:t>useMovies.js administra:</a:t>
            </a:r>
            <a:br/>
            <a:r>
              <a:rPr sz="1250" b="0">
                <a:solidFill>
                  <a:srgbClr val="B1BBCC"/>
                </a:solidFill>
                <a:latin typeface="Aptos"/>
              </a:rPr>
              <a:t>useState</a:t>
            </a:r>
            <a:br/>
            <a:r>
              <a:rPr sz="1250" b="0">
                <a:solidFill>
                  <a:srgbClr val="B1BBCC"/>
                </a:solidFill>
                <a:latin typeface="Aptos"/>
              </a:rPr>
              <a:t>useEffect</a:t>
            </a:r>
            <a:br/>
            <a:r>
              <a:rPr sz="1250" b="0">
                <a:solidFill>
                  <a:srgbClr val="B1BBCC"/>
                </a:solidFill>
                <a:latin typeface="Aptos"/>
              </a:rPr>
              <a:t>loading y error</a:t>
            </a:r>
            <a:br/>
            <a:r>
              <a:rPr sz="1250" b="0">
                <a:solidFill>
                  <a:srgbClr val="B1BBCC"/>
                </a:solidFill>
                <a:latin typeface="Aptos"/>
              </a:rPr>
              <a:t>datos de respaldo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983479" y="2130552"/>
            <a:ext cx="777240" cy="274320"/>
          </a:xfrm>
          <a:prstGeom prst="roundRect">
            <a:avLst/>
          </a:prstGeom>
          <a:solidFill>
            <a:srgbClr val="53D68E"/>
          </a:solidFill>
          <a:ln>
            <a:solidFill>
              <a:srgbClr val="53D6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0" y="2176272"/>
            <a:ext cx="685800" cy="128016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ctr"/>
            <a:r>
              <a:rPr sz="800" b="1">
                <a:solidFill>
                  <a:srgbClr val="0C1323"/>
                </a:solidFill>
                <a:latin typeface="Aptos"/>
              </a:rPr>
              <a:t>ESTADO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26480" y="3017520"/>
            <a:ext cx="411480" cy="411480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ctr"/>
            <a:r>
              <a:rPr sz="2400" b="1">
                <a:solidFill>
                  <a:srgbClr val="53D68E"/>
                </a:solidFill>
                <a:latin typeface="Aptos"/>
              </a:rP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629400" y="1965960"/>
            <a:ext cx="2331720" cy="2926080"/>
          </a:xfrm>
          <a:prstGeom prst="roundRect">
            <a:avLst/>
          </a:prstGeom>
          <a:solidFill>
            <a:srgbClr val="172238"/>
          </a:solidFill>
          <a:ln>
            <a:solidFill>
              <a:srgbClr val="2A3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629400" y="1965960"/>
            <a:ext cx="64008" cy="2926080"/>
          </a:xfrm>
          <a:prstGeom prst="roundRect">
            <a:avLst/>
          </a:prstGeom>
          <a:solidFill>
            <a:srgbClr val="36D3DD"/>
          </a:solidFill>
          <a:ln>
            <a:solidFill>
              <a:srgbClr val="36D3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0" y="2148840"/>
            <a:ext cx="1920239" cy="292608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ptos"/>
              </a:rPr>
              <a:t>3 · SERVICE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0" y="2606039"/>
            <a:ext cx="1920239" cy="2148840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l"/>
            <a:r>
              <a:rPr sz="1250" b="0">
                <a:solidFill>
                  <a:srgbClr val="B1BBCC"/>
                </a:solidFill>
                <a:latin typeface="Aptos"/>
              </a:rPr>
              <a:t>api.js ejecuta:</a:t>
            </a:r>
            <a:br/>
            <a:br/>
            <a:r>
              <a:rPr sz="1250" b="0">
                <a:solidFill>
                  <a:srgbClr val="B1BBCC"/>
                </a:solidFill>
                <a:latin typeface="Aptos"/>
              </a:rPr>
              <a:t>fetch(API_URL + path)</a:t>
            </a:r>
            <a:br/>
            <a:br/>
            <a:r>
              <a:rPr sz="1250" b="0">
                <a:solidFill>
                  <a:srgbClr val="B1BBCC"/>
                </a:solidFill>
                <a:latin typeface="Aptos"/>
              </a:rPr>
              <a:t>GET /api/funciones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909560" y="2130552"/>
            <a:ext cx="777240" cy="274320"/>
          </a:xfrm>
          <a:prstGeom prst="roundRect">
            <a:avLst/>
          </a:prstGeom>
          <a:solidFill>
            <a:srgbClr val="36D3DD"/>
          </a:solidFill>
          <a:ln>
            <a:solidFill>
              <a:srgbClr val="36D3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55280" y="2176272"/>
            <a:ext cx="685800" cy="128016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ctr"/>
            <a:r>
              <a:rPr sz="800" b="1">
                <a:solidFill>
                  <a:srgbClr val="0C1323"/>
                </a:solidFill>
                <a:latin typeface="Aptos"/>
              </a:rPr>
              <a:t>HTTP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52560" y="3017520"/>
            <a:ext cx="411480" cy="411480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ctr"/>
            <a:r>
              <a:rPr sz="2400" b="1">
                <a:solidFill>
                  <a:srgbClr val="53D68E"/>
                </a:solidFill>
                <a:latin typeface="Aptos"/>
              </a:rPr>
              <a:t>→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555480" y="1965960"/>
            <a:ext cx="2240280" cy="2926080"/>
          </a:xfrm>
          <a:prstGeom prst="roundRect">
            <a:avLst/>
          </a:prstGeom>
          <a:solidFill>
            <a:srgbClr val="172238"/>
          </a:solidFill>
          <a:ln>
            <a:solidFill>
              <a:srgbClr val="2A3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9555480" y="1965960"/>
            <a:ext cx="64008" cy="2926080"/>
          </a:xfrm>
          <a:prstGeom prst="roundRect">
            <a:avLst/>
          </a:prstGeom>
          <a:solidFill>
            <a:srgbClr val="FF6978"/>
          </a:solidFill>
          <a:ln>
            <a:solidFill>
              <a:srgbClr val="FF69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784080" y="2148840"/>
            <a:ext cx="1828800" cy="292608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ptos"/>
              </a:rPr>
              <a:t>4 · SYMFONY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784080" y="2606039"/>
            <a:ext cx="1828800" cy="2148840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l"/>
            <a:r>
              <a:rPr sz="1250" b="0">
                <a:solidFill>
                  <a:srgbClr val="B1BBCC"/>
                </a:solidFill>
                <a:latin typeface="Aptos"/>
              </a:rPr>
              <a:t>Controller</a:t>
            </a:r>
            <a:br/>
            <a:r>
              <a:rPr sz="1250" b="0">
                <a:solidFill>
                  <a:srgbClr val="B1BBCC"/>
                </a:solidFill>
                <a:latin typeface="Aptos"/>
              </a:rPr>
              <a:t>Repository</a:t>
            </a:r>
            <a:br/>
            <a:r>
              <a:rPr sz="1250" b="0">
                <a:solidFill>
                  <a:srgbClr val="B1BBCC"/>
                </a:solidFill>
                <a:latin typeface="Aptos"/>
              </a:rPr>
              <a:t>Doctrine</a:t>
            </a:r>
            <a:br/>
            <a:r>
              <a:rPr sz="1250" b="0">
                <a:solidFill>
                  <a:srgbClr val="B1BBCC"/>
                </a:solidFill>
                <a:latin typeface="Aptos"/>
              </a:rPr>
              <a:t>MariaDB</a:t>
            </a:r>
            <a:br/>
            <a:br/>
            <a:r>
              <a:rPr sz="1250" b="0">
                <a:solidFill>
                  <a:srgbClr val="B1BBCC"/>
                </a:solidFill>
                <a:latin typeface="Aptos"/>
              </a:rPr>
              <a:t>Devuelve JSON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0744199" y="2130552"/>
            <a:ext cx="777240" cy="274320"/>
          </a:xfrm>
          <a:prstGeom prst="roundRect">
            <a:avLst/>
          </a:prstGeom>
          <a:solidFill>
            <a:srgbClr val="FF6978"/>
          </a:solidFill>
          <a:ln>
            <a:solidFill>
              <a:srgbClr val="FF69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789919" y="2176272"/>
            <a:ext cx="685800" cy="128016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ctr"/>
            <a:r>
              <a:rPr sz="800" b="1">
                <a:solidFill>
                  <a:srgbClr val="0C1323"/>
                </a:solidFill>
                <a:latin typeface="Aptos"/>
              </a:rPr>
              <a:t>BACKEND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40080" y="5303520"/>
            <a:ext cx="10881360" cy="566928"/>
          </a:xfrm>
          <a:prstGeom prst="roundRect">
            <a:avLst/>
          </a:prstGeom>
          <a:solidFill>
            <a:srgbClr val="172238"/>
          </a:solidFill>
          <a:ln>
            <a:solidFill>
              <a:srgbClr val="1722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68680" y="5477256"/>
            <a:ext cx="10424160" cy="246888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Cuando llega el JSON, el hook actualiza movies; React vuelve a renderizar automáticamente los componentes que utilizan ese estado.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" y="6016752"/>
            <a:ext cx="10881360" cy="274320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ctr"/>
            <a:r>
              <a:rPr sz="1300" b="1">
                <a:solidFill>
                  <a:srgbClr val="36D3DD"/>
                </a:solidFill>
                <a:latin typeface="Aptos"/>
              </a:rPr>
              <a:t>El hook reutiliza lógica, no HTML: la presentación sigue viviendo en Pages y Components.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3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53D68E"/>
          </a:solidFill>
          <a:ln>
            <a:solidFill>
              <a:srgbClr val="53D6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2743200" cy="228600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l"/>
            <a:r>
              <a:rPr sz="1000" b="1">
                <a:solidFill>
                  <a:srgbClr val="53D68E"/>
                </a:solidFill>
                <a:latin typeface="Aptos"/>
              </a:rPr>
              <a:t>PROBAR API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320040"/>
            <a:ext cx="502920" cy="228600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r"/>
            <a:r>
              <a:rPr sz="1000" b="1">
                <a:solidFill>
                  <a:srgbClr val="B1BBCC"/>
                </a:solidFill>
                <a:latin typeface="Aptos"/>
              </a:rP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58952"/>
            <a:ext cx="10698480" cy="502920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Aptos"/>
              </a:rPr>
              <a:t>Herramientas para ver y ejecutar endpoints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1353312"/>
            <a:ext cx="10607040" cy="365760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l"/>
            <a:r>
              <a:rPr sz="1300" b="0">
                <a:solidFill>
                  <a:srgbClr val="B1BBCC"/>
                </a:solidFill>
                <a:latin typeface="Aptos"/>
              </a:rPr>
              <a:t>Las tres permiten trabajar con APIs HTTP, pero tienen objetivos y niveles de integración diferentes.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510528"/>
            <a:ext cx="3657600" cy="164592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l"/>
            <a:r>
              <a:rPr sz="800" b="1">
                <a:solidFill>
                  <a:srgbClr val="B1BBCC"/>
                </a:solidFill>
                <a:latin typeface="Aptos"/>
              </a:rPr>
              <a:t>CINE APP · HOSTINGER COMPARTIDO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1828800"/>
            <a:ext cx="3429000" cy="3200400"/>
          </a:xfrm>
          <a:prstGeom prst="roundRect">
            <a:avLst/>
          </a:prstGeom>
          <a:solidFill>
            <a:srgbClr val="172238"/>
          </a:solidFill>
          <a:ln>
            <a:solidFill>
              <a:srgbClr val="2A3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65760" y="1828800"/>
            <a:ext cx="64008" cy="3200400"/>
          </a:xfrm>
          <a:prstGeom prst="roundRect">
            <a:avLst/>
          </a:prstGeom>
          <a:solidFill>
            <a:srgbClr val="36D3DD"/>
          </a:solidFill>
          <a:ln>
            <a:solidFill>
              <a:srgbClr val="36D3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2011680"/>
            <a:ext cx="3017520" cy="292608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ptos"/>
              </a:rPr>
              <a:t>SWAGGER / OPENAPI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468880"/>
            <a:ext cx="3017520" cy="2423160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l"/>
            <a:r>
              <a:rPr sz="1250" b="0">
                <a:solidFill>
                  <a:srgbClr val="B1BBCC"/>
                </a:solidFill>
                <a:latin typeface="Aptos"/>
              </a:rPr>
              <a:t>Documentación web generada desde una especificación.</a:t>
            </a:r>
            <a:br/>
            <a:br/>
            <a:r>
              <a:rPr sz="1250" b="0">
                <a:solidFill>
                  <a:srgbClr val="B1BBCC"/>
                </a:solidFill>
                <a:latin typeface="Aptos"/>
              </a:rPr>
              <a:t>Lista contratos, parámetros, respuestas y permite ejecutar endpoints.</a:t>
            </a:r>
            <a:br/>
            <a:br/>
            <a:r>
              <a:rPr sz="1250" b="0">
                <a:solidFill>
                  <a:srgbClr val="B1BBCC"/>
                </a:solidFill>
                <a:latin typeface="Aptos"/>
              </a:rPr>
              <a:t>Ideal para documentar una API.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43200" y="1993392"/>
            <a:ext cx="777240" cy="274320"/>
          </a:xfrm>
          <a:prstGeom prst="roundRect">
            <a:avLst/>
          </a:prstGeom>
          <a:solidFill>
            <a:srgbClr val="36D3DD"/>
          </a:solidFill>
          <a:ln>
            <a:solidFill>
              <a:srgbClr val="36D3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88920" y="2039112"/>
            <a:ext cx="685800" cy="128016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ctr"/>
            <a:r>
              <a:rPr sz="800" b="1">
                <a:solidFill>
                  <a:srgbClr val="0C1323"/>
                </a:solidFill>
                <a:latin typeface="Aptos"/>
              </a:rPr>
              <a:t>DOCUMENTA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60520" y="1828800"/>
            <a:ext cx="3429000" cy="3200400"/>
          </a:xfrm>
          <a:prstGeom prst="roundRect">
            <a:avLst/>
          </a:prstGeom>
          <a:solidFill>
            <a:srgbClr val="172238"/>
          </a:solidFill>
          <a:ln>
            <a:solidFill>
              <a:srgbClr val="2A3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160520" y="1828800"/>
            <a:ext cx="64008" cy="3200400"/>
          </a:xfrm>
          <a:prstGeom prst="roundRect">
            <a:avLst/>
          </a:prstGeom>
          <a:solidFill>
            <a:srgbClr val="FF9E58"/>
          </a:solidFill>
          <a:ln>
            <a:solidFill>
              <a:srgbClr val="FF9E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89120" y="2011680"/>
            <a:ext cx="3017520" cy="292608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ptos"/>
              </a:rPr>
              <a:t>POSTMAN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0" y="2468880"/>
            <a:ext cx="3017520" cy="2423160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l"/>
            <a:r>
              <a:rPr sz="1250" b="0">
                <a:solidFill>
                  <a:srgbClr val="B1BBCC"/>
                </a:solidFill>
                <a:latin typeface="Aptos"/>
              </a:rPr>
              <a:t>Aplicación independiente para crear colecciones, ambientes, pruebas y compartir peticiones.</a:t>
            </a:r>
            <a:br/>
            <a:br/>
            <a:r>
              <a:rPr sz="1250" b="0">
                <a:solidFill>
                  <a:srgbClr val="B1BBCC"/>
                </a:solidFill>
                <a:latin typeface="Aptos"/>
              </a:rPr>
              <a:t>Ideal para equipos y suites grandes.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37960" y="1993392"/>
            <a:ext cx="777240" cy="274320"/>
          </a:xfrm>
          <a:prstGeom prst="roundRect">
            <a:avLst/>
          </a:prstGeom>
          <a:solidFill>
            <a:srgbClr val="FF9E58"/>
          </a:solidFill>
          <a:ln>
            <a:solidFill>
              <a:srgbClr val="FF9E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0" y="2039112"/>
            <a:ext cx="685800" cy="128016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ctr"/>
            <a:r>
              <a:rPr sz="800" b="1">
                <a:solidFill>
                  <a:srgbClr val="0C1323"/>
                </a:solidFill>
                <a:latin typeface="Aptos"/>
              </a:rPr>
              <a:t>COLABORA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955279" y="1828800"/>
            <a:ext cx="3429000" cy="3200400"/>
          </a:xfrm>
          <a:prstGeom prst="roundRect">
            <a:avLst/>
          </a:prstGeom>
          <a:solidFill>
            <a:srgbClr val="172238"/>
          </a:solidFill>
          <a:ln>
            <a:solidFill>
              <a:srgbClr val="2A3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955279" y="1828800"/>
            <a:ext cx="64008" cy="3200400"/>
          </a:xfrm>
          <a:prstGeom prst="roundRect">
            <a:avLst/>
          </a:prstGeom>
          <a:solidFill>
            <a:srgbClr val="53D68E"/>
          </a:solidFill>
          <a:ln>
            <a:solidFill>
              <a:srgbClr val="53D6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83879" y="2011680"/>
            <a:ext cx="3017520" cy="292608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ptos"/>
              </a:rPr>
              <a:t>THUNDER CLIENT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83879" y="2468880"/>
            <a:ext cx="3017520" cy="2423160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l"/>
            <a:r>
              <a:rPr sz="1250" b="0">
                <a:solidFill>
                  <a:srgbClr val="B1BBCC"/>
                </a:solidFill>
                <a:latin typeface="Aptos"/>
              </a:rPr>
              <a:t>Extensión liviana dentro de Visual Studio Code.</a:t>
            </a:r>
            <a:br/>
            <a:br/>
            <a:r>
              <a:rPr sz="1250" b="0">
                <a:solidFill>
                  <a:srgbClr val="B1BBCC"/>
                </a:solidFill>
                <a:latin typeface="Aptos"/>
              </a:rPr>
              <a:t>Permite elegir método, URL, query, headers y body, y ver status + JSON.</a:t>
            </a:r>
            <a:br/>
            <a:br/>
            <a:r>
              <a:rPr sz="1250" b="0">
                <a:solidFill>
                  <a:srgbClr val="B1BBCC"/>
                </a:solidFill>
                <a:latin typeface="Aptos"/>
              </a:rPr>
              <a:t>Es la elegida para esta clase.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332719" y="1993392"/>
            <a:ext cx="777240" cy="274320"/>
          </a:xfrm>
          <a:prstGeom prst="roundRect">
            <a:avLst/>
          </a:prstGeom>
          <a:solidFill>
            <a:srgbClr val="53D68E"/>
          </a:solidFill>
          <a:ln>
            <a:solidFill>
              <a:srgbClr val="53D6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378440" y="2039112"/>
            <a:ext cx="685800" cy="128016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ctr"/>
            <a:r>
              <a:rPr sz="800" b="1">
                <a:solidFill>
                  <a:srgbClr val="0C1323"/>
                </a:solidFill>
                <a:latin typeface="Aptos"/>
              </a:rPr>
              <a:t>USAREMOS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2920" y="5349240"/>
            <a:ext cx="11201400" cy="777240"/>
          </a:xfrm>
          <a:prstGeom prst="roundRect">
            <a:avLst/>
          </a:prstGeom>
          <a:solidFill>
            <a:srgbClr val="172238"/>
          </a:solidFill>
          <a:ln>
            <a:solidFill>
              <a:srgbClr val="1722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" y="5577840"/>
            <a:ext cx="10744200" cy="292608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onsolas"/>
              </a:rPr>
              <a:t>EJEMPLO  ·  GET  http://localhost/cine-app/public/api/funciones/1/asientos  →  Send  →  200 OK  →  { data: [...], screening: {...} }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3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53D68E"/>
          </a:solidFill>
          <a:ln>
            <a:solidFill>
              <a:srgbClr val="53D6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2743200" cy="228600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l"/>
            <a:r>
              <a:rPr sz="1000" b="1">
                <a:solidFill>
                  <a:srgbClr val="53D68E"/>
                </a:solidFill>
                <a:latin typeface="Aptos"/>
              </a:rPr>
              <a:t>PERMISOS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320040"/>
            <a:ext cx="502920" cy="228600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r"/>
            <a:r>
              <a:rPr sz="1000" b="1">
                <a:solidFill>
                  <a:srgbClr val="B1BBCC"/>
                </a:solidFill>
                <a:latin typeface="Aptos"/>
              </a:rPr>
              <a:t>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58952"/>
            <a:ext cx="10698480" cy="502920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Aptos"/>
              </a:rPr>
              <a:t>Permisos recomendados en Hostinger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1353312"/>
            <a:ext cx="10607040" cy="365760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l"/>
            <a:r>
              <a:rPr sz="1300" b="0">
                <a:solidFill>
                  <a:srgbClr val="B1BBCC"/>
                </a:solidFill>
                <a:latin typeface="Aptos"/>
              </a:rPr>
              <a:t>Aplicar el mínimo necesario: lectura para el código, escritura sólo donde Symfony la necesita y acceso restringido a secretos.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510528"/>
            <a:ext cx="3657600" cy="164592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l"/>
            <a:r>
              <a:rPr sz="800" b="1">
                <a:solidFill>
                  <a:srgbClr val="B1BBCC"/>
                </a:solidFill>
                <a:latin typeface="Aptos"/>
              </a:rPr>
              <a:t>CINE APP · HOSTINGER COMPARTIDO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1828800"/>
            <a:ext cx="2606040" cy="3474720"/>
          </a:xfrm>
          <a:prstGeom prst="roundRect">
            <a:avLst/>
          </a:prstGeom>
          <a:solidFill>
            <a:srgbClr val="172238"/>
          </a:solidFill>
          <a:ln>
            <a:solidFill>
              <a:srgbClr val="2A3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65760" y="1828800"/>
            <a:ext cx="64008" cy="3474720"/>
          </a:xfrm>
          <a:prstGeom prst="roundRect">
            <a:avLst/>
          </a:prstGeom>
          <a:solidFill>
            <a:srgbClr val="36D3DD"/>
          </a:solidFill>
          <a:ln>
            <a:solidFill>
              <a:srgbClr val="36D3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2011680"/>
            <a:ext cx="2194560" cy="292608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ptos"/>
              </a:rPr>
              <a:t>755 · DIRECTORIOS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468880"/>
            <a:ext cx="2194560" cy="2697479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l"/>
            <a:r>
              <a:rPr sz="1250" b="0">
                <a:solidFill>
                  <a:srgbClr val="B1BBCC"/>
                </a:solidFill>
                <a:latin typeface="Aptos"/>
              </a:rPr>
              <a:t>public_html/</a:t>
            </a:r>
            <a:br/>
            <a:r>
              <a:rPr sz="1250" b="0">
                <a:solidFill>
                  <a:srgbClr val="B1BBCC"/>
                </a:solidFill>
                <a:latin typeface="Aptos"/>
              </a:rPr>
              <a:t>public/ · assets/</a:t>
            </a:r>
            <a:br/>
            <a:r>
              <a:rPr sz="1250" b="0">
                <a:solidFill>
                  <a:srgbClr val="B1BBCC"/>
                </a:solidFill>
                <a:latin typeface="Aptos"/>
              </a:rPr>
              <a:t>src/ · config/</a:t>
            </a:r>
            <a:br/>
            <a:r>
              <a:rPr sz="1250" b="0">
                <a:solidFill>
                  <a:srgbClr val="B1BBCC"/>
                </a:solidFill>
                <a:latin typeface="Aptos"/>
              </a:rPr>
              <a:t>vendor/ · migrations/</a:t>
            </a:r>
            <a:br/>
            <a:br/>
            <a:r>
              <a:rPr sz="1250" b="0">
                <a:solidFill>
                  <a:srgbClr val="B1BBCC"/>
                </a:solidFill>
                <a:latin typeface="Aptos"/>
              </a:rPr>
              <a:t>El servidor puede recorrer y leer.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920240" y="1993392"/>
            <a:ext cx="777240" cy="274320"/>
          </a:xfrm>
          <a:prstGeom prst="roundRect">
            <a:avLst/>
          </a:prstGeom>
          <a:solidFill>
            <a:srgbClr val="36D3DD"/>
          </a:solidFill>
          <a:ln>
            <a:solidFill>
              <a:srgbClr val="36D3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965960" y="2039112"/>
            <a:ext cx="685800" cy="128016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ctr"/>
            <a:r>
              <a:rPr sz="800" b="1">
                <a:solidFill>
                  <a:srgbClr val="0C1323"/>
                </a:solidFill>
                <a:latin typeface="Aptos"/>
              </a:rPr>
              <a:t>CARPETAS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46120" y="1828800"/>
            <a:ext cx="2606040" cy="3474720"/>
          </a:xfrm>
          <a:prstGeom prst="roundRect">
            <a:avLst/>
          </a:prstGeom>
          <a:solidFill>
            <a:srgbClr val="172238"/>
          </a:solidFill>
          <a:ln>
            <a:solidFill>
              <a:srgbClr val="2A3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246120" y="1828800"/>
            <a:ext cx="64008" cy="3474720"/>
          </a:xfrm>
          <a:prstGeom prst="roundRect">
            <a:avLst/>
          </a:prstGeom>
          <a:solidFill>
            <a:srgbClr val="53D68E"/>
          </a:solidFill>
          <a:ln>
            <a:solidFill>
              <a:srgbClr val="53D6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74720" y="2011680"/>
            <a:ext cx="2194560" cy="292608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ptos"/>
              </a:rPr>
              <a:t>644 · ARCHIVOS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74720" y="2468880"/>
            <a:ext cx="2194560" cy="2697479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l"/>
            <a:r>
              <a:rPr sz="1250" b="0">
                <a:solidFill>
                  <a:srgbClr val="B1BBCC"/>
                </a:solidFill>
                <a:latin typeface="Aptos"/>
              </a:rPr>
              <a:t>*.php · *.js · *.css</a:t>
            </a:r>
            <a:br/>
            <a:r>
              <a:rPr sz="1250" b="0">
                <a:solidFill>
                  <a:srgbClr val="B1BBCC"/>
                </a:solidFill>
                <a:latin typeface="Aptos"/>
              </a:rPr>
              <a:t>imágenes y fuentes</a:t>
            </a:r>
            <a:br/>
            <a:r>
              <a:rPr sz="1250" b="0">
                <a:solidFill>
                  <a:srgbClr val="B1BBCC"/>
                </a:solidFill>
                <a:latin typeface="Aptos"/>
              </a:rPr>
              <a:t>index.php · .htaccess</a:t>
            </a:r>
            <a:br/>
            <a:r>
              <a:rPr sz="1250" b="0">
                <a:solidFill>
                  <a:srgbClr val="B1BBCC"/>
                </a:solidFill>
                <a:latin typeface="Aptos"/>
              </a:rPr>
              <a:t>composer.json</a:t>
            </a:r>
            <a:br/>
            <a:r>
              <a:rPr sz="1250" b="0">
                <a:solidFill>
                  <a:srgbClr val="B1BBCC"/>
                </a:solidFill>
                <a:latin typeface="Aptos"/>
              </a:rPr>
              <a:t>composer.lock</a:t>
            </a:r>
            <a:br/>
            <a:br/>
            <a:r>
              <a:rPr sz="1250" b="0">
                <a:solidFill>
                  <a:srgbClr val="B1BBCC"/>
                </a:solidFill>
                <a:latin typeface="Aptos"/>
              </a:rPr>
              <a:t>Lectura sin escritura pública.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800600" y="1993392"/>
            <a:ext cx="777240" cy="274320"/>
          </a:xfrm>
          <a:prstGeom prst="roundRect">
            <a:avLst/>
          </a:prstGeom>
          <a:solidFill>
            <a:srgbClr val="53D68E"/>
          </a:solidFill>
          <a:ln>
            <a:solidFill>
              <a:srgbClr val="53D6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46320" y="2039112"/>
            <a:ext cx="685800" cy="128016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ctr"/>
            <a:r>
              <a:rPr sz="800" b="1">
                <a:solidFill>
                  <a:srgbClr val="0C1323"/>
                </a:solidFill>
                <a:latin typeface="Aptos"/>
              </a:rPr>
              <a:t>ARCHIVOS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26480" y="1828800"/>
            <a:ext cx="2606040" cy="3474720"/>
          </a:xfrm>
          <a:prstGeom prst="roundRect">
            <a:avLst/>
          </a:prstGeom>
          <a:solidFill>
            <a:srgbClr val="172238"/>
          </a:solidFill>
          <a:ln>
            <a:solidFill>
              <a:srgbClr val="2A3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126480" y="1828800"/>
            <a:ext cx="64008" cy="3474720"/>
          </a:xfrm>
          <a:prstGeom prst="roundRect">
            <a:avLst/>
          </a:prstGeom>
          <a:solidFill>
            <a:srgbClr val="FF9E58"/>
          </a:solidFill>
          <a:ln>
            <a:solidFill>
              <a:srgbClr val="FF9E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55080" y="2011680"/>
            <a:ext cx="2194560" cy="292608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ptos"/>
              </a:rPr>
              <a:t>775 · ESCRITURA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5080" y="2468880"/>
            <a:ext cx="2194560" cy="2697479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l"/>
            <a:r>
              <a:rPr sz="1250" b="0">
                <a:solidFill>
                  <a:srgbClr val="B1BBCC"/>
                </a:solidFill>
                <a:latin typeface="Aptos"/>
              </a:rPr>
              <a:t>var/cache/</a:t>
            </a:r>
            <a:br/>
            <a:r>
              <a:rPr sz="1250" b="0">
                <a:solidFill>
                  <a:srgbClr val="B1BBCC"/>
                </a:solidFill>
                <a:latin typeface="Aptos"/>
              </a:rPr>
              <a:t>var/log/</a:t>
            </a:r>
            <a:br/>
            <a:br/>
            <a:r>
              <a:rPr sz="1250" b="0">
                <a:solidFill>
                  <a:srgbClr val="B1BBCC"/>
                </a:solidFill>
                <a:latin typeface="Aptos"/>
              </a:rPr>
              <a:t>Symfony necesita crear caché y logs.</a:t>
            </a:r>
            <a:br/>
            <a:br/>
            <a:r>
              <a:rPr sz="1250" b="0">
                <a:solidFill>
                  <a:srgbClr val="B1BBCC"/>
                </a:solidFill>
                <a:latin typeface="Aptos"/>
              </a:rPr>
              <a:t>Si 755 funciona con el usuario PHP, preferir 755.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680960" y="1993392"/>
            <a:ext cx="777240" cy="274320"/>
          </a:xfrm>
          <a:prstGeom prst="roundRect">
            <a:avLst/>
          </a:prstGeom>
          <a:solidFill>
            <a:srgbClr val="FF9E58"/>
          </a:solidFill>
          <a:ln>
            <a:solidFill>
              <a:srgbClr val="FF9E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26680" y="2039112"/>
            <a:ext cx="685800" cy="128016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ctr"/>
            <a:r>
              <a:rPr sz="800" b="1">
                <a:solidFill>
                  <a:srgbClr val="0C1323"/>
                </a:solidFill>
                <a:latin typeface="Aptos"/>
              </a:rPr>
              <a:t>SYMFONY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006840" y="1828800"/>
            <a:ext cx="2788920" cy="3474720"/>
          </a:xfrm>
          <a:prstGeom prst="roundRect">
            <a:avLst/>
          </a:prstGeom>
          <a:solidFill>
            <a:srgbClr val="172238"/>
          </a:solidFill>
          <a:ln>
            <a:solidFill>
              <a:srgbClr val="2A3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9006840" y="1828800"/>
            <a:ext cx="64008" cy="3474720"/>
          </a:xfrm>
          <a:prstGeom prst="roundRect">
            <a:avLst/>
          </a:prstGeom>
          <a:solidFill>
            <a:srgbClr val="FF6978"/>
          </a:solidFill>
          <a:ln>
            <a:solidFill>
              <a:srgbClr val="FF69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235440" y="2011680"/>
            <a:ext cx="2377439" cy="292608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ptos"/>
              </a:rPr>
              <a:t>600 · SECRETOS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35440" y="2468880"/>
            <a:ext cx="2377439" cy="2697479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l"/>
            <a:r>
              <a:rPr sz="1250" b="0">
                <a:solidFill>
                  <a:srgbClr val="B1BBCC"/>
                </a:solidFill>
                <a:latin typeface="Aptos"/>
              </a:rPr>
              <a:t>.env.local</a:t>
            </a:r>
            <a:br/>
            <a:r>
              <a:rPr sz="1250" b="0">
                <a:solidFill>
                  <a:srgbClr val="B1BBCC"/>
                </a:solidFill>
                <a:latin typeface="Aptos"/>
              </a:rPr>
              <a:t>claves privadas</a:t>
            </a:r>
            <a:br/>
            <a:r>
              <a:rPr sz="1250" b="0">
                <a:solidFill>
                  <a:srgbClr val="B1BBCC"/>
                </a:solidFill>
                <a:latin typeface="Aptos"/>
              </a:rPr>
              <a:t>certificados privados</a:t>
            </a:r>
            <a:br/>
            <a:br/>
            <a:r>
              <a:rPr sz="1250" b="0">
                <a:solidFill>
                  <a:srgbClr val="B1BBCC"/>
                </a:solidFill>
                <a:latin typeface="Aptos"/>
              </a:rPr>
              <a:t>Sólo el propietario puede leer y escribir.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744199" y="1993392"/>
            <a:ext cx="777240" cy="274320"/>
          </a:xfrm>
          <a:prstGeom prst="roundRect">
            <a:avLst/>
          </a:prstGeom>
          <a:solidFill>
            <a:srgbClr val="FF6978"/>
          </a:solidFill>
          <a:ln>
            <a:solidFill>
              <a:srgbClr val="FF69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789919" y="2039112"/>
            <a:ext cx="685800" cy="128016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ctr"/>
            <a:r>
              <a:rPr sz="800" b="1">
                <a:solidFill>
                  <a:srgbClr val="0C1323"/>
                </a:solidFill>
                <a:latin typeface="Aptos"/>
              </a:rPr>
              <a:t>PRIVADO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0080" y="5623560"/>
            <a:ext cx="10881360" cy="566928"/>
          </a:xfrm>
          <a:prstGeom prst="roundRect">
            <a:avLst/>
          </a:prstGeom>
          <a:solidFill>
            <a:srgbClr val="172238"/>
          </a:solidFill>
          <a:ln>
            <a:solidFill>
              <a:srgbClr val="1722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68680" y="5806440"/>
            <a:ext cx="10424160" cy="228600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Nunca usar chmod -R 777: permitiría que cualquier usuario o proceso modificara toda la aplicación.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3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53D68E"/>
          </a:solidFill>
          <a:ln>
            <a:solidFill>
              <a:srgbClr val="53D6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2743200" cy="228600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l"/>
            <a:r>
              <a:rPr sz="1000" b="1">
                <a:solidFill>
                  <a:srgbClr val="53D68E"/>
                </a:solidFill>
                <a:latin typeface="Aptos"/>
              </a:rPr>
              <a:t>REFERENCIAS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320040"/>
            <a:ext cx="502920" cy="228600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r"/>
            <a:r>
              <a:rPr sz="1000" b="1">
                <a:solidFill>
                  <a:srgbClr val="B1BBCC"/>
                </a:solidFill>
                <a:latin typeface="Aptos"/>
              </a:rPr>
              <a:t>33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58952"/>
            <a:ext cx="10698480" cy="502920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Aptos"/>
              </a:rPr>
              <a:t>Fuentes oficiales y siguiente paso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1353312"/>
            <a:ext cx="10607040" cy="365760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l"/>
            <a:r>
              <a:rPr sz="1300" b="0">
                <a:solidFill>
                  <a:srgbClr val="B1BBCC"/>
                </a:solidFill>
                <a:latin typeface="Aptos"/>
              </a:rPr>
              <a:t>Consultadas el 31 de julio de 2026.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510528"/>
            <a:ext cx="3657600" cy="164592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l"/>
            <a:r>
              <a:rPr sz="800" b="1">
                <a:solidFill>
                  <a:srgbClr val="B1BBCC"/>
                </a:solidFill>
                <a:latin typeface="Aptos"/>
              </a:rPr>
              <a:t>CINE APP · HOSTINGER COMPARTIDO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828800"/>
            <a:ext cx="10698480" cy="475488"/>
          </a:xfrm>
          <a:prstGeom prst="roundRect">
            <a:avLst/>
          </a:prstGeom>
          <a:solidFill>
            <a:srgbClr val="172238"/>
          </a:solidFill>
          <a:ln>
            <a:solidFill>
              <a:srgbClr val="1722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938528"/>
            <a:ext cx="9875520" cy="219456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ptos"/>
                <a:hlinkClick r:id="rId2"/>
              </a:rPr>
              <a:t>Directorio raíz y document root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542032"/>
            <a:ext cx="10698480" cy="475488"/>
          </a:xfrm>
          <a:prstGeom prst="roundRect">
            <a:avLst/>
          </a:prstGeom>
          <a:solidFill>
            <a:srgbClr val="172238"/>
          </a:solidFill>
          <a:ln>
            <a:solidFill>
              <a:srgbClr val="1722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651760"/>
            <a:ext cx="9875520" cy="219456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Aptos"/>
                <a:hlinkClick r:id="rId3"/>
              </a:rPr>
              <a:t>Versiones PHP en Hostinger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255264"/>
            <a:ext cx="10698480" cy="475488"/>
          </a:xfrm>
          <a:prstGeom prst="roundRect">
            <a:avLst/>
          </a:prstGeom>
          <a:solidFill>
            <a:srgbClr val="172238"/>
          </a:solidFill>
          <a:ln>
            <a:solidFill>
              <a:srgbClr val="1722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3364992"/>
            <a:ext cx="9875520" cy="219456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Aptos"/>
                <a:hlinkClick r:id="rId4"/>
              </a:rPr>
              <a:t>Composer en hosting compartido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968496"/>
            <a:ext cx="10698480" cy="475488"/>
          </a:xfrm>
          <a:prstGeom prst="roundRect">
            <a:avLst/>
          </a:prstGeom>
          <a:solidFill>
            <a:srgbClr val="172238"/>
          </a:solidFill>
          <a:ln>
            <a:solidFill>
              <a:srgbClr val="1722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4078224"/>
            <a:ext cx="9875520" cy="219456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Aptos"/>
                <a:hlinkClick r:id="rId5"/>
              </a:rPr>
              <a:t>Crear y configurar subdominios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8" y="5074920"/>
            <a:ext cx="2011680" cy="274320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l"/>
            <a:r>
              <a:rPr sz="1200" b="1">
                <a:solidFill>
                  <a:srgbClr val="FF9E58"/>
                </a:solidFill>
                <a:latin typeface="Aptos"/>
              </a:rPr>
              <a:t>SIGUIENTE PASO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8" y="5440680"/>
            <a:ext cx="10332720" cy="502920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ptos"/>
              </a:rPr>
              <a:t>Aplicar estos cambios al repositorio y generar el paquete exacto para Hostinger.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3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53D68E"/>
          </a:solidFill>
          <a:ln>
            <a:solidFill>
              <a:srgbClr val="53D6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2743200" cy="228600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l"/>
            <a:r>
              <a:rPr sz="1000" b="1">
                <a:solidFill>
                  <a:srgbClr val="53D68E"/>
                </a:solidFill>
                <a:latin typeface="Aptos"/>
              </a:rPr>
              <a:t>INICIO LOCAL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320040"/>
            <a:ext cx="502920" cy="228600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r"/>
            <a:r>
              <a:rPr sz="1000" b="1">
                <a:solidFill>
                  <a:srgbClr val="B1BBCC"/>
                </a:solidFill>
                <a:latin typeface="Aptos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58952"/>
            <a:ext cx="10698480" cy="502920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Aptos"/>
              </a:rPr>
              <a:t>Cómo ejecutar el proyecto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1353312"/>
            <a:ext cx="10607040" cy="365760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l"/>
            <a:r>
              <a:rPr sz="1300" b="0">
                <a:solidFill>
                  <a:srgbClr val="B1BBCC"/>
                </a:solidFill>
                <a:latin typeface="Aptos"/>
              </a:rPr>
              <a:t>Primero iniciar Apache y MySQL desde XAMPP Control Panel; Symfony queda servido por Apache y React por Vite.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510528"/>
            <a:ext cx="3657600" cy="164592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l"/>
            <a:r>
              <a:rPr sz="800" b="1">
                <a:solidFill>
                  <a:srgbClr val="B1BBCC"/>
                </a:solidFill>
                <a:latin typeface="Aptos"/>
              </a:rPr>
              <a:t>CINE APP · HOSTINGER COMPARTIDO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1828800"/>
            <a:ext cx="3429000" cy="3520440"/>
          </a:xfrm>
          <a:prstGeom prst="roundRect">
            <a:avLst/>
          </a:prstGeom>
          <a:solidFill>
            <a:srgbClr val="172238"/>
          </a:solidFill>
          <a:ln>
            <a:solidFill>
              <a:srgbClr val="2A3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65760" y="1828800"/>
            <a:ext cx="64008" cy="3520440"/>
          </a:xfrm>
          <a:prstGeom prst="roundRect">
            <a:avLst/>
          </a:prstGeom>
          <a:solidFill>
            <a:srgbClr val="36D3DD"/>
          </a:solidFill>
          <a:ln>
            <a:solidFill>
              <a:srgbClr val="36D3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2011680"/>
            <a:ext cx="3017520" cy="292608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ptos"/>
              </a:rPr>
              <a:t>1 · XAMPP / BACKEND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468880"/>
            <a:ext cx="3017520" cy="2743200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l"/>
            <a:r>
              <a:rPr sz="1250" b="0">
                <a:solidFill>
                  <a:srgbClr val="B1BBCC"/>
                </a:solidFill>
                <a:latin typeface="Aptos"/>
              </a:rPr>
              <a:t>Iniciar:</a:t>
            </a:r>
            <a:br/>
            <a:r>
              <a:rPr sz="1250" b="0">
                <a:solidFill>
                  <a:srgbClr val="B1BBCC"/>
                </a:solidFill>
                <a:latin typeface="Aptos"/>
              </a:rPr>
              <a:t>✓ Apache</a:t>
            </a:r>
            <a:br/>
            <a:r>
              <a:rPr sz="1250" b="0">
                <a:solidFill>
                  <a:srgbClr val="B1BBCC"/>
                </a:solidFill>
                <a:latin typeface="Aptos"/>
              </a:rPr>
              <a:t>✓ MySQL</a:t>
            </a:r>
            <a:br/>
            <a:br/>
            <a:r>
              <a:rPr sz="1250" b="0">
                <a:solidFill>
                  <a:srgbClr val="B1BBCC"/>
                </a:solidFill>
                <a:latin typeface="Aptos"/>
              </a:rPr>
              <a:t>API health:</a:t>
            </a:r>
            <a:br/>
            <a:r>
              <a:rPr sz="1250" b="0">
                <a:solidFill>
                  <a:srgbClr val="B1BBCC"/>
                </a:solidFill>
                <a:latin typeface="Aptos"/>
              </a:rPr>
              <a:t>http://localhost/cine-app/</a:t>
            </a:r>
            <a:br/>
            <a:r>
              <a:rPr sz="1250" b="0">
                <a:solidFill>
                  <a:srgbClr val="B1BBCC"/>
                </a:solidFill>
                <a:latin typeface="Aptos"/>
              </a:rPr>
              <a:t>public/api/health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43200" y="1993392"/>
            <a:ext cx="777240" cy="274320"/>
          </a:xfrm>
          <a:prstGeom prst="roundRect">
            <a:avLst/>
          </a:prstGeom>
          <a:solidFill>
            <a:srgbClr val="36D3DD"/>
          </a:solidFill>
          <a:ln>
            <a:solidFill>
              <a:srgbClr val="36D3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88920" y="2039112"/>
            <a:ext cx="685800" cy="128016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ctr"/>
            <a:r>
              <a:rPr sz="800" b="1">
                <a:solidFill>
                  <a:srgbClr val="0C1323"/>
                </a:solidFill>
                <a:latin typeface="Aptos"/>
              </a:rPr>
              <a:t>SERVIDOR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60520" y="1828800"/>
            <a:ext cx="3794760" cy="3520440"/>
          </a:xfrm>
          <a:prstGeom prst="roundRect">
            <a:avLst/>
          </a:prstGeom>
          <a:solidFill>
            <a:srgbClr val="172238"/>
          </a:solidFill>
          <a:ln>
            <a:solidFill>
              <a:srgbClr val="2A3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160520" y="1828800"/>
            <a:ext cx="64008" cy="3520440"/>
          </a:xfrm>
          <a:prstGeom prst="roundRect">
            <a:avLst/>
          </a:prstGeom>
          <a:solidFill>
            <a:srgbClr val="53D68E"/>
          </a:solidFill>
          <a:ln>
            <a:solidFill>
              <a:srgbClr val="53D6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89120" y="2011680"/>
            <a:ext cx="3383280" cy="292608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ptos"/>
              </a:rPr>
              <a:t>2 · BASE DE DATOS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0" y="2468880"/>
            <a:ext cx="3383280" cy="2743200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l"/>
            <a:r>
              <a:rPr sz="1250" b="0">
                <a:solidFill>
                  <a:srgbClr val="B1BBCC"/>
                </a:solidFill>
                <a:latin typeface="Aptos"/>
              </a:rPr>
              <a:t>Desde la raíz:</a:t>
            </a:r>
            <a:br/>
            <a:br/>
            <a:r>
              <a:rPr sz="1250" b="0">
                <a:solidFill>
                  <a:srgbClr val="B1BBCC"/>
                </a:solidFill>
                <a:latin typeface="Aptos"/>
              </a:rPr>
              <a:t>C:\xampp\php\php.exe</a:t>
            </a:r>
            <a:br/>
            <a:r>
              <a:rPr sz="1250" b="0">
                <a:solidFill>
                  <a:srgbClr val="B1BBCC"/>
                </a:solidFill>
                <a:latin typeface="Aptos"/>
              </a:rPr>
              <a:t>bin\console doctrine:database:create</a:t>
            </a:r>
            <a:br/>
            <a:r>
              <a:rPr sz="1250" b="0">
                <a:solidFill>
                  <a:srgbClr val="B1BBCC"/>
                </a:solidFill>
                <a:latin typeface="Aptos"/>
              </a:rPr>
              <a:t>  --if-not-exists</a:t>
            </a:r>
            <a:br/>
            <a:br/>
            <a:r>
              <a:rPr sz="1250" b="0">
                <a:solidFill>
                  <a:srgbClr val="B1BBCC"/>
                </a:solidFill>
                <a:latin typeface="Aptos"/>
              </a:rPr>
              <a:t>C:\xampp\php\php.exe</a:t>
            </a:r>
            <a:br/>
            <a:r>
              <a:rPr sz="1250" b="0">
                <a:solidFill>
                  <a:srgbClr val="B1BBCC"/>
                </a:solidFill>
                <a:latin typeface="Aptos"/>
              </a:rPr>
              <a:t>bin\console doctrine:migrations:migrate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903719" y="1993392"/>
            <a:ext cx="777240" cy="274320"/>
          </a:xfrm>
          <a:prstGeom prst="roundRect">
            <a:avLst/>
          </a:prstGeom>
          <a:solidFill>
            <a:srgbClr val="53D68E"/>
          </a:solidFill>
          <a:ln>
            <a:solidFill>
              <a:srgbClr val="53D6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49440" y="2039112"/>
            <a:ext cx="685800" cy="128016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ctr"/>
            <a:r>
              <a:rPr sz="800" b="1">
                <a:solidFill>
                  <a:srgbClr val="0C1323"/>
                </a:solidFill>
                <a:latin typeface="Aptos"/>
              </a:rPr>
              <a:t>PRIMERA VEZ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83879" y="1828800"/>
            <a:ext cx="3611880" cy="3520440"/>
          </a:xfrm>
          <a:prstGeom prst="roundRect">
            <a:avLst/>
          </a:prstGeom>
          <a:solidFill>
            <a:srgbClr val="172238"/>
          </a:solidFill>
          <a:ln>
            <a:solidFill>
              <a:srgbClr val="2A3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183879" y="1828800"/>
            <a:ext cx="64008" cy="3520440"/>
          </a:xfrm>
          <a:prstGeom prst="roundRect">
            <a:avLst/>
          </a:prstGeom>
          <a:solidFill>
            <a:srgbClr val="FF9E58"/>
          </a:solidFill>
          <a:ln>
            <a:solidFill>
              <a:srgbClr val="FF9E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12480" y="2011680"/>
            <a:ext cx="3200400" cy="292608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ptos"/>
              </a:rPr>
              <a:t>3 · FRONTEND REACT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80" y="2468880"/>
            <a:ext cx="3200400" cy="2743200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l"/>
            <a:r>
              <a:rPr sz="1250" b="0">
                <a:solidFill>
                  <a:srgbClr val="B1BBCC"/>
                </a:solidFill>
                <a:latin typeface="Aptos"/>
              </a:rPr>
              <a:t>Desde la raíz:</a:t>
            </a:r>
            <a:br/>
            <a:br/>
            <a:r>
              <a:rPr sz="1250" b="0">
                <a:solidFill>
                  <a:srgbClr val="B1BBCC"/>
                </a:solidFill>
                <a:latin typeface="Aptos"/>
              </a:rPr>
              <a:t>cd frontend</a:t>
            </a:r>
            <a:br/>
            <a:r>
              <a:rPr sz="1250" b="0">
                <a:solidFill>
                  <a:srgbClr val="B1BBCC"/>
                </a:solidFill>
                <a:latin typeface="Aptos"/>
              </a:rPr>
              <a:t>npm install</a:t>
            </a:r>
            <a:br/>
            <a:r>
              <a:rPr sz="1250" b="0">
                <a:solidFill>
                  <a:srgbClr val="B1BBCC"/>
                </a:solidFill>
                <a:latin typeface="Aptos"/>
              </a:rPr>
              <a:t>npm run dev</a:t>
            </a:r>
            <a:br/>
            <a:br/>
            <a:r>
              <a:rPr sz="1250" b="0">
                <a:solidFill>
                  <a:srgbClr val="B1BBCC"/>
                </a:solidFill>
                <a:latin typeface="Aptos"/>
              </a:rPr>
              <a:t>Abrir:</a:t>
            </a:r>
            <a:br/>
            <a:r>
              <a:rPr sz="1250" b="0">
                <a:solidFill>
                  <a:srgbClr val="B1BBCC"/>
                </a:solidFill>
                <a:latin typeface="Aptos"/>
              </a:rPr>
              <a:t>http://localhost:5173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744199" y="1993392"/>
            <a:ext cx="777240" cy="274320"/>
          </a:xfrm>
          <a:prstGeom prst="roundRect">
            <a:avLst/>
          </a:prstGeom>
          <a:solidFill>
            <a:srgbClr val="FF9E58"/>
          </a:solidFill>
          <a:ln>
            <a:solidFill>
              <a:srgbClr val="FF9E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789919" y="2039112"/>
            <a:ext cx="685800" cy="128016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ctr"/>
            <a:r>
              <a:rPr sz="800" b="1">
                <a:solidFill>
                  <a:srgbClr val="0C1323"/>
                </a:solidFill>
                <a:latin typeface="Aptos"/>
              </a:rPr>
              <a:t>VITE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5669280"/>
            <a:ext cx="10881360" cy="566928"/>
          </a:xfrm>
          <a:prstGeom prst="roundRect">
            <a:avLst/>
          </a:prstGeom>
          <a:solidFill>
            <a:srgbClr val="172238"/>
          </a:solidFill>
          <a:ln>
            <a:solidFill>
              <a:srgbClr val="1722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80" y="5852160"/>
            <a:ext cx="10424160" cy="228600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onsolas"/>
              </a:rPr>
              <a:t>Resumen: Backend = Apache + MySQL de XAMPP   |   Frontend = cd frontend &amp;&amp; npm run dev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3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9E58"/>
          </a:solidFill>
          <a:ln>
            <a:solidFill>
              <a:srgbClr val="FF9E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685800"/>
            <a:ext cx="3657600" cy="274320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l"/>
            <a:r>
              <a:rPr sz="1200" b="1">
                <a:solidFill>
                  <a:srgbClr val="FF9E58"/>
                </a:solidFill>
                <a:latin typeface="Aptos"/>
              </a:rPr>
              <a:t>PARTE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18520" y="658368"/>
            <a:ext cx="594360" cy="274320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r"/>
            <a:r>
              <a:rPr sz="1100" b="1">
                <a:solidFill>
                  <a:srgbClr val="B1BBCC"/>
                </a:solidFill>
                <a:latin typeface="Aptos"/>
              </a:rP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7512" y="1965960"/>
            <a:ext cx="9966960" cy="1051560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Aptos"/>
              </a:rPr>
              <a:t>Frontend React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4088" y="3337560"/>
            <a:ext cx="9784080" cy="1097280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l"/>
            <a:r>
              <a:rPr sz="1800" b="0">
                <a:solidFill>
                  <a:srgbClr val="B1BBCC"/>
                </a:solidFill>
                <a:latin typeface="Aptos"/>
              </a:rPr>
              <a:t>Cómo se organiza la interfaz, qué son los componentes y hooks, y cómo el navegador utiliza HTTP para pedir datos.</a:t>
            </a:r>
          </a:p>
        </p:txBody>
      </p:sp>
      <p:sp>
        <p:nvSpPr>
          <p:cNvPr id="7" name="Rectangle 6"/>
          <p:cNvSpPr/>
          <p:nvPr/>
        </p:nvSpPr>
        <p:spPr>
          <a:xfrm>
            <a:off x="704088" y="5029200"/>
            <a:ext cx="2011680" cy="73152"/>
          </a:xfrm>
          <a:prstGeom prst="rect">
            <a:avLst/>
          </a:prstGeom>
          <a:solidFill>
            <a:srgbClr val="FF9E58"/>
          </a:solidFill>
          <a:ln>
            <a:solidFill>
              <a:srgbClr val="FF9E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4088" y="6080760"/>
            <a:ext cx="3657600" cy="182880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l"/>
            <a:r>
              <a:rPr sz="900" b="1">
                <a:solidFill>
                  <a:srgbClr val="B1BBCC"/>
                </a:solidFill>
                <a:latin typeface="Aptos"/>
              </a:rPr>
              <a:t>CINE APP · RECORRIDO DIDÁCTICO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3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6D3DD"/>
          </a:solidFill>
          <a:ln>
            <a:solidFill>
              <a:srgbClr val="36D3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685800"/>
            <a:ext cx="3657600" cy="274320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l"/>
            <a:r>
              <a:rPr sz="1200" b="1">
                <a:solidFill>
                  <a:srgbClr val="36D3DD"/>
                </a:solidFill>
                <a:latin typeface="Aptos"/>
              </a:rPr>
              <a:t>PARTE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18520" y="658368"/>
            <a:ext cx="594360" cy="274320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r"/>
            <a:r>
              <a:rPr sz="1100" b="1">
                <a:solidFill>
                  <a:srgbClr val="B1BBCC"/>
                </a:solidFill>
                <a:latin typeface="Aptos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7512" y="1965960"/>
            <a:ext cx="9966960" cy="1051560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Aptos"/>
              </a:rPr>
              <a:t>Backend Symfony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4088" y="3337560"/>
            <a:ext cx="9784080" cy="1097280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l"/>
            <a:r>
              <a:rPr sz="1800" b="0">
                <a:solidFill>
                  <a:srgbClr val="B1BBCC"/>
                </a:solidFill>
                <a:latin typeface="Aptos"/>
              </a:rPr>
              <a:t>Dónde viven los endpoints, cómo se validan parámetros y cómo Repository, Doctrine ORM y MariaDB obtienen los datos.</a:t>
            </a:r>
          </a:p>
        </p:txBody>
      </p:sp>
      <p:sp>
        <p:nvSpPr>
          <p:cNvPr id="7" name="Rectangle 6"/>
          <p:cNvSpPr/>
          <p:nvPr/>
        </p:nvSpPr>
        <p:spPr>
          <a:xfrm>
            <a:off x="704088" y="5029200"/>
            <a:ext cx="2011680" cy="73152"/>
          </a:xfrm>
          <a:prstGeom prst="rect">
            <a:avLst/>
          </a:prstGeom>
          <a:solidFill>
            <a:srgbClr val="36D3DD"/>
          </a:solidFill>
          <a:ln>
            <a:solidFill>
              <a:srgbClr val="36D3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4088" y="6080760"/>
            <a:ext cx="3657600" cy="182880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l"/>
            <a:r>
              <a:rPr sz="900" b="1">
                <a:solidFill>
                  <a:srgbClr val="B1BBCC"/>
                </a:solidFill>
                <a:latin typeface="Aptos"/>
              </a:rPr>
              <a:t>CINE APP · RECORRIDO DIDÁCTICO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3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53D68E"/>
          </a:solidFill>
          <a:ln>
            <a:solidFill>
              <a:srgbClr val="53D6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685800"/>
            <a:ext cx="3657600" cy="274320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l"/>
            <a:r>
              <a:rPr sz="1200" b="1">
                <a:solidFill>
                  <a:srgbClr val="53D68E"/>
                </a:solidFill>
                <a:latin typeface="Aptos"/>
              </a:rPr>
              <a:t>PARTE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18520" y="658368"/>
            <a:ext cx="594360" cy="274320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r"/>
            <a:r>
              <a:rPr sz="1100" b="1">
                <a:solidFill>
                  <a:srgbClr val="B1BBCC"/>
                </a:solidFill>
                <a:latin typeface="Aptos"/>
              </a:rPr>
              <a:t>23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7512" y="1965960"/>
            <a:ext cx="9966960" cy="1051560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Aptos"/>
              </a:rPr>
              <a:t>Producción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4088" y="3337560"/>
            <a:ext cx="9784080" cy="1097280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l"/>
            <a:r>
              <a:rPr sz="1800" b="0">
                <a:solidFill>
                  <a:srgbClr val="B1BBCC"/>
                </a:solidFill>
                <a:latin typeface="Aptos"/>
              </a:rPr>
              <a:t>Cómo transformar el proyecto local con XAMPP en una publicación segura y verificable dentro de Hostinger compartido.</a:t>
            </a:r>
          </a:p>
        </p:txBody>
      </p:sp>
      <p:sp>
        <p:nvSpPr>
          <p:cNvPr id="7" name="Rectangle 6"/>
          <p:cNvSpPr/>
          <p:nvPr/>
        </p:nvSpPr>
        <p:spPr>
          <a:xfrm>
            <a:off x="704088" y="5029200"/>
            <a:ext cx="2011680" cy="73152"/>
          </a:xfrm>
          <a:prstGeom prst="rect">
            <a:avLst/>
          </a:prstGeom>
          <a:solidFill>
            <a:srgbClr val="53D68E"/>
          </a:solidFill>
          <a:ln>
            <a:solidFill>
              <a:srgbClr val="53D6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4088" y="6080760"/>
            <a:ext cx="3657600" cy="182880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pPr algn="l"/>
            <a:r>
              <a:rPr sz="900" b="1">
                <a:solidFill>
                  <a:srgbClr val="B1BBCC"/>
                </a:solidFill>
                <a:latin typeface="Aptos"/>
              </a:rPr>
              <a:t>CINE APP · RECORRIDO DIDÁCTICO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