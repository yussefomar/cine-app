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5" r:id="rId36"/>
    <p:sldId id="286" r:id="rId37"/>
    <p:sldId id="287" r:id="rId38"/>
    <p:sldId id="290" r:id="rId41"/>
    <p:sldId id="269" r:id="rId20"/>
    <p:sldId id="282" r:id="rId33"/>
    <p:sldId id="276" r:id="rId27"/>
    <p:sldId id="271" r:id="rId22"/>
    <p:sldId id="272" r:id="rId23"/>
    <p:sldId id="273" r:id="rId24"/>
    <p:sldId id="274" r:id="rId25"/>
    <p:sldId id="275" r:id="rId26"/>
    <p:sldId id="258" r:id="rId9"/>
    <p:sldId id="289" r:id="rId40"/>
    <p:sldId id="288" r:id="rId39"/>
    <p:sldId id="279" r:id="rId30"/>
    <p:sldId id="280" r:id="rId31"/>
    <p:sldId id="292" r:id="rId43"/>
    <p:sldId id="281" r:id="rId32"/>
    <p:sldId id="263" r:id="rId14"/>
    <p:sldId id="264" r:id="rId15"/>
    <p:sldId id="270" r:id="rId21"/>
    <p:sldId id="277" r:id="rId28"/>
    <p:sldId id="278" r:id="rId29"/>
    <p:sldId id="268" r:id="rId19"/>
    <p:sldId id="291" r:id="rId42"/>
    <p:sldId id="257" r:id="rId8"/>
    <p:sldId id="259" r:id="rId10"/>
    <p:sldId id="260" r:id="rId11"/>
    <p:sldId id="283" r:id="rId34"/>
    <p:sldId id="261" r:id="rId12"/>
    <p:sldId id="262" r:id="rId13"/>
    <p:sldId id="265" r:id="rId16"/>
    <p:sldId id="266" r:id="rId17"/>
    <p:sldId id="267" r:id="rId18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inger.com/support/1583494-what-is-the-path-to-your-website-s-root-home-directory-and-how-to-change-it-in-hostinger/" TargetMode="External"/><Relationship Id="rId3" Type="http://schemas.openxmlformats.org/officeDocument/2006/relationships/hyperlink" Target="https://www.hostinger.com/support/4047803-how-to-change-the-php-version-for-subfolders-or-subdomains-in-hostinger/" TargetMode="External"/><Relationship Id="rId4" Type="http://schemas.openxmlformats.org/officeDocument/2006/relationships/hyperlink" Target="https://www.hostinger.com/tutorials/how-to-install-composer/" TargetMode="External"/><Relationship Id="rId5" Type="http://schemas.openxmlformats.org/officeDocument/2006/relationships/hyperlink" Target="https://support.hostinger.com/en/articles/1583405-how-to-create-and-delete-subdomains-in-hostinger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457200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100" b="1">
                <a:solidFill>
                  <a:srgbClr val="36D3DD"/>
                </a:solidFill>
                <a:latin typeface="Aptos"/>
              </a:rPr>
              <a:t>CINE APP / GUÍA DE PRODUCCIÓN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6583680" cy="1417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3500" b="1">
                <a:solidFill>
                  <a:srgbClr val="FFFFFF"/>
                </a:solidFill>
                <a:latin typeface="Aptos"/>
              </a:rPr>
              <a:t>De localhost a</a:t>
            </a:r>
            <a:br/>
            <a:r>
              <a:rPr sz="3500" b="1">
                <a:solidFill>
                  <a:srgbClr val="FFFFFF"/>
                </a:solidFill>
                <a:latin typeface="Aptos"/>
              </a:rPr>
              <a:t>Hostinger compartido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108960"/>
            <a:ext cx="585216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800" b="0">
                <a:solidFill>
                  <a:srgbClr val="B1BBCC"/>
                </a:solidFill>
                <a:latin typeface="Aptos"/>
              </a:rPr>
              <a:t>Symfony 7.4 + React/Vite + MySQL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143000"/>
            <a:ext cx="3383280" cy="16459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863840" y="1143000"/>
            <a:ext cx="64008" cy="16459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2588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783080"/>
            <a:ext cx="2971800" cy="8686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PHP 8.2 · Symfony · Doctrine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MySQL · variables seguras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063240"/>
            <a:ext cx="3383280" cy="16459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63840" y="3063240"/>
            <a:ext cx="64008" cy="16459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324612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703320"/>
            <a:ext cx="2971800" cy="8686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React compilado · rutas SPA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URL real de API · HTTPS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852160"/>
            <a:ext cx="1005840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53D68E"/>
                </a:solidFill>
                <a:latin typeface="Aptos"/>
              </a:rPr>
              <a:t>Objetivo: publicar sin Docker y sin exponer secretos.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Arquitectura recomendada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En local se usa XAMPP; en Hostinger compartido PHP y MySQL/MariaDB se ejecutan sin Docker.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017520" cy="3063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306324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26060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LOCAL · XAMPP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2606039" cy="22860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React :5173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Apache :80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Symfony /cine-app/public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MariaDB :3306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154680"/>
            <a:ext cx="54864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30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011680"/>
            <a:ext cx="3337560" cy="3063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17720" y="2011680"/>
            <a:ext cx="64008" cy="30632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2194560"/>
            <a:ext cx="292607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PRODUCCIÓN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651760"/>
            <a:ext cx="2926079" cy="22860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tudominio.com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Frontend: archivos dist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api.tudominio.com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Symfony + MySQL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19" y="217627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22199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IDEAL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011680"/>
            <a:ext cx="3017520" cy="3063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0" y="2011680"/>
            <a:ext cx="64008" cy="30632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194560"/>
            <a:ext cx="26060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VENTAJAS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651760"/>
            <a:ext cx="2606039" cy="22860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Rutas más claras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Despliegues separados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Logs independientes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Escala mejor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42432"/>
            <a:ext cx="1042416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Alternativa: React dentro de Symfony public/, con fallback SPA correctamente configurado.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Estado actual y cambios necesarios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Hallazgos reales del repositorio.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38328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32004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YA ESTÁ BIEN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297180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✓ Symfony 7.4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✓ PHP &gt;= 8.2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✓ Doctrine y migraciones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✓ Caché ORM para prod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11680"/>
            <a:ext cx="338328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2011680"/>
            <a:ext cx="64008" cy="320040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CAMBIAR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297180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APP_ENV está en dev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APP_SECRET es de ejemplo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DB usa 127.0.0.1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MySQL está fijado en 8.4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38328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2011680"/>
            <a:ext cx="64008" cy="32004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PREPARAR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51760"/>
            <a:ext cx="297180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.htaccess / Apache rewrite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CORS si hay subdominio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Permisos de var/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Instalación de producción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5733288"/>
            <a:ext cx="1042416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400" b="1">
                <a:solidFill>
                  <a:srgbClr val="FF6978"/>
                </a:solidFill>
                <a:latin typeface="Aptos"/>
              </a:rPr>
              <a:t>No subir .env.local, contraseñas, dumps SQL ni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Variables de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Guardar secretos en .env.local o variables del servidor.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6583680" cy="3703320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86000"/>
            <a:ext cx="594360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APP_ENV=prod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APP_DEBUG=0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APP_SECRET=&lt;cadena-aleatoria-larga&gt;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DATABASE_URL="mysql://USER:CLAVE@HOST:3306/BASE?charset=utf8mb4"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DEFAULT_URI=https://api.tudominio.com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1874519"/>
            <a:ext cx="3886200" cy="16916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43800" y="1874519"/>
            <a:ext cx="64008" cy="16916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57400"/>
            <a:ext cx="34747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BASE HOSTINGER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14600"/>
            <a:ext cx="3474720" cy="9144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Copiar host, base, usuario y clave desde hPanel. Confirmar MySQL/MariaDB y ajustar serverVersion; no asumir 8.4.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886200"/>
            <a:ext cx="3886200" cy="16916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3886200"/>
            <a:ext cx="64008" cy="16916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4069080"/>
            <a:ext cx="34747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SECRETO REAL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526280"/>
            <a:ext cx="3474720" cy="9144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Generar APP_SECRET largo y aleatorio. Nunca reutilizar el valor de ejemplo ni publicarlo en Git.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Estructura segura de carpetas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Hostinger usa public_html y no permite cambiar libremente el document root.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274320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700" b="1">
                <a:solidFill>
                  <a:srgbClr val="36D3DD"/>
                </a:solidFill>
                <a:latin typeface="Consolas"/>
              </a:rPr>
              <a:t>/home/usuario/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4572000" cy="33832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onsolas"/>
              </a:rPr>
              <a:t>cine-backend/       ← privado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config/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migrations/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src/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var/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└── vendor/</a:t>
            </a:r>
            <a:br/>
            <a:br/>
            <a:r>
              <a:rPr sz="1600" b="0">
                <a:solidFill>
                  <a:srgbClr val="FFFFFF"/>
                </a:solidFill>
                <a:latin typeface="Consolas"/>
              </a:rPr>
              <a:t>public_html/api/   ← público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index.php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.htaccess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└── assets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4800600" cy="16459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965960"/>
            <a:ext cx="64008" cy="16459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4389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REGLA DE ORO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06039"/>
            <a:ext cx="4389120" cy="8686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Sólo Symfony public/ debe quedar accesible por web. src/, config/, vendor/ y .env.local no deben exponerse.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49840" y="213055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9556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SEGURIDAD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886200"/>
            <a:ext cx="4800600" cy="1828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3886200"/>
            <a:ext cx="64008" cy="18288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4069080"/>
            <a:ext cx="4389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LIMITACIÓN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526280"/>
            <a:ext cx="438912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Si el subdominio no apunta a public/, separar el núcleo fuera de public_html y adaptar index.php, o usar reglas Apache verificadas.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Pasos de despliegue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Hacer backup antes de cada actualización.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64008" cy="15087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0312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hPanel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6032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PHP 8.2+; pdo_mysql, ctype e iconv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92024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40" y="1920240"/>
            <a:ext cx="64008" cy="15087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0312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MySQL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032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Crear base y guardar credenciales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92024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0" y="1920240"/>
            <a:ext cx="64008" cy="15087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10312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Código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56032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Subir por Git/SSH o archivo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794760"/>
            <a:ext cx="64008" cy="150876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97764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 · Composer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3484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composer2 install --no-dev --optimize-autoloader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79476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34840" y="3794760"/>
            <a:ext cx="64008" cy="150876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397764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5 · Doctrine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43484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Ejecutar migraciones en prod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379476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29600" y="3794760"/>
            <a:ext cx="64008" cy="150876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397764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6 · Verificar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43484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Caché, permisos y /api/health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897880"/>
            <a:ext cx="1051560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Sin Composer/SSH: generar vendor/ localmente y subirlo junto al backend.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Apache, CORS y seguridad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Las rutas /api/... necesitan una reescritura correcta.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383280" cy="1828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18288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.HTACCESS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297180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Configurar Apache para enviar rutas Symfony a index.php y probar URLs profundas.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11680"/>
            <a:ext cx="3383280" cy="1828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2011680"/>
            <a:ext cx="64008" cy="18288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CORS · ARCHIVO .env / .env.local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297180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Desarrollo: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CORS_ALLOW_ORIGIN=http://localhost:5173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Producción: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CORS_ALLOW_ORIGIN=https://tudominio.com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383280" cy="1828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2011680"/>
            <a:ext cx="64008" cy="18288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HTTPS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51760"/>
            <a:ext cx="297180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Activar SSL, forzar HTTPS y actualizar DEFAULT_URI. Evitar contenido mixto.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51960"/>
            <a:ext cx="5257800" cy="1234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4251960"/>
            <a:ext cx="64008" cy="12344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434840"/>
            <a:ext cx="48463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NO PUBLICAR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892040"/>
            <a:ext cx="484632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.env.local · .git · dumps · logs · tests · claves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251960"/>
            <a:ext cx="5257800" cy="1234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63640" y="4251960"/>
            <a:ext cx="64008" cy="12344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4434840"/>
            <a:ext cx="48463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PERMISOS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892040"/>
            <a:ext cx="484632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var/cache y var/log escribibles por PHP; el resto, mínimo necesario.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FF9E58"/>
                </a:solidFill>
                <a:latin typeface="Aptos"/>
              </a:rP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Qué cambia en React/Vite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En producción Vite genera archivos estáticos; no se ejecuta npm run dev.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108960" cy="30175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30175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269747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DESARROLLO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2697479" cy="22402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npm run dev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localhost:5173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No se sube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108960"/>
            <a:ext cx="50292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3000" b="1">
                <a:solidFill>
                  <a:srgbClr val="FF9E58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011680"/>
            <a:ext cx="3246120" cy="30175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0" y="2011680"/>
            <a:ext cx="64008" cy="30175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194560"/>
            <a:ext cx="28346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COMPILAR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51760"/>
            <a:ext cx="2834639" cy="22402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VITE_API_URL=https://api.tudominio.com/api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npm ci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npm run 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108960"/>
            <a:ext cx="50292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30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0" y="2011680"/>
            <a:ext cx="2880360" cy="30175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95360" y="2011680"/>
            <a:ext cx="64008" cy="30175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2194560"/>
            <a:ext cx="246887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PUBLICAR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651760"/>
            <a:ext cx="2468879" cy="22402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Subir sólo dist/*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 public_html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No node_modules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5733288"/>
            <a:ext cx="1051560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400" b="1">
                <a:solidFill>
                  <a:srgbClr val="FF6978"/>
                </a:solidFill>
                <a:latin typeface="Aptos"/>
              </a:rPr>
              <a:t>Desarrollo usa http://localhost/cine-app/public/api; producción debe usar la URL HTTPS definitiva.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FF9E58"/>
                </a:solidFill>
                <a:latin typeface="Aptos"/>
              </a:rP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Rutas SPA, API y caché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Tres detalles que suelen romper React en producción.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42900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29260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REACT ROUTER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301752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Fallback a /index.html para recargar rutas internas. Excluir /api si comparte dominio.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11680"/>
            <a:ext cx="342900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2011680"/>
            <a:ext cx="64008" cy="29260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URL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301752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Usar HTTPS y dominio real. Mismo dominio: preferir /api relativo y evitar CORS.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42900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2011680"/>
            <a:ext cx="64008" cy="29260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ASSETS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51760"/>
            <a:ext cx="301752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Caché larga para assets con hash; caché corta para index.html.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87568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Probar: home → navegación → recarga de ruta interna → llamada real a API.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CAMBIOS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Cambios que haría en el repositorio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Prioridad antes del primer despliegue.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4008" cy="7772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P0 · Producción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APP_ENV, APP_SECRET y DATABASE_URL seguros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6480" y="1828800"/>
            <a:ext cx="64008" cy="7772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011680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P0 · API 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468880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frontend/.env.production con dominio real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816352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2816352"/>
            <a:ext cx="64008" cy="7772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99232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P0 · Apache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456432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.htaccess para Symfony y React Router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2816352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2816352"/>
            <a:ext cx="64008" cy="7772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999232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P1 · CORS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56432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Restringido al frontend real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803904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3803904"/>
            <a:ext cx="64008" cy="7772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P1 · 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443984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serverVersion de Hostinger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803904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26480" y="3803904"/>
            <a:ext cx="64008" cy="7772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3986784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P1 · Deploy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4443984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Checklist/script repetible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791456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4791456"/>
            <a:ext cx="64008" cy="7772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974336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P2 · Logs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431536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Errores sin debug público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4791456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26480" y="4791456"/>
            <a:ext cx="64008" cy="7772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4974336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P2 · Higiene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5431536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Excluir cachés, logs y secretos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Checklist antes de abrir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 publicación termina cuando funciona el flujo completo.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74519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892807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1856231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PHP 8.2+ y extensiones 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7" y="1892807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3992" y="1856231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APP_ENV=prod / debug apagado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624327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2642615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2606039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Migraciones aplicadas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624327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7" y="2642615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606039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HTTPS definitivo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74135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392423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" y="3355847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CORS restringido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374135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1927" y="3392423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3992" y="3355847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Rutas React recargan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123944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4142231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07592" y="4105656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API responde JSON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23944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1927" y="4142231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4105656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Consulta real a MySQL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873752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4892040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7592" y="4855464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Compra/reserva probada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4873752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81927" y="4892040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93992" y="4855464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Backup y rollback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806440"/>
            <a:ext cx="10607040" cy="502920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961888"/>
            <a:ext cx="10195560" cy="1828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GO / NO-GO: sin secretos públicos · sin debug · flujo principal completo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Después del lanzamiento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Producción necesita mantenimiento, no sólo una primera subida.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429000" cy="2468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24688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CADA DEPLOY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3017520" cy="1691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Backup → código → Composer → migraciones → caché → smoke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11680"/>
            <a:ext cx="3429000" cy="2468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2011680"/>
            <a:ext cx="64008" cy="24688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CADA SEMANA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3017520" cy="1691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Revisar logs, espacio, errores 5xx, SSL y backups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429000" cy="2468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2011680"/>
            <a:ext cx="64008" cy="246888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SI FALLA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51760"/>
            <a:ext cx="3017520" cy="1691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Restaurar versión anterior; no editar producción sin registrar el cambio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349240"/>
            <a:ext cx="10515600" cy="5943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Ensayar primero en staging con subdominio y base separados; luego repetir el procedimiento en producción.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INTEGRACIÓN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Cómo se comunican frontend y 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React no accede directamente a MariaDB: siempre consume la API HTTP de Symfony.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103120"/>
            <a:ext cx="2148840" cy="25146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2103120"/>
            <a:ext cx="64008" cy="25146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17373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REACT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1737360" cy="17373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useMovies / SeatsPage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solicitan recursos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Navegador :5173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08760" y="226771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231343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880360"/>
            <a:ext cx="96012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53D68E"/>
                </a:solidFill>
                <a:latin typeface="Aptos"/>
              </a:rPr>
              <a:t>HTTP GET</a:t>
            </a:r>
            <a:br/>
            <a:r>
              <a:rPr sz="1400" b="1">
                <a:solidFill>
                  <a:srgbClr val="53D68E"/>
                </a:solidFill>
                <a:latin typeface="Aptos"/>
              </a:rPr>
              <a:t>JSON 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2103120"/>
            <a:ext cx="2148840" cy="25146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0" y="2103120"/>
            <a:ext cx="64008" cy="25146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2286000"/>
            <a:ext cx="17373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API.JS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2743200"/>
            <a:ext cx="1737360" cy="17373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Construye la URL: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API_URL + path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fetch(...)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2880360"/>
            <a:ext cx="77724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36D3DD"/>
                </a:solidFill>
                <a:latin typeface="Aptos"/>
              </a:rPr>
              <a:t>/api/...</a:t>
            </a:r>
            <a:br/>
            <a:r>
              <a:rPr sz="1400" b="1">
                <a:solidFill>
                  <a:srgbClr val="36D3DD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2103120"/>
            <a:ext cx="2331720" cy="25146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6560" y="2103120"/>
            <a:ext cx="64008" cy="25146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2286000"/>
            <a:ext cx="1920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SYMFONY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743200"/>
            <a:ext cx="1920239" cy="17373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Apache → index.php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Controller → Repository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Doctrine ORM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226771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92440" y="231343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BACKEND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880360"/>
            <a:ext cx="68580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53D68E"/>
                </a:solidFill>
                <a:latin typeface="Aptos"/>
              </a:rPr>
              <a:t>SQL</a:t>
            </a:r>
            <a:br/>
            <a:r>
              <a:rPr sz="1400" b="1">
                <a:solidFill>
                  <a:srgbClr val="53D68E"/>
                </a:solidFill>
                <a:latin typeface="Aptos"/>
              </a:rPr>
              <a:t>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60" y="2103120"/>
            <a:ext cx="1783080" cy="25146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66960" y="2103120"/>
            <a:ext cx="64008" cy="25146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95560" y="2286000"/>
            <a:ext cx="13716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 · MARIADB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2743200"/>
            <a:ext cx="1371600" cy="17373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pelicula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funcion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asiento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98480" y="226771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44200" y="231343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XAMPP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257800"/>
            <a:ext cx="1078992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440680"/>
            <a:ext cx="102870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RESPUESTA: MariaDB → Doctrine → JsonResponse → fetch() → estado de React → pantalla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989320"/>
            <a:ext cx="1060704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36D3DD"/>
                </a:solidFill>
                <a:latin typeface="Aptos"/>
              </a:rPr>
              <a:t>Ejemplo completo: http://localhost/cine-app/public/api/funciones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ENDPOINTS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Dónde están definidos los endpoints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 anotación #[Route(...)] del controlador determina cada URL pública.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3474720" cy="2057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74519"/>
            <a:ext cx="64008" cy="20574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3063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GET /api/health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14600"/>
            <a:ext cx="3063239" cy="1280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Archivo: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src/Controller/HealthController.php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Comprueba que la API funciona.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874519"/>
            <a:ext cx="3474720" cy="2057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61688" y="1874519"/>
            <a:ext cx="64008" cy="20574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2057400"/>
            <a:ext cx="3063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GET /api/funciones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514600"/>
            <a:ext cx="3063239" cy="1280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Archivo: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src/Controller/FuncionController.php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Método: list()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Devuelve películas y funciones.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1874519"/>
            <a:ext cx="3474720" cy="2057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11312" y="1874519"/>
            <a:ext cx="64008" cy="20574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2057400"/>
            <a:ext cx="3063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GET /api/funciones/{id}/asientos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2514600"/>
            <a:ext cx="3063239" cy="1280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Archivo: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src/Controller/FuncionController.php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Método: seats()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Devuelve asientos de una función.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51960"/>
            <a:ext cx="5349240" cy="1325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251960"/>
            <a:ext cx="64008" cy="13258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34840"/>
            <a:ext cx="49377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QUIÉN LOS CONSUME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92040"/>
            <a:ext cx="4937759" cy="548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hooks/useMovies.js: api('/funciones')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pages/SeatsPage.jsx: api('/funciones/{id}/asientos')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4251960"/>
            <a:ext cx="5486400" cy="1325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99632" y="4251960"/>
            <a:ext cx="64008" cy="13258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8232" y="4434840"/>
            <a:ext cx="50749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QUIÉN ARMA LA URL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4892040"/>
            <a:ext cx="5074920" cy="548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frontend/src/services/api.js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Base local: http://localhost/cine-app/public/api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53D68E"/>
                </a:solidFill>
                <a:latin typeface="Consolas"/>
              </a:rPr>
              <a:t>Con Docker:  docker compose exec backend php bin/console debug:router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Cómo pide recursos el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HTTP es el protocolo de comunicación entre el navegador y el servidor.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874519"/>
            <a:ext cx="260604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874519"/>
            <a:ext cx="64008" cy="34290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GET · LEER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219456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Pide un recurso sin modificarlo.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GET /api/funciones/5/asientos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Respuesta habitual: 200 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65960" y="203911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ACTUAL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874519"/>
            <a:ext cx="260604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37560" y="1874519"/>
            <a:ext cx="64008" cy="34290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05740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POST · CREAR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514600"/>
            <a:ext cx="219456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Envía datos para crear un recurso.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POST /api/funciones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Body JSON con la nueva función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Respuesta habitual: 201 Created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203911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CRUD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874519"/>
            <a:ext cx="260604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640" y="1874519"/>
            <a:ext cx="64008" cy="34290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05740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PUT · ACTUALIZAR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219456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Reemplaza o actualiza un recurso identificado.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PUT /api/funciones/5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Body JSON actualizado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Respuesta habitual: 200 o 204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18119" y="203911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CRUD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1874519"/>
            <a:ext cx="260604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89720" y="1874519"/>
            <a:ext cx="64008" cy="342900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205740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DELETE · ELIMINAR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514600"/>
            <a:ext cx="219456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Solicita eliminar un recurso.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DELETE /api/funciones/5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Respuesta habitual: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204 No Content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203911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CRUD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623560"/>
            <a:ext cx="1078992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806440"/>
            <a:ext cx="102870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PETICIÓN HTTP = método + URL + headers + body opcional   |   RESPUESTA = estado + headers + JSON opcional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199632"/>
            <a:ext cx="1069848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100" b="1">
                <a:solidFill>
                  <a:srgbClr val="B1BBCC"/>
                </a:solidFill>
                <a:latin typeface="Aptos"/>
              </a:rPr>
              <a:t>En Cine App hoy están implementados los GET; POST, PUT y DELETE representan la ampliación del CRUD.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De {id} a una entidad Funcion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 búsqueda ahora está escrita paso a paso para que no dependa de una conversión automática invisible.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965960"/>
            <a:ext cx="2103120" cy="26060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965960"/>
            <a:ext cx="64008" cy="26060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48840"/>
            <a:ext cx="16916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06039"/>
            <a:ext cx="1691639" cy="18288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/api/funciones/5/asientos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Symfony reconoce: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{id} =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2898648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1965960"/>
            <a:ext cx="2240280" cy="26060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71800" y="1965960"/>
            <a:ext cx="64008" cy="260604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2148840"/>
            <a:ext cx="1828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PARÁMETRO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06039"/>
            <a:ext cx="1828800" cy="18288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public function seats(int $id)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El valor 5 entra como: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$id =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6088" y="2898648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1965960"/>
            <a:ext cx="2468880" cy="26060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715000" y="1965960"/>
            <a:ext cx="64008" cy="26060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2148840"/>
            <a:ext cx="20574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REPOSITORY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606039"/>
            <a:ext cx="2057400" cy="18288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$this-&gt;funcionRepository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  -&gt;find($id)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Doctrine busca funcion.id =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2898648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1965960"/>
            <a:ext cx="3063240" cy="26060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0" y="1965960"/>
            <a:ext cx="64008" cy="26060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5400" y="2148840"/>
            <a:ext cx="26517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 · RESULTADO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2606039"/>
            <a:ext cx="2651760" cy="18288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Existe: objeto Funcion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y HTTP 200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existe: null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y HTTP 404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74920"/>
            <a:ext cx="10972800" cy="621792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285232"/>
            <a:ext cx="105156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Después: findBy(['funcion' =&gt; $funcion]) busca los asientos cuyo funcion_id corresponde a esa función.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016752"/>
            <a:ext cx="10881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36D3DD"/>
                </a:solidFill>
                <a:latin typeface="Consolas"/>
              </a:rPr>
              <a:t>Archivo: src/Controller/FuncionController.php  ·  Método: seats(int $id)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DOCTRINE 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Objetos PHP en lugar de SQL repetitivo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ORM significa Object–Relational Mapping: conecta entidades PHP con tablas de una base relacional.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2880360" cy="2971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64008" cy="29718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246887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ENTIDAD 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39"/>
            <a:ext cx="2468879" cy="2194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Funcion.php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Pelicula.php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Asiento.php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Objetos con propiedades y relaciones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213055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CÓDIGO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2880360"/>
            <a:ext cx="105156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53D68E"/>
                </a:solidFill>
                <a:latin typeface="Aptos"/>
              </a:rPr>
              <a:t>Doctrine</a:t>
            </a:r>
            <a:br/>
            <a:r>
              <a:rPr sz="1400" b="1">
                <a:solidFill>
                  <a:srgbClr val="53D68E"/>
                </a:solidFill>
                <a:latin typeface="Aptos"/>
              </a:rPr>
              <a:t>traduce 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1965960"/>
            <a:ext cx="2880360" cy="2971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63440" y="1965960"/>
            <a:ext cx="64008" cy="29718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2148840"/>
            <a:ext cx="246887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MAPEO 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606039"/>
            <a:ext cx="2468879" cy="2194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#[ORM\Entity]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#[ORM\Column]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#[ORM\ManyToOne]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Describe cómo se guardan los objetos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213055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2880360"/>
            <a:ext cx="64008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53D68E"/>
                </a:solidFill>
                <a:latin typeface="Aptos"/>
              </a:rPr>
              <a:t>SQL</a:t>
            </a:r>
            <a:br/>
            <a:r>
              <a:rPr sz="1400" b="1">
                <a:solidFill>
                  <a:srgbClr val="53D68E"/>
                </a:solidFill>
                <a:latin typeface="Aptos"/>
              </a:rPr>
              <a:t>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1965960"/>
            <a:ext cx="3246120" cy="2971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0" y="1965960"/>
            <a:ext cx="64008" cy="29718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1080" y="2148840"/>
            <a:ext cx="28346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TABLAS MARIADB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2606039"/>
            <a:ext cx="2834639" cy="2194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funcion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pelicula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asiento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Filas, columnas y claves foráneas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607040" y="213055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5276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XAMPP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5303520"/>
            <a:ext cx="1097280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486400"/>
            <a:ext cx="105156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Doctrine permite consultar, insertar, actualizar y eliminar usando objetos; genera SQL y transforma cada fila en una entidad.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016752"/>
            <a:ext cx="10881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36D3DD"/>
                </a:solidFill>
                <a:latin typeface="Aptos"/>
              </a:rPr>
              <a:t>Ventaja didáctica: el código trabaja con $funcion-&gt;getPelicula(), mientras Doctrine administra pelicula_id.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QUERYBUILDER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La consulta Doctrine y su SQL equivalente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createQueryBuilder construye la consulta paso a paso; getResult() es quien finalmente la ejecuta.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828800"/>
            <a:ext cx="5257800" cy="32461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828800"/>
            <a:ext cx="64008" cy="32461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48463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FUNCIONREPOSITORY.PHP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4846320" cy="24688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$qb = $this-&gt;createQueryBuilder('f')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-&gt;join('f.pelicula', 'p')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-&gt;addSelect('p')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-&gt;orderBy('p.id', 'ASC')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-&gt;addOrderBy('f.fechaHora', 'ASC');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return $qb-&gt;getQuery()-&gt;getResult();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ORM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828800"/>
            <a:ext cx="5760720" cy="32461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89320" y="1828800"/>
            <a:ext cx="64008" cy="32461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011680"/>
            <a:ext cx="534924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SQL PURO EQUIVALENTE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468880"/>
            <a:ext cx="5349240" cy="24688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SELECT f.*, p.*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FROM funcion AS f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INNER JOIN pelicula AS 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ON f.pelicula_id = p.id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ORDER BY p.id ASC,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       f.fecha_hora ASC;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9848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442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321808"/>
            <a:ext cx="1097280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f = alias de Funcion/funcion   ·   p = alias de Pelicula/pelicula   ·   JOIN une ambas tablas mediante pelicula_id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760720"/>
            <a:ext cx="1097280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943600"/>
            <a:ext cx="105156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Con ?fecha=2026-07-30:  WHERE f.fecha_hora &gt;= :inicio AND f.fecha_hora &lt; :fin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Una responsabilidad por capa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Separar HTTP, reglas, consultas y datos hace que el código sea más legible, reutilizable y comprobable.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828800"/>
            <a:ext cx="25146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1828800"/>
            <a:ext cx="64008" cy="34290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CONTROLLER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21031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Recibe Request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Valida formato HTTP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Elige 200/400/404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Construye JsonResponse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escribe consultas SQL.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8308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HTTP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1828800"/>
            <a:ext cx="25146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17520" y="1828800"/>
            <a:ext cx="64008" cy="34290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01168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468880"/>
            <a:ext cx="21031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Coordina casos de uso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y reglas del negocio.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Ejemplo actual: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HealthService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es obligatorio si sólo delega.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79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NEGOCIO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1828800"/>
            <a:ext cx="25146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15000" y="1828800"/>
            <a:ext cx="64008" cy="34290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201168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REPOSITORY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2468880"/>
            <a:ext cx="21031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Centraliza consultas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QueryBuilder / Doctrine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Filtros y ordenamiento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FuncionRepository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AsientoRepository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7804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DATOS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0" y="1828800"/>
            <a:ext cx="25146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0" y="1828800"/>
            <a:ext cx="64008" cy="342900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1080" y="201168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ENTITY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2468880"/>
            <a:ext cx="21031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Representa el dominio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y su mapeo ORM.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Funcion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Pelicula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Asiento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conoce HTTP.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75519" y="199339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2124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MODELO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623560"/>
            <a:ext cx="1097280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806440"/>
            <a:ext cx="105156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Frontend → Controller → Service (si hay reglas) → Repository → Doctrine ORM → MariaDB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REFACTOR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Cómo quedó Cine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El Controller pide datos con métodos que expresan intención; cada Repository encapsula los detalles de acceso.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828800"/>
            <a:ext cx="347472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828800"/>
            <a:ext cx="64008" cy="356616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3063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FUNCIONCONTROLLER.PHP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3063239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list(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#[MapQueryParameter]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?string $fecha = null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$funciones = $this-&gt;funcionRepository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-&gt;findCartelera($inicio, $fin);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CONTROLLER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3063240"/>
            <a:ext cx="50292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6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828800"/>
            <a:ext cx="306324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28800"/>
            <a:ext cx="64008" cy="35661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2011680"/>
            <a:ext cx="26517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FUNCIONREPOSITORY.PHP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2468880"/>
            <a:ext cx="2651760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findCartelera($inicio, $fin)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find($id)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JOIN con película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Filtro por fecha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Ordenamiento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79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CONSULTAS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8" y="3063240"/>
            <a:ext cx="41148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600" b="1">
                <a:solidFill>
                  <a:srgbClr val="53D68E"/>
                </a:solidFill>
                <a:latin typeface="Aptos"/>
              </a:rPr>
              <a:t>+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828800"/>
            <a:ext cx="352044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1828800"/>
            <a:ext cx="64008" cy="356616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2011680"/>
            <a:ext cx="31089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ASIENTOREPOSITORY.PHP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2468880"/>
            <a:ext cx="3108960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findByFuncionOrdenados(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  $funcion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Filtra por función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Ordena fila y número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69848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442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CONSULTAS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897880"/>
            <a:ext cx="1115568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100" b="1">
                <a:solidFill>
                  <a:srgbClr val="36D3DD"/>
                </a:solidFill>
                <a:latin typeface="Consolas"/>
              </a:rPr>
              <a:t>Archivos: src/Controller/FuncionController.php · src/Repository/FuncionRepository.php · src/Repository/AsientoRepository.php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PARÁMETROS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Query parameter explícito en list()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El método recibe únicamente el dato que necesita, en lugar de recibir todo Request para extraerlo manualmente.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3154680" cy="31546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64008" cy="31546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27432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URL SIN FILTRO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39"/>
            <a:ext cx="2743200" cy="23774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existe ?fecha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$fecha = null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Devuelve toda la cartelera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108960"/>
            <a:ext cx="45720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500" b="1">
                <a:solidFill>
                  <a:srgbClr val="36D3DD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965960"/>
            <a:ext cx="3657600" cy="31546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51960" y="1965960"/>
            <a:ext cx="64008" cy="31546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2148840"/>
            <a:ext cx="3246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FIRMA EXPLÍCITA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606039"/>
            <a:ext cx="3246120" cy="23774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public function list(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#[MapQueryParameter]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?string $fecha = null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): JsonResponse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Symfony hace el mapeo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213055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SYMFONY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108960"/>
            <a:ext cx="45720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500" b="1">
                <a:solidFill>
                  <a:srgbClr val="36D3DD"/>
                </a:solidFill>
                <a:latin typeface="Aptos"/>
              </a:rPr>
              <a:t>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40" y="1965960"/>
            <a:ext cx="3154680" cy="31546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49640" y="1965960"/>
            <a:ext cx="64008" cy="31546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2148840"/>
            <a:ext cx="27432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URL CON FILTRO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606039"/>
            <a:ext cx="2743200" cy="23774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?fecha=2026-07-30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$fecha = '2026-07-30'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Valida y consulta ese día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532120"/>
            <a:ext cx="1078992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715000"/>
            <a:ext cx="102870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?string significa: acepta un string o null   ·   MapQueryParameter indica que el valor viene después del ? en la URL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HTTP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Qué significan los códigos de respuesta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El status code resume el resultado de la petición antes de que el frontend lea el JSON.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74519"/>
            <a:ext cx="274320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74519"/>
            <a:ext cx="64008" cy="36118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23317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2xx · ÉXITO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14600"/>
            <a:ext cx="233172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200 OK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Consulta exitosa con respuesta.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201 Created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Recurso creado.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204 No Content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Éxito sin body.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7400" y="203911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874519"/>
            <a:ext cx="379476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37560" y="1874519"/>
            <a:ext cx="64008" cy="36118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057400"/>
            <a:ext cx="33832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4xx · ERROR DEL CLIENTE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514600"/>
            <a:ext cx="338328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400 Bad Request: datos inválidos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401 Unauthorized: falta autenticación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403 Forbidden: sin permiso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404 Not Found: no existe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405 Method Not Allowed: método incorrecto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203911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CLIENTE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874519"/>
            <a:ext cx="443484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60920" y="1874519"/>
            <a:ext cx="64008" cy="361188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2057400"/>
            <a:ext cx="40233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5xx · ERROR DEL SERVIDOR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514600"/>
            <a:ext cx="4023359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500 Internal Server Error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Fallo inesperado del backend.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503 Service Unavailable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Servicio temporalmente no disponible.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se debe mostrar debug al usuario.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203911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SERVIDOR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806440"/>
            <a:ext cx="10881360" cy="502920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961888"/>
            <a:ext cx="10424160" cy="20116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Regla: 2xx = salió bien · 4xx = corregir petición/autorización · 5xx = revisar backend, logs o infraestructura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Ejemplos reales en Cine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El frontend usa response.ok para distinguir 2xx de respuestas 4xx/5xx.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828800"/>
            <a:ext cx="342900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828800"/>
            <a:ext cx="64008" cy="36118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200 · CARTELERA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301752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{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"data": [...],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"total": 4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}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La consulta fue correcta.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SUCCESS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1828800"/>
            <a:ext cx="379476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69080" y="1828800"/>
            <a:ext cx="64008" cy="36118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011680"/>
            <a:ext cx="33832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400 · FECHA INVÁLIDA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468880"/>
            <a:ext cx="338328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?fecha=2026-99-99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{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"error": "La fecha debe tener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formato AAAA-MM-DD."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VALIDACIÓN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828800"/>
            <a:ext cx="370332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92440" y="1828800"/>
            <a:ext cx="64008" cy="361188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011680"/>
            <a:ext cx="32918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404 · NO ENCONTRADO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468880"/>
            <a:ext cx="3291839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/api/funciones/999/asientos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{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"error": "No existe una función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con el ID 999."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}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199" y="199339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19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NOT FOUND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6072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934456"/>
            <a:ext cx="10424160" cy="24688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No devolver 200 con {error: ...}: el código HTTP debe representar correctamente el resultado para navegadores, apps y monitoreo.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REACT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Frontend separado por responsabilidades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App.jsx pasó de concentrar toda la aplicación a ocuparse únicamente del layout y las rutas.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260604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64008" cy="36118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APP.JSX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219456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Compone Header y Footer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Define &lt;Routes&gt;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Conecta URL con Page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consulta la API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No implementa pantallas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RUTAS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828800"/>
            <a:ext cx="260604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6120" y="1828800"/>
            <a:ext cx="64008" cy="36118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PAGES/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468880"/>
            <a:ext cx="219456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Pantallas completas: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HomePage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BillboardPage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MovieDetailPage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SeatsPage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PaymentPage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TicketsPage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VISTAS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828800"/>
            <a:ext cx="260604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1828800"/>
            <a:ext cx="64008" cy="36118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COMPONENTS/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468880"/>
            <a:ext cx="219456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Piezas reutilizables: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Header · Footer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Poster · MovieTile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FunctionCard · Stepper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MiniMovie · Ticket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Loading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8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UI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828800"/>
            <a:ext cx="278892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06840" y="1828800"/>
            <a:ext cx="64008" cy="361188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2011680"/>
            <a:ext cx="23774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APOYO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468880"/>
            <a:ext cx="2377439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hooks/ → estado y efectos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services/ → HTTP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utils/ → funciones puras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data/ → demostración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Cada carpeta tiene una razón.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199" y="199339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LÓGICA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76072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934456"/>
            <a:ext cx="10424160" cy="24688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Separar no significa crear archivos al azar: cada componente debe tener una responsabilidad clara y un nombre que exprese su intención.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Cómo está conformado frontend/src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Las dependencias avanzan desde las páginas hacia componentes, hooks, servicios y utilidades.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852160" cy="45262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src/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components/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│   ├── feedback/     Loading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│   ├── layout/       Header, Footer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│   ├── movies/       Poster, MovieTile, FunctionCard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│   ├── navigation/   Stepper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│   └── purchase/     MiniMovie, Ticket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pages/            Home, Cartelera, Detalle, Asientos, Pago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hooks/            useMovies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services/         api.js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utils/            formatters, movies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data/             datos de respaldo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└── App.jsx           layout + rutas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874519"/>
            <a:ext cx="4480560" cy="1188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03720" y="1874519"/>
            <a:ext cx="64008" cy="11887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2057400"/>
            <a:ext cx="40690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COMPONENTE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514600"/>
            <a:ext cx="40690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Función React que recibe props y devuelve interfaz JSX. Puede reutilizarse en distintas páginas.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3337560"/>
            <a:ext cx="4480560" cy="1188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03720" y="3337560"/>
            <a:ext cx="64008" cy="11887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3520440"/>
            <a:ext cx="40690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977639"/>
            <a:ext cx="40690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Componente de nivel pantalla asociado a una ruta. Coordina componentes y estado de esa vista.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4800600"/>
            <a:ext cx="4480560" cy="1188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03720" y="4800600"/>
            <a:ext cx="64008" cy="11887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0" y="4983480"/>
            <a:ext cx="40690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REGLA PRÁCTICA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5440680"/>
            <a:ext cx="40690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Si una pieza aparece varias veces, tiene lógica propia o hace difícil leer la página, conviene extraerla.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Qué es un hook y qué hace useMovies()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Un hook es una función que reutiliza estado y efectos de React; por convención su nombre comienza con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965960"/>
            <a:ext cx="251460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965960"/>
            <a:ext cx="64008" cy="29260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PÁGINA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06039"/>
            <a:ext cx="210312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HomePage 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BillboardPage llama: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const { movies, loading, error }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= useMovies();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20" y="213055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017520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1965960"/>
            <a:ext cx="251460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0440" y="1965960"/>
            <a:ext cx="64008" cy="29260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214884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HOOK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06039"/>
            <a:ext cx="210312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useMovies.js administra: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useState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useEffect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loading y error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datos de respaldo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83479" y="213055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ESTADO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017520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1965960"/>
            <a:ext cx="233172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29400" y="1965960"/>
            <a:ext cx="64008" cy="29260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148840"/>
            <a:ext cx="1920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606039"/>
            <a:ext cx="1920239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api.js ejecuta: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fetch(API_URL + path)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09560" y="213055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HTTP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017520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55480" y="1965960"/>
            <a:ext cx="224028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555480" y="1965960"/>
            <a:ext cx="64008" cy="292608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2148840"/>
            <a:ext cx="1828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 · SYMFONY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606039"/>
            <a:ext cx="182880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Controller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Repository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Doctrine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MariaDB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Devuelve JSON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744199" y="213055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19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BACKEND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30352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477256"/>
            <a:ext cx="10424160" cy="24688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Cuando llega el JSON, el hook actualiza movies; React vuelve a renderizar automáticamente los componentes que utilizan ese estado.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016752"/>
            <a:ext cx="10881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36D3DD"/>
                </a:solidFill>
                <a:latin typeface="Aptos"/>
              </a:rPr>
              <a:t>El hook reutiliza lógica, no HTML: la presentación sigue viviendo en Pages y Components.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PROBAR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Herramientas para ver y ejecutar endpoints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Las tres permiten trabajar con APIs HTTP, pero tienen objetivos y niveles de integración diferentes.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342900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64008" cy="32004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SWAGGER / OPENAPI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301752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Documentación web generada desde una especificación.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Lista contratos, parámetros, respuestas y permite ejecutar endpoints.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Ideal para documentar una API.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DOCUMENTA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1828800"/>
            <a:ext cx="342900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0520" y="1828800"/>
            <a:ext cx="64008" cy="32004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01168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POSTMAN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468880"/>
            <a:ext cx="301752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Aplicación independiente para crear colecciones, ambientes, pruebas y compartir peticiones.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Ideal para equipos y suites grandes.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COLABORA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9" y="1828800"/>
            <a:ext cx="342900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79" y="1828800"/>
            <a:ext cx="64008" cy="32004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79" y="201168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THUNDER CLIENT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2468880"/>
            <a:ext cx="301752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Extensión liviana dentro de Visual Studio Code.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Permite elegir método, URL, query, headers y body, y ver status + JSON.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Es la elegida para esta clase.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32719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7844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USAREMOS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49240"/>
            <a:ext cx="1120140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577840"/>
            <a:ext cx="107442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EJEMPLO  ·  GET  http://localhost/cine-app/public/api/funciones/1/asientos  →  Send  →  200 OK  →  { data: [...], screening: {...} 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PERMISOS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Permisos recomendados en Hostinger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Aplicar el mínimo necesario: lectura para el código, escritura sólo donde Symfony la necesita y acceso restringido a secretos.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2606040" cy="3474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64008" cy="34747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755 · DIRECTORIOS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2194560" cy="26974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public_html/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public/ · assets/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src/ · config/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vendor/ · migrations/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El servidor puede recorrer y leer.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CARPETAS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828800"/>
            <a:ext cx="2606040" cy="3474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6120" y="1828800"/>
            <a:ext cx="64008" cy="34747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644 · ARCHIVOS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468880"/>
            <a:ext cx="2194560" cy="26974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*.php · *.js · *.css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imágenes y fuentes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index.php · .htaccess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composer.json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composer.lock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Lectura sin escritura pública.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ARCHIVOS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828800"/>
            <a:ext cx="2606040" cy="3474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1828800"/>
            <a:ext cx="64008" cy="34747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775 · ESCRITURA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468880"/>
            <a:ext cx="2194560" cy="26974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var/cache/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var/log/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Symfony necesita crear caché y logs.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Si 755 funciona con el usuario PHP, preferir 755.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8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SYMFONY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828800"/>
            <a:ext cx="2788920" cy="3474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06840" y="1828800"/>
            <a:ext cx="64008" cy="34747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2011680"/>
            <a:ext cx="23774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600 · SECRETOS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468880"/>
            <a:ext cx="2377439" cy="26974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.env.local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claves privadas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certificados privados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Sólo el propietario puede leer y escribir.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199" y="199339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PRIVADO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62356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806440"/>
            <a:ext cx="1042416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Nunca usar chmod -R 777: permitiría que cualquier usuario o proceso modificara toda la aplicación.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Fuentes oficiales y siguiente 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Consultadas el 31 de julio de 2026.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47548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38528"/>
            <a:ext cx="9875520" cy="21945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  <a:hlinkClick r:id="rId2"/>
              </a:rPr>
              <a:t>Directorio raíz y document root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42032"/>
            <a:ext cx="10698480" cy="47548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51760"/>
            <a:ext cx="9875520" cy="21945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  <a:hlinkClick r:id="rId3"/>
              </a:rPr>
              <a:t>Versiones PHP en Hostinger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55264"/>
            <a:ext cx="10698480" cy="47548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364992"/>
            <a:ext cx="9875520" cy="21945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  <a:hlinkClick r:id="rId4"/>
              </a:rPr>
              <a:t>Composer en hosting compartido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68496"/>
            <a:ext cx="10698480" cy="47548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78224"/>
            <a:ext cx="9875520" cy="21945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  <a:hlinkClick r:id="rId5"/>
              </a:rPr>
              <a:t>Crear y configurar subdominios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74920"/>
            <a:ext cx="201168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00" b="1">
                <a:solidFill>
                  <a:srgbClr val="FF9E58"/>
                </a:solidFill>
                <a:latin typeface="Aptos"/>
              </a:rPr>
              <a:t>SIGUIENTE PASO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440680"/>
            <a:ext cx="1033272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tos"/>
              </a:rPr>
              <a:t>Aplicar estos cambios al repositorio y generar el paquete exacto para Hostinger.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INICIO LOCAL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Cómo ejecutar 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Primero iniciar Apache y MySQL desde XAMPP Control Panel; Symfony queda servido por Apache y React por Vite.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3429000" cy="3520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64008" cy="352044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XAMPP /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301752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Iniciar: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✓ Apache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✓ MySQL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API health: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http://localhost/cine-app/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public/api/health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SERVIDOR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1828800"/>
            <a:ext cx="3794760" cy="3520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0520" y="1828800"/>
            <a:ext cx="64008" cy="35204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011680"/>
            <a:ext cx="33832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BASE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468880"/>
            <a:ext cx="338328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Desde la raíz: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C:\xampp\php\php.exe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bin\console doctrine:database:create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--if-not-exists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C:\xampp\php\php.exe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bin\console doctrine:migrations:migrate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19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PRIMERA VEZ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828800"/>
            <a:ext cx="3611880" cy="3520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83879" y="1828800"/>
            <a:ext cx="64008" cy="35204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011680"/>
            <a:ext cx="32004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FRONTEND REACT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468880"/>
            <a:ext cx="320040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Desde la raíz: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cd frontend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npm install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npm run dev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Abrir: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http://localhost:5173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199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19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VITE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6928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852160"/>
            <a:ext cx="1042416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Resumen: Backend = Apache + MySQL de XAMPP   |   Frontend = cd frontend &amp;&amp; npm run dev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ALTERNATIVA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También se puede ejecutar con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El código de React y Symfony no cambia: Docker Compose proporciona PHP, Apache, Node y MariaDB y sobrescribe las URLs mediante variables.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297180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64008" cy="35661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5603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ARQUITECTURA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2560320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frontend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React + Vite :5173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backend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Symfony + Apache :8081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database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MariaDB interno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3 SERVICIOS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1880" y="1828800"/>
            <a:ext cx="379476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11880" y="1828800"/>
            <a:ext cx="64008" cy="356616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0" y="2011680"/>
            <a:ext cx="33832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INICIAR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468880"/>
            <a:ext cx="3383280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Desde la raíz: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docker compose up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--build -d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docker compose exec backend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php bin/console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doctrine:migrations:migrate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--no-interaction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COMANDOS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1828800"/>
            <a:ext cx="411480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80960" y="1828800"/>
            <a:ext cx="64008" cy="356616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2011680"/>
            <a:ext cx="37033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ELEGIR ENTORNO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468880"/>
            <a:ext cx="3703320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XAMPP API: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localhost/cine-app/public/api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Docker API: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localhost:8081/api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Frontend en ambos: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localhost:5173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iniciar ambos Vite a la vez.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XAMPP O DOCKER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1500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897880"/>
            <a:ext cx="1042416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Sin cambios de lógica: Controllers, Repositories, entidades, componentes, páginas y hooks son los mismos.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Comandos útiles y acceso a MariaDB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Ejecutar desde la raíz del proyecto. Dentro de Docker no se usa C:\xampp\php\php.exe.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737360"/>
            <a:ext cx="5623560" cy="3520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1737360"/>
            <a:ext cx="64008" cy="352044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52120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SYMFONY EN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77439"/>
            <a:ext cx="521208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docker compose exec backend php bin/console about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docker compose exec backend php bin/console debug:router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docker compose exec backend php bin/console doctrine:migrations:status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docker compose exec backend php bin/console doctrine:schema:validate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docker compose exec backend php bin/console cache:clear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190195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19476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CONTENEDOR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37360"/>
            <a:ext cx="5623560" cy="3520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64008" cy="35204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920240"/>
            <a:ext cx="52120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ENTRAR A MARIADB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77439"/>
            <a:ext cx="521208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docker compose exec database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mariadb -u cine -pcine cine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Luego ejecutar: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SHOW DATABASES;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USE cine;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SHOW TABLES;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DESCRIBE nombre_tabla;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SELECT * FROM nombre_tabla LIMIT 20;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89919" y="190195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5640" y="19476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BASE DE DATOS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59552"/>
            <a:ext cx="11201400" cy="640080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760720"/>
            <a:ext cx="10744200" cy="24688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Consulta rápida: docker compose exec database mariadb -u cine -pcine cine -e "SHOW TABLES;"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72784"/>
            <a:ext cx="1088136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000" b="1">
                <a:solidFill>
                  <a:srgbClr val="FF6978"/>
                </a:solidFill>
                <a:latin typeface="Aptos"/>
              </a:rPr>
              <a:t>Credenciales locales de compose.yaml: base cine · usuario cine · clave cine. No reutilizarlas en producción.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FF9E58"/>
                </a:solidFill>
                <a:latin typeface="Aptos"/>
              </a:rP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De /cartelera a la pantalla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React reparte responsabilidades: cada archivo hace una parte del recorrido y una actualización de estado vuelve a dibujar la interfaz.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755648"/>
            <a:ext cx="27432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1755648"/>
            <a:ext cx="64008" cy="34290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38528"/>
            <a:ext cx="23317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APP.JSX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95728"/>
            <a:ext cx="23317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La URL /cartelera coincide con una Route y React monta &lt;BillboardPage /&gt;.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VIDA REAL: la cartelera de la entrada indica a qué sala debe ir el visitante.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65960" y="1920240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79" y="1965960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MAPA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755648"/>
            <a:ext cx="27432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6120" y="1755648"/>
            <a:ext cx="64008" cy="34290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1938528"/>
            <a:ext cx="23317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BILLBOARD + HOOK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395728"/>
            <a:ext cx="23317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BillboardPage llama useMovies(fecha). El hook administra loading, movies y error.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VIDA REAL: el cliente hace un pedido al empleado y espera la respuesta.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0" y="1920240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3479" y="1965960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PEDIDO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755648"/>
            <a:ext cx="27432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0" y="1755648"/>
            <a:ext cx="64008" cy="34290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1938528"/>
            <a:ext cx="23317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API + 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395728"/>
            <a:ext cx="23317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api.js hace GET /api/funciones?fecha=... Symfony consulta Doctrine y MariaDB y devuelve JSON.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VIDA REAL: el empleado lleva el pedido a depósito y trae la información.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09560" y="1920240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0" y="1965960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BÚSQUEDA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1755648"/>
            <a:ext cx="27432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89720" y="1755648"/>
            <a:ext cx="64008" cy="342900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1938528"/>
            <a:ext cx="23317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 · ESTADO + COMPONENTES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395728"/>
            <a:ext cx="23317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setMovies guarda el resultado. React renderiza FunctionCard; elegir un horario navega a SeatsPage.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VIDA REAL: se arma la cartelera y el cliente elige función y asiento.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81360" y="1920240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27080" y="1965960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PANTALLA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32120"/>
            <a:ext cx="11201400" cy="65836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742432"/>
            <a:ext cx="10835640" cy="25603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/cartelera → App.jsx → BillboardPage → useMovies → api.js → Symfony/MariaDB → setMovies → FunctionCard → SeatsPage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281928"/>
            <a:ext cx="1088136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000" b="1">
                <a:solidFill>
                  <a:srgbClr val="FF9E58"/>
                </a:solidFill>
                <a:latin typeface="Aptos"/>
              </a:rPr>
              <a:t>Si la API falla, useMovies carga frontend/src/data/movies.js y avisa que muestra datos de demostración.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365760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00" b="1">
                <a:solidFill>
                  <a:srgbClr val="FF9E58"/>
                </a:solidFill>
                <a:latin typeface="Apto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658368"/>
            <a:ext cx="594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100" b="1">
                <a:solidFill>
                  <a:srgbClr val="B1BBCC"/>
                </a:solidFill>
                <a:latin typeface="Apto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965960"/>
            <a:ext cx="996696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Frontend React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3337560"/>
            <a:ext cx="9784080" cy="10972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800" b="0">
                <a:solidFill>
                  <a:srgbClr val="B1BBCC"/>
                </a:solidFill>
                <a:latin typeface="Aptos"/>
              </a:rPr>
              <a:t>Cómo se organiza la interfaz, qué son los componentes y hooks, y cómo el navegador utiliza HTTP para pedir datos.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5029200"/>
            <a:ext cx="2011680" cy="73152"/>
          </a:xfrm>
          <a:prstGeom prst="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6080760"/>
            <a:ext cx="3657600" cy="1828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900" b="1">
                <a:solidFill>
                  <a:srgbClr val="B1BBCC"/>
                </a:solidFill>
                <a:latin typeface="Aptos"/>
              </a:rPr>
              <a:t>CINE APP · RECORRIDO DIDÁCTICO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365760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00" b="1">
                <a:solidFill>
                  <a:srgbClr val="36D3DD"/>
                </a:solidFill>
                <a:latin typeface="Apto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658368"/>
            <a:ext cx="594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100" b="1">
                <a:solidFill>
                  <a:srgbClr val="B1BBCC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965960"/>
            <a:ext cx="996696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Backend Symfony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3337560"/>
            <a:ext cx="9784080" cy="10972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800" b="0">
                <a:solidFill>
                  <a:srgbClr val="B1BBCC"/>
                </a:solidFill>
                <a:latin typeface="Aptos"/>
              </a:rPr>
              <a:t>Dónde viven los endpoints, cómo se validan parámetros y cómo Repository, Doctrine ORM y MariaDB obtienen los datos.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5029200"/>
            <a:ext cx="2011680" cy="73152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6080760"/>
            <a:ext cx="3657600" cy="1828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900" b="1">
                <a:solidFill>
                  <a:srgbClr val="B1BBCC"/>
                </a:solidFill>
                <a:latin typeface="Aptos"/>
              </a:rPr>
              <a:t>CINE APP · RECORRIDO DIDÁCTICO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365760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00" b="1">
                <a:solidFill>
                  <a:srgbClr val="53D68E"/>
                </a:solidFill>
                <a:latin typeface="Apto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658368"/>
            <a:ext cx="594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100" b="1">
                <a:solidFill>
                  <a:srgbClr val="B1BBCC"/>
                </a:solidFill>
                <a:latin typeface="Aptos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965960"/>
            <a:ext cx="996696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3337560"/>
            <a:ext cx="9784080" cy="10972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800" b="0">
                <a:solidFill>
                  <a:srgbClr val="B1BBCC"/>
                </a:solidFill>
                <a:latin typeface="Aptos"/>
              </a:rPr>
              <a:t>Cómo transformar el proyecto local con XAMPP en una publicación segura y verificable dentro de Hostinger compartido.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5029200"/>
            <a:ext cx="2011680" cy="73152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6080760"/>
            <a:ext cx="3657600" cy="1828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900" b="1">
                <a:solidFill>
                  <a:srgbClr val="B1BBCC"/>
                </a:solidFill>
                <a:latin typeface="Aptos"/>
              </a:rPr>
              <a:t>CINE APP · RECORRIDO DIDÁCTICO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COMPONENTES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Ejemplo simple: el componente Poster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Una pieza pequeña se define una sola vez y recibe datos distintos mediante props.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83080"/>
            <a:ext cx="580644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93392"/>
            <a:ext cx="530352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1">
                <a:solidFill>
                  <a:srgbClr val="36D3DD"/>
                </a:solidFill>
                <a:latin typeface="Consolas"/>
              </a:rPr>
              <a:t>frontend/src/components/movies/Poster.jsx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423160"/>
            <a:ext cx="5257800" cy="2697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export function Poster({ movie, large = false }) {</a:t>
            </a:r>
            <a:br/>
            <a:r>
              <a:rPr sz="1200" b="0">
                <a:solidFill>
                  <a:srgbClr val="FFFFFF"/>
                </a:solidFill>
                <a:latin typeface="Consolas"/>
              </a:rPr>
              <a:t>  return (</a:t>
            </a:r>
            <a:br/>
            <a:r>
              <a:rPr sz="1200" b="0">
                <a:solidFill>
                  <a:srgbClr val="FFFFFF"/>
                </a:solidFill>
                <a:latin typeface="Consolas"/>
              </a:rPr>
              <a:t>    &lt;div</a:t>
            </a:r>
            <a:br/>
            <a:r>
              <a:rPr sz="1200" b="0">
                <a:solidFill>
                  <a:srgbClr val="FFFFFF"/>
                </a:solidFill>
                <a:latin typeface="Consolas"/>
              </a:rPr>
              <a:t>      className={`poster ${large ? 'poster-large' : ''}`}</a:t>
            </a:r>
            <a:br/>
            <a:r>
              <a:rPr sz="1200" b="0">
                <a:solidFill>
                  <a:srgbClr val="FFFFFF"/>
                </a:solidFill>
                <a:latin typeface="Consolas"/>
              </a:rPr>
              <a:t>      style={{ '--c1': movie.colors[0],</a:t>
            </a:r>
            <a:br/>
            <a:r>
              <a:rPr sz="1200" b="0">
                <a:solidFill>
                  <a:srgbClr val="FFFFFF"/>
                </a:solidFill>
                <a:latin typeface="Consolas"/>
              </a:rPr>
              <a:t>               '--c2': movie.colors[1] }}</a:t>
            </a:r>
            <a:br/>
            <a:r>
              <a:rPr sz="1200" b="0">
                <a:solidFill>
                  <a:srgbClr val="FFFFFF"/>
                </a:solidFill>
                <a:latin typeface="Consolas"/>
              </a:rPr>
              <a:t>    &gt;</a:t>
            </a:r>
            <a:br/>
            <a:r>
              <a:rPr sz="1200" b="0">
                <a:solidFill>
                  <a:srgbClr val="FFFFFF"/>
                </a:solidFill>
                <a:latin typeface="Consolas"/>
              </a:rPr>
              <a:t>      &lt;span&gt;CINE MAX&lt;/span&gt;</a:t>
            </a:r>
            <a:br/>
            <a:r>
              <a:rPr sz="1200" b="0">
                <a:solidFill>
                  <a:srgbClr val="FFFFFF"/>
                </a:solidFill>
                <a:latin typeface="Consolas"/>
              </a:rPr>
              <a:t>      &lt;strong&gt;{movie.short}&lt;/strong&gt;</a:t>
            </a:r>
            <a:br/>
            <a:r>
              <a:rPr sz="1200" b="0">
                <a:solidFill>
                  <a:srgbClr val="FFFFFF"/>
                </a:solidFill>
                <a:latin typeface="Consolas"/>
              </a:rPr>
              <a:t>      &lt;small&gt;Solo en cines&lt;/small&gt;</a:t>
            </a:r>
            <a:br/>
            <a:r>
              <a:rPr sz="1200" b="0">
                <a:solidFill>
                  <a:srgbClr val="FFFFFF"/>
                </a:solidFill>
                <a:latin typeface="Consolas"/>
              </a:rPr>
              <a:t>    &lt;/div&gt;</a:t>
            </a:r>
            <a:br/>
            <a:r>
              <a:rPr sz="1200" b="0">
                <a:solidFill>
                  <a:srgbClr val="FFFFFF"/>
                </a:solidFill>
                <a:latin typeface="Consolas"/>
              </a:rPr>
              <a:t>  );</a:t>
            </a:r>
            <a:br/>
            <a:r>
              <a:rPr sz="1200" b="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1783080"/>
            <a:ext cx="5212080" cy="1143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1783080"/>
            <a:ext cx="64008" cy="11430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1965960"/>
            <a:ext cx="48006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QUÉ RECIBE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423160"/>
            <a:ext cx="480060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movie: datos de la película.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large: decide si agrega la clase poster-large.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98480" y="194767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44200" y="199339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PROPS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3154680"/>
            <a:ext cx="5212080" cy="14173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3154680"/>
            <a:ext cx="64008" cy="1417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3337560"/>
            <a:ext cx="48006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DÓNDE SE REUTILIZA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794760"/>
            <a:ext cx="480060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Directamente: HomePage y MovieDetailPage.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También dentro de MovieTile, FunctionCard y MiniMovie.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698480" y="331927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44200" y="336499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5 USOS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4800600"/>
            <a:ext cx="5212080" cy="10515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37960" y="4800600"/>
            <a:ext cx="64008" cy="10515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983480"/>
            <a:ext cx="48006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VENTAJA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440680"/>
            <a:ext cx="4800600" cy="2743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Las páginas sólo escriben &lt;Poster movie={movie} large /&gt; y no repiten su estructura ni sus estilos.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698480" y="49651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44200" y="50109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REUTILIZAR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